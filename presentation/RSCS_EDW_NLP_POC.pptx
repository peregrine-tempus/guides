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8" d="100"/>
          <a:sy n="158" d="100"/>
        </p:scale>
        <p:origin x="76" y="-5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3857-C99D-81E6-BB5F-D19417E73487}"/>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36929D7A-E885-8E7B-F938-2165FAFF9BF1}"/>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C71633CD-6843-7711-3808-ADFB11A7858F}"/>
              </a:ext>
            </a:extLst>
          </p:cNvPr>
          <p:cNvSpPr>
            <a:spLocks noGrp="1"/>
          </p:cNvSpPr>
          <p:nvPr>
            <p:ph type="dt" sz="half" idx="10"/>
          </p:nvPr>
        </p:nvSpPr>
        <p:spPr/>
        <p:txBody>
          <a:bodyPr/>
          <a:lstStyle/>
          <a:p>
            <a:fld id="{8805949A-B9D8-4A78-9BE6-AD0FCC3F2A2B}" type="datetimeFigureOut">
              <a:rPr lang="en-US" smtClean="0"/>
              <a:t>4/13/2026</a:t>
            </a:fld>
            <a:endParaRPr lang="en-US"/>
          </a:p>
        </p:txBody>
      </p:sp>
      <p:sp>
        <p:nvSpPr>
          <p:cNvPr id="5" name="Footer Placeholder 4">
            <a:extLst>
              <a:ext uri="{FF2B5EF4-FFF2-40B4-BE49-F238E27FC236}">
                <a16:creationId xmlns:a16="http://schemas.microsoft.com/office/drawing/2014/main" id="{FC136E63-20F1-1C9C-04D8-382E9D273A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D2C054-ADCD-FF62-F859-2EF7AC09531D}"/>
              </a:ext>
            </a:extLst>
          </p:cNvPr>
          <p:cNvSpPr>
            <a:spLocks noGrp="1"/>
          </p:cNvSpPr>
          <p:nvPr>
            <p:ph type="sldNum" sz="quarter" idx="12"/>
          </p:nvPr>
        </p:nvSpPr>
        <p:spPr/>
        <p:txBody>
          <a:bodyPr/>
          <a:lstStyle/>
          <a:p>
            <a:fld id="{3A71D494-ED31-47D9-9522-E7DC8D8BF774}" type="slidenum">
              <a:rPr lang="en-US" smtClean="0"/>
              <a:t>‹#›</a:t>
            </a:fld>
            <a:endParaRPr lang="en-US"/>
          </a:p>
        </p:txBody>
      </p:sp>
    </p:spTree>
    <p:extLst>
      <p:ext uri="{BB962C8B-B14F-4D97-AF65-F5344CB8AC3E}">
        <p14:creationId xmlns:p14="http://schemas.microsoft.com/office/powerpoint/2010/main" val="95076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60650-E866-15D3-13D3-4A2484C3D6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64A1EB-D9DB-119A-F89C-6A9AA45F50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02EA63-CABE-EC46-4A56-CBEC1095C255}"/>
              </a:ext>
            </a:extLst>
          </p:cNvPr>
          <p:cNvSpPr>
            <a:spLocks noGrp="1"/>
          </p:cNvSpPr>
          <p:nvPr>
            <p:ph type="dt" sz="half" idx="10"/>
          </p:nvPr>
        </p:nvSpPr>
        <p:spPr/>
        <p:txBody>
          <a:bodyPr/>
          <a:lstStyle/>
          <a:p>
            <a:fld id="{8805949A-B9D8-4A78-9BE6-AD0FCC3F2A2B}" type="datetimeFigureOut">
              <a:rPr lang="en-US" smtClean="0"/>
              <a:t>4/13/2026</a:t>
            </a:fld>
            <a:endParaRPr lang="en-US"/>
          </a:p>
        </p:txBody>
      </p:sp>
      <p:sp>
        <p:nvSpPr>
          <p:cNvPr id="5" name="Footer Placeholder 4">
            <a:extLst>
              <a:ext uri="{FF2B5EF4-FFF2-40B4-BE49-F238E27FC236}">
                <a16:creationId xmlns:a16="http://schemas.microsoft.com/office/drawing/2014/main" id="{7B08A455-80B2-7851-733E-2B17EE2D32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324842-34A5-A10D-E515-C5920A04877B}"/>
              </a:ext>
            </a:extLst>
          </p:cNvPr>
          <p:cNvSpPr>
            <a:spLocks noGrp="1"/>
          </p:cNvSpPr>
          <p:nvPr>
            <p:ph type="sldNum" sz="quarter" idx="12"/>
          </p:nvPr>
        </p:nvSpPr>
        <p:spPr/>
        <p:txBody>
          <a:bodyPr/>
          <a:lstStyle/>
          <a:p>
            <a:fld id="{3A71D494-ED31-47D9-9522-E7DC8D8BF774}" type="slidenum">
              <a:rPr lang="en-US" smtClean="0"/>
              <a:t>‹#›</a:t>
            </a:fld>
            <a:endParaRPr lang="en-US"/>
          </a:p>
        </p:txBody>
      </p:sp>
    </p:spTree>
    <p:extLst>
      <p:ext uri="{BB962C8B-B14F-4D97-AF65-F5344CB8AC3E}">
        <p14:creationId xmlns:p14="http://schemas.microsoft.com/office/powerpoint/2010/main" val="3533911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EF127-9D06-61C3-9656-4457525FD9D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6447DD0-F5BA-455A-943E-7509A017A651}"/>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522551-7F2A-CB42-F809-40F02A627825}"/>
              </a:ext>
            </a:extLst>
          </p:cNvPr>
          <p:cNvSpPr>
            <a:spLocks noGrp="1"/>
          </p:cNvSpPr>
          <p:nvPr>
            <p:ph type="dt" sz="half" idx="10"/>
          </p:nvPr>
        </p:nvSpPr>
        <p:spPr/>
        <p:txBody>
          <a:bodyPr/>
          <a:lstStyle/>
          <a:p>
            <a:fld id="{8805949A-B9D8-4A78-9BE6-AD0FCC3F2A2B}" type="datetimeFigureOut">
              <a:rPr lang="en-US" smtClean="0"/>
              <a:t>4/13/2026</a:t>
            </a:fld>
            <a:endParaRPr lang="en-US"/>
          </a:p>
        </p:txBody>
      </p:sp>
      <p:sp>
        <p:nvSpPr>
          <p:cNvPr id="5" name="Footer Placeholder 4">
            <a:extLst>
              <a:ext uri="{FF2B5EF4-FFF2-40B4-BE49-F238E27FC236}">
                <a16:creationId xmlns:a16="http://schemas.microsoft.com/office/drawing/2014/main" id="{16FA527D-23B2-30BA-47CA-0254156F3C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545BB2-6BD2-27E6-B9BA-EBAB96A41E80}"/>
              </a:ext>
            </a:extLst>
          </p:cNvPr>
          <p:cNvSpPr>
            <a:spLocks noGrp="1"/>
          </p:cNvSpPr>
          <p:nvPr>
            <p:ph type="sldNum" sz="quarter" idx="12"/>
          </p:nvPr>
        </p:nvSpPr>
        <p:spPr/>
        <p:txBody>
          <a:bodyPr/>
          <a:lstStyle/>
          <a:p>
            <a:fld id="{3A71D494-ED31-47D9-9522-E7DC8D8BF774}" type="slidenum">
              <a:rPr lang="en-US" smtClean="0"/>
              <a:t>‹#›</a:t>
            </a:fld>
            <a:endParaRPr lang="en-US"/>
          </a:p>
        </p:txBody>
      </p:sp>
    </p:spTree>
    <p:extLst>
      <p:ext uri="{BB962C8B-B14F-4D97-AF65-F5344CB8AC3E}">
        <p14:creationId xmlns:p14="http://schemas.microsoft.com/office/powerpoint/2010/main" val="3712780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8D1A3-4E34-BFBC-0D5C-22E5C60C42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CD0DB4-F07D-25F9-8EE7-C0E0A2CD2289}"/>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57EF5B-DB6D-8DD9-E15E-5575C394C89C}"/>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99FC56-04D9-C422-3FBA-62BC30ED2094}"/>
              </a:ext>
            </a:extLst>
          </p:cNvPr>
          <p:cNvSpPr>
            <a:spLocks noGrp="1"/>
          </p:cNvSpPr>
          <p:nvPr>
            <p:ph type="dt" sz="half" idx="10"/>
          </p:nvPr>
        </p:nvSpPr>
        <p:spPr/>
        <p:txBody>
          <a:bodyPr/>
          <a:lstStyle/>
          <a:p>
            <a:fld id="{8805949A-B9D8-4A78-9BE6-AD0FCC3F2A2B}" type="datetimeFigureOut">
              <a:rPr lang="en-US" smtClean="0"/>
              <a:t>4/13/2026</a:t>
            </a:fld>
            <a:endParaRPr lang="en-US"/>
          </a:p>
        </p:txBody>
      </p:sp>
      <p:sp>
        <p:nvSpPr>
          <p:cNvPr id="6" name="Footer Placeholder 5">
            <a:extLst>
              <a:ext uri="{FF2B5EF4-FFF2-40B4-BE49-F238E27FC236}">
                <a16:creationId xmlns:a16="http://schemas.microsoft.com/office/drawing/2014/main" id="{E2B66126-30AF-2B01-1C2A-348638FA51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178904-AF68-DE67-557C-BA85AF458E77}"/>
              </a:ext>
            </a:extLst>
          </p:cNvPr>
          <p:cNvSpPr>
            <a:spLocks noGrp="1"/>
          </p:cNvSpPr>
          <p:nvPr>
            <p:ph type="sldNum" sz="quarter" idx="12"/>
          </p:nvPr>
        </p:nvSpPr>
        <p:spPr/>
        <p:txBody>
          <a:bodyPr/>
          <a:lstStyle/>
          <a:p>
            <a:fld id="{3A71D494-ED31-47D9-9522-E7DC8D8BF774}" type="slidenum">
              <a:rPr lang="en-US" smtClean="0"/>
              <a:t>‹#›</a:t>
            </a:fld>
            <a:endParaRPr lang="en-US"/>
          </a:p>
        </p:txBody>
      </p:sp>
    </p:spTree>
    <p:extLst>
      <p:ext uri="{BB962C8B-B14F-4D97-AF65-F5344CB8AC3E}">
        <p14:creationId xmlns:p14="http://schemas.microsoft.com/office/powerpoint/2010/main" val="2776888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A5DFB-76AA-D62E-CD66-3CC26732C228}"/>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F5871D-CF29-F22A-0888-B73DD83736D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DBAC087-DEFF-4BC4-6C03-2B8F4AF92EA7}"/>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BA1A87-ACD3-F0E7-395A-2242A723DCBB}"/>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3057027-FB0F-99F0-BC81-A83031A495E4}"/>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012D0B-F8DC-BEBB-730F-7E96196B05D7}"/>
              </a:ext>
            </a:extLst>
          </p:cNvPr>
          <p:cNvSpPr>
            <a:spLocks noGrp="1"/>
          </p:cNvSpPr>
          <p:nvPr>
            <p:ph type="dt" sz="half" idx="10"/>
          </p:nvPr>
        </p:nvSpPr>
        <p:spPr/>
        <p:txBody>
          <a:bodyPr/>
          <a:lstStyle/>
          <a:p>
            <a:fld id="{8805949A-B9D8-4A78-9BE6-AD0FCC3F2A2B}" type="datetimeFigureOut">
              <a:rPr lang="en-US" smtClean="0"/>
              <a:t>4/13/2026</a:t>
            </a:fld>
            <a:endParaRPr lang="en-US"/>
          </a:p>
        </p:txBody>
      </p:sp>
      <p:sp>
        <p:nvSpPr>
          <p:cNvPr id="8" name="Footer Placeholder 7">
            <a:extLst>
              <a:ext uri="{FF2B5EF4-FFF2-40B4-BE49-F238E27FC236}">
                <a16:creationId xmlns:a16="http://schemas.microsoft.com/office/drawing/2014/main" id="{C5E6F8F3-1AA0-2977-4595-52610FF061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3A2459-30A8-6BCB-65AC-6B7DA96C5FCC}"/>
              </a:ext>
            </a:extLst>
          </p:cNvPr>
          <p:cNvSpPr>
            <a:spLocks noGrp="1"/>
          </p:cNvSpPr>
          <p:nvPr>
            <p:ph type="sldNum" sz="quarter" idx="12"/>
          </p:nvPr>
        </p:nvSpPr>
        <p:spPr/>
        <p:txBody>
          <a:bodyPr/>
          <a:lstStyle/>
          <a:p>
            <a:fld id="{3A71D494-ED31-47D9-9522-E7DC8D8BF774}" type="slidenum">
              <a:rPr lang="en-US" smtClean="0"/>
              <a:t>‹#›</a:t>
            </a:fld>
            <a:endParaRPr lang="en-US"/>
          </a:p>
        </p:txBody>
      </p:sp>
    </p:spTree>
    <p:extLst>
      <p:ext uri="{BB962C8B-B14F-4D97-AF65-F5344CB8AC3E}">
        <p14:creationId xmlns:p14="http://schemas.microsoft.com/office/powerpoint/2010/main" val="1878728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9517D-675C-4D55-36F5-3087AB4964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C258DB-CBD3-698F-3E59-5BAC6C10BE88}"/>
              </a:ext>
            </a:extLst>
          </p:cNvPr>
          <p:cNvSpPr>
            <a:spLocks noGrp="1"/>
          </p:cNvSpPr>
          <p:nvPr>
            <p:ph type="dt" sz="half" idx="10"/>
          </p:nvPr>
        </p:nvSpPr>
        <p:spPr/>
        <p:txBody>
          <a:bodyPr/>
          <a:lstStyle/>
          <a:p>
            <a:fld id="{8805949A-B9D8-4A78-9BE6-AD0FCC3F2A2B}" type="datetimeFigureOut">
              <a:rPr lang="en-US" smtClean="0"/>
              <a:t>4/13/2026</a:t>
            </a:fld>
            <a:endParaRPr lang="en-US"/>
          </a:p>
        </p:txBody>
      </p:sp>
      <p:sp>
        <p:nvSpPr>
          <p:cNvPr id="4" name="Footer Placeholder 3">
            <a:extLst>
              <a:ext uri="{FF2B5EF4-FFF2-40B4-BE49-F238E27FC236}">
                <a16:creationId xmlns:a16="http://schemas.microsoft.com/office/drawing/2014/main" id="{B9DB421F-84E3-3F3A-8443-9343A7CDB3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BE30CE-0935-14D0-F886-5CC82D4F421E}"/>
              </a:ext>
            </a:extLst>
          </p:cNvPr>
          <p:cNvSpPr>
            <a:spLocks noGrp="1"/>
          </p:cNvSpPr>
          <p:nvPr>
            <p:ph type="sldNum" sz="quarter" idx="12"/>
          </p:nvPr>
        </p:nvSpPr>
        <p:spPr/>
        <p:txBody>
          <a:bodyPr/>
          <a:lstStyle/>
          <a:p>
            <a:fld id="{3A71D494-ED31-47D9-9522-E7DC8D8BF774}" type="slidenum">
              <a:rPr lang="en-US" smtClean="0"/>
              <a:t>‹#›</a:t>
            </a:fld>
            <a:endParaRPr lang="en-US"/>
          </a:p>
        </p:txBody>
      </p:sp>
    </p:spTree>
    <p:extLst>
      <p:ext uri="{BB962C8B-B14F-4D97-AF65-F5344CB8AC3E}">
        <p14:creationId xmlns:p14="http://schemas.microsoft.com/office/powerpoint/2010/main" val="3343323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05D2D4-1A5E-42EB-B02C-610088683F87}"/>
              </a:ext>
            </a:extLst>
          </p:cNvPr>
          <p:cNvSpPr>
            <a:spLocks noGrp="1"/>
          </p:cNvSpPr>
          <p:nvPr>
            <p:ph type="dt" sz="half" idx="10"/>
          </p:nvPr>
        </p:nvSpPr>
        <p:spPr/>
        <p:txBody>
          <a:bodyPr/>
          <a:lstStyle/>
          <a:p>
            <a:fld id="{8805949A-B9D8-4A78-9BE6-AD0FCC3F2A2B}" type="datetimeFigureOut">
              <a:rPr lang="en-US" smtClean="0"/>
              <a:t>4/13/2026</a:t>
            </a:fld>
            <a:endParaRPr lang="en-US"/>
          </a:p>
        </p:txBody>
      </p:sp>
      <p:sp>
        <p:nvSpPr>
          <p:cNvPr id="3" name="Footer Placeholder 2">
            <a:extLst>
              <a:ext uri="{FF2B5EF4-FFF2-40B4-BE49-F238E27FC236}">
                <a16:creationId xmlns:a16="http://schemas.microsoft.com/office/drawing/2014/main" id="{D7D11AE2-E63A-31CE-CAD6-D932A4A8C3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02A257-448B-D670-72FA-D12763E0A95A}"/>
              </a:ext>
            </a:extLst>
          </p:cNvPr>
          <p:cNvSpPr>
            <a:spLocks noGrp="1"/>
          </p:cNvSpPr>
          <p:nvPr>
            <p:ph type="sldNum" sz="quarter" idx="12"/>
          </p:nvPr>
        </p:nvSpPr>
        <p:spPr/>
        <p:txBody>
          <a:bodyPr/>
          <a:lstStyle/>
          <a:p>
            <a:fld id="{3A71D494-ED31-47D9-9522-E7DC8D8BF774}" type="slidenum">
              <a:rPr lang="en-US" smtClean="0"/>
              <a:t>‹#›</a:t>
            </a:fld>
            <a:endParaRPr lang="en-US"/>
          </a:p>
        </p:txBody>
      </p:sp>
    </p:spTree>
    <p:extLst>
      <p:ext uri="{BB962C8B-B14F-4D97-AF65-F5344CB8AC3E}">
        <p14:creationId xmlns:p14="http://schemas.microsoft.com/office/powerpoint/2010/main" val="1198989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6D90C-4135-9D40-BDE4-77F80861DFF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F63007-EDE2-C2C0-8E1C-04B28654E57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013391-B7C4-54F5-5E9A-A9EBB876089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ACAD69A-67D4-53BB-0B7F-AB99F9416ACF}"/>
              </a:ext>
            </a:extLst>
          </p:cNvPr>
          <p:cNvSpPr>
            <a:spLocks noGrp="1"/>
          </p:cNvSpPr>
          <p:nvPr>
            <p:ph type="dt" sz="half" idx="10"/>
          </p:nvPr>
        </p:nvSpPr>
        <p:spPr/>
        <p:txBody>
          <a:bodyPr/>
          <a:lstStyle/>
          <a:p>
            <a:fld id="{8805949A-B9D8-4A78-9BE6-AD0FCC3F2A2B}" type="datetimeFigureOut">
              <a:rPr lang="en-US" smtClean="0"/>
              <a:t>4/13/2026</a:t>
            </a:fld>
            <a:endParaRPr lang="en-US"/>
          </a:p>
        </p:txBody>
      </p:sp>
      <p:sp>
        <p:nvSpPr>
          <p:cNvPr id="6" name="Footer Placeholder 5">
            <a:extLst>
              <a:ext uri="{FF2B5EF4-FFF2-40B4-BE49-F238E27FC236}">
                <a16:creationId xmlns:a16="http://schemas.microsoft.com/office/drawing/2014/main" id="{7F297881-177C-C6EE-7C79-97F88E0200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3681D7-F611-3587-C57B-341F7760D8C9}"/>
              </a:ext>
            </a:extLst>
          </p:cNvPr>
          <p:cNvSpPr>
            <a:spLocks noGrp="1"/>
          </p:cNvSpPr>
          <p:nvPr>
            <p:ph type="sldNum" sz="quarter" idx="12"/>
          </p:nvPr>
        </p:nvSpPr>
        <p:spPr/>
        <p:txBody>
          <a:bodyPr/>
          <a:lstStyle/>
          <a:p>
            <a:fld id="{3A71D494-ED31-47D9-9522-E7DC8D8BF774}" type="slidenum">
              <a:rPr lang="en-US" smtClean="0"/>
              <a:t>‹#›</a:t>
            </a:fld>
            <a:endParaRPr lang="en-US"/>
          </a:p>
        </p:txBody>
      </p:sp>
    </p:spTree>
    <p:extLst>
      <p:ext uri="{BB962C8B-B14F-4D97-AF65-F5344CB8AC3E}">
        <p14:creationId xmlns:p14="http://schemas.microsoft.com/office/powerpoint/2010/main" val="2061272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E5F3-162C-415D-C7DA-D78742F579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24309D7-4D9E-54F4-C6B5-3158852C8B15}"/>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9CCE3422-D008-3FBB-4007-E11FDC62F5A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4CDFE72-03D3-64F8-C445-179B660B56EC}"/>
              </a:ext>
            </a:extLst>
          </p:cNvPr>
          <p:cNvSpPr>
            <a:spLocks noGrp="1"/>
          </p:cNvSpPr>
          <p:nvPr>
            <p:ph type="dt" sz="half" idx="10"/>
          </p:nvPr>
        </p:nvSpPr>
        <p:spPr/>
        <p:txBody>
          <a:bodyPr/>
          <a:lstStyle/>
          <a:p>
            <a:fld id="{8805949A-B9D8-4A78-9BE6-AD0FCC3F2A2B}" type="datetimeFigureOut">
              <a:rPr lang="en-US" smtClean="0"/>
              <a:t>4/13/2026</a:t>
            </a:fld>
            <a:endParaRPr lang="en-US"/>
          </a:p>
        </p:txBody>
      </p:sp>
      <p:sp>
        <p:nvSpPr>
          <p:cNvPr id="6" name="Footer Placeholder 5">
            <a:extLst>
              <a:ext uri="{FF2B5EF4-FFF2-40B4-BE49-F238E27FC236}">
                <a16:creationId xmlns:a16="http://schemas.microsoft.com/office/drawing/2014/main" id="{5624AC1A-6B3B-E7A1-75C7-0E06DF129D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C38234-FA73-2E47-C6D4-9B14868A7F35}"/>
              </a:ext>
            </a:extLst>
          </p:cNvPr>
          <p:cNvSpPr>
            <a:spLocks noGrp="1"/>
          </p:cNvSpPr>
          <p:nvPr>
            <p:ph type="sldNum" sz="quarter" idx="12"/>
          </p:nvPr>
        </p:nvSpPr>
        <p:spPr/>
        <p:txBody>
          <a:bodyPr/>
          <a:lstStyle/>
          <a:p>
            <a:fld id="{3A71D494-ED31-47D9-9522-E7DC8D8BF774}" type="slidenum">
              <a:rPr lang="en-US" smtClean="0"/>
              <a:t>‹#›</a:t>
            </a:fld>
            <a:endParaRPr lang="en-US"/>
          </a:p>
        </p:txBody>
      </p:sp>
    </p:spTree>
    <p:extLst>
      <p:ext uri="{BB962C8B-B14F-4D97-AF65-F5344CB8AC3E}">
        <p14:creationId xmlns:p14="http://schemas.microsoft.com/office/powerpoint/2010/main" val="1425709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AA2AC-8911-2364-2778-AAD8966FD9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77904E-337B-82B1-ADB5-63FE3D20B6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B3EE9C-77D3-13E2-71F0-4CE97966447E}"/>
              </a:ext>
            </a:extLst>
          </p:cNvPr>
          <p:cNvSpPr>
            <a:spLocks noGrp="1"/>
          </p:cNvSpPr>
          <p:nvPr>
            <p:ph type="dt" sz="half" idx="10"/>
          </p:nvPr>
        </p:nvSpPr>
        <p:spPr/>
        <p:txBody>
          <a:bodyPr/>
          <a:lstStyle/>
          <a:p>
            <a:fld id="{8805949A-B9D8-4A78-9BE6-AD0FCC3F2A2B}" type="datetimeFigureOut">
              <a:rPr lang="en-US" smtClean="0"/>
              <a:t>4/13/2026</a:t>
            </a:fld>
            <a:endParaRPr lang="en-US"/>
          </a:p>
        </p:txBody>
      </p:sp>
      <p:sp>
        <p:nvSpPr>
          <p:cNvPr id="5" name="Footer Placeholder 4">
            <a:extLst>
              <a:ext uri="{FF2B5EF4-FFF2-40B4-BE49-F238E27FC236}">
                <a16:creationId xmlns:a16="http://schemas.microsoft.com/office/drawing/2014/main" id="{6A820B2D-6A5C-4A54-7934-CBE61EA2A8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4B6FB5-8A4E-946D-6841-99F665032F70}"/>
              </a:ext>
            </a:extLst>
          </p:cNvPr>
          <p:cNvSpPr>
            <a:spLocks noGrp="1"/>
          </p:cNvSpPr>
          <p:nvPr>
            <p:ph type="sldNum" sz="quarter" idx="12"/>
          </p:nvPr>
        </p:nvSpPr>
        <p:spPr/>
        <p:txBody>
          <a:bodyPr/>
          <a:lstStyle/>
          <a:p>
            <a:fld id="{3A71D494-ED31-47D9-9522-E7DC8D8BF774}" type="slidenum">
              <a:rPr lang="en-US" smtClean="0"/>
              <a:t>‹#›</a:t>
            </a:fld>
            <a:endParaRPr lang="en-US"/>
          </a:p>
        </p:txBody>
      </p:sp>
    </p:spTree>
    <p:extLst>
      <p:ext uri="{BB962C8B-B14F-4D97-AF65-F5344CB8AC3E}">
        <p14:creationId xmlns:p14="http://schemas.microsoft.com/office/powerpoint/2010/main" val="453073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213A8A-53B5-57C9-DF72-A2C53C1A2B7A}"/>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BBA5DE-FDF2-62E6-EC79-AEB6993EC723}"/>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72FC9F-18C1-8231-66EC-962612432401}"/>
              </a:ext>
            </a:extLst>
          </p:cNvPr>
          <p:cNvSpPr>
            <a:spLocks noGrp="1"/>
          </p:cNvSpPr>
          <p:nvPr>
            <p:ph type="dt" sz="half" idx="10"/>
          </p:nvPr>
        </p:nvSpPr>
        <p:spPr/>
        <p:txBody>
          <a:bodyPr/>
          <a:lstStyle/>
          <a:p>
            <a:fld id="{8805949A-B9D8-4A78-9BE6-AD0FCC3F2A2B}" type="datetimeFigureOut">
              <a:rPr lang="en-US" smtClean="0"/>
              <a:t>4/13/2026</a:t>
            </a:fld>
            <a:endParaRPr lang="en-US"/>
          </a:p>
        </p:txBody>
      </p:sp>
      <p:sp>
        <p:nvSpPr>
          <p:cNvPr id="5" name="Footer Placeholder 4">
            <a:extLst>
              <a:ext uri="{FF2B5EF4-FFF2-40B4-BE49-F238E27FC236}">
                <a16:creationId xmlns:a16="http://schemas.microsoft.com/office/drawing/2014/main" id="{70ED5E47-0609-1571-198B-237D811BD2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D2A56B-6AF5-BBFA-56A3-BB53DC70885D}"/>
              </a:ext>
            </a:extLst>
          </p:cNvPr>
          <p:cNvSpPr>
            <a:spLocks noGrp="1"/>
          </p:cNvSpPr>
          <p:nvPr>
            <p:ph type="sldNum" sz="quarter" idx="12"/>
          </p:nvPr>
        </p:nvSpPr>
        <p:spPr/>
        <p:txBody>
          <a:bodyPr/>
          <a:lstStyle/>
          <a:p>
            <a:fld id="{3A71D494-ED31-47D9-9522-E7DC8D8BF774}" type="slidenum">
              <a:rPr lang="en-US" smtClean="0"/>
              <a:t>‹#›</a:t>
            </a:fld>
            <a:endParaRPr lang="en-US"/>
          </a:p>
        </p:txBody>
      </p:sp>
    </p:spTree>
    <p:extLst>
      <p:ext uri="{BB962C8B-B14F-4D97-AF65-F5344CB8AC3E}">
        <p14:creationId xmlns:p14="http://schemas.microsoft.com/office/powerpoint/2010/main" val="557027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A64F21-BA1D-2085-8FE6-E7EB558DFC6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505E63-F9A4-42B1-EEE1-9AC61BFA80AD}"/>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F4617F-935B-4554-9C97-62A483AD6ADE}"/>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8805949A-B9D8-4A78-9BE6-AD0FCC3F2A2B}" type="datetimeFigureOut">
              <a:rPr lang="en-US" smtClean="0"/>
              <a:t>4/13/2026</a:t>
            </a:fld>
            <a:endParaRPr lang="en-US"/>
          </a:p>
        </p:txBody>
      </p:sp>
      <p:sp>
        <p:nvSpPr>
          <p:cNvPr id="5" name="Footer Placeholder 4">
            <a:extLst>
              <a:ext uri="{FF2B5EF4-FFF2-40B4-BE49-F238E27FC236}">
                <a16:creationId xmlns:a16="http://schemas.microsoft.com/office/drawing/2014/main" id="{F0EF52CC-313A-D731-EDC2-0172A496B28C}"/>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350A944-CA22-997C-37E4-00309AA895C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3A71D494-ED31-47D9-9522-E7DC8D8BF774}" type="slidenum">
              <a:rPr lang="en-US" smtClean="0"/>
              <a:t>‹#›</a:t>
            </a:fld>
            <a:endParaRPr lang="en-US"/>
          </a:p>
        </p:txBody>
      </p:sp>
    </p:spTree>
    <p:extLst>
      <p:ext uri="{BB962C8B-B14F-4D97-AF65-F5344CB8AC3E}">
        <p14:creationId xmlns:p14="http://schemas.microsoft.com/office/powerpoint/2010/main" val="3227100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8DF650-BC44-7351-CF58-3DE7531E00D7}"/>
              </a:ext>
            </a:extLst>
          </p:cNvPr>
          <p:cNvSpPr/>
          <p:nvPr/>
        </p:nvSpPr>
        <p:spPr>
          <a:xfrm>
            <a:off x="0" y="0"/>
            <a:ext cx="12192000" cy="1016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98CCD85-5B19-43F9-B7F2-E8CE53457D46}"/>
              </a:ext>
            </a:extLst>
          </p:cNvPr>
          <p:cNvSpPr/>
          <p:nvPr/>
        </p:nvSpPr>
        <p:spPr>
          <a:xfrm>
            <a:off x="0" y="101600"/>
            <a:ext cx="12192000" cy="508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67290EB-0DC6-F3C9-8D55-AE857293C998}"/>
              </a:ext>
            </a:extLst>
          </p:cNvPr>
          <p:cNvSpPr/>
          <p:nvPr/>
        </p:nvSpPr>
        <p:spPr>
          <a:xfrm>
            <a:off x="0" y="152400"/>
            <a:ext cx="12192000" cy="38100"/>
          </a:xfrm>
          <a:prstGeom prst="rect">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27A73E0-3CF2-20A3-17ED-EC0A23B715AD}"/>
              </a:ext>
            </a:extLst>
          </p:cNvPr>
          <p:cNvSpPr/>
          <p:nvPr/>
        </p:nvSpPr>
        <p:spPr>
          <a:xfrm>
            <a:off x="0" y="190500"/>
            <a:ext cx="12192000" cy="25400"/>
          </a:xfrm>
          <a:prstGeom prst="rect">
            <a:avLst/>
          </a:prstGeom>
          <a:solidFill>
            <a:srgbClr val="F68D2D"/>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1D78407-1D61-B430-1FA7-887282D01619}"/>
              </a:ext>
            </a:extLst>
          </p:cNvPr>
          <p:cNvSpPr txBox="1"/>
          <p:nvPr/>
        </p:nvSpPr>
        <p:spPr>
          <a:xfrm>
            <a:off x="762000" y="2032000"/>
            <a:ext cx="10668000" cy="553998"/>
          </a:xfrm>
          <a:prstGeom prst="rect">
            <a:avLst/>
          </a:prstGeom>
          <a:noFill/>
        </p:spPr>
        <p:txBody>
          <a:bodyPr vert="horz" wrap="square" lIns="0" tIns="0" rIns="0" bIns="0" rtlCol="0">
            <a:spAutoFit/>
          </a:bodyPr>
          <a:lstStyle/>
          <a:p>
            <a:r>
              <a:rPr lang="en-US" sz="3600" b="1">
                <a:solidFill>
                  <a:srgbClr val="222222"/>
                </a:solidFill>
                <a:latin typeface="Segoe UI" panose="020B0502040204020203" pitchFamily="34" charset="0"/>
              </a:rPr>
              <a:t>Natural-Language Queries Against Our EDW</a:t>
            </a:r>
          </a:p>
        </p:txBody>
      </p:sp>
      <p:sp>
        <p:nvSpPr>
          <p:cNvPr id="7" name="TextBox 6">
            <a:extLst>
              <a:ext uri="{FF2B5EF4-FFF2-40B4-BE49-F238E27FC236}">
                <a16:creationId xmlns:a16="http://schemas.microsoft.com/office/drawing/2014/main" id="{606DCB3A-CA9C-0F8A-0EE6-2CE4B6B17C43}"/>
              </a:ext>
            </a:extLst>
          </p:cNvPr>
          <p:cNvSpPr txBox="1"/>
          <p:nvPr/>
        </p:nvSpPr>
        <p:spPr>
          <a:xfrm>
            <a:off x="762000" y="2857500"/>
            <a:ext cx="10668000" cy="276999"/>
          </a:xfrm>
          <a:prstGeom prst="rect">
            <a:avLst/>
          </a:prstGeom>
          <a:noFill/>
        </p:spPr>
        <p:txBody>
          <a:bodyPr vert="horz" wrap="square" lIns="0" tIns="0" rIns="0" bIns="0" rtlCol="0">
            <a:spAutoFit/>
          </a:bodyPr>
          <a:lstStyle/>
          <a:p>
            <a:r>
              <a:rPr lang="en-US" sz="1800">
                <a:solidFill>
                  <a:srgbClr val="666666"/>
                </a:solidFill>
                <a:latin typeface="Segoe UI" panose="020B0502040204020203" pitchFamily="34" charset="0"/>
              </a:rPr>
              <a:t>A proof-of-concept, and what it tells us about where we go next</a:t>
            </a:r>
          </a:p>
        </p:txBody>
      </p:sp>
      <p:sp>
        <p:nvSpPr>
          <p:cNvPr id="8" name="Rectangle 7">
            <a:extLst>
              <a:ext uri="{FF2B5EF4-FFF2-40B4-BE49-F238E27FC236}">
                <a16:creationId xmlns:a16="http://schemas.microsoft.com/office/drawing/2014/main" id="{4853124F-17D3-C78A-B15B-3BA486E77E93}"/>
              </a:ext>
            </a:extLst>
          </p:cNvPr>
          <p:cNvSpPr/>
          <p:nvPr/>
        </p:nvSpPr>
        <p:spPr>
          <a:xfrm>
            <a:off x="4826000" y="3683000"/>
            <a:ext cx="2540000" cy="381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4D0AEBF-F6F7-85DC-74AF-029ADAB71155}"/>
              </a:ext>
            </a:extLst>
          </p:cNvPr>
          <p:cNvSpPr txBox="1"/>
          <p:nvPr/>
        </p:nvSpPr>
        <p:spPr>
          <a:xfrm>
            <a:off x="762000" y="4064000"/>
            <a:ext cx="10668000" cy="246221"/>
          </a:xfrm>
          <a:prstGeom prst="rect">
            <a:avLst/>
          </a:prstGeom>
          <a:noFill/>
        </p:spPr>
        <p:txBody>
          <a:bodyPr vert="horz" wrap="square" lIns="0" tIns="0" rIns="0" bIns="0" rtlCol="0">
            <a:spAutoFit/>
          </a:bodyPr>
          <a:lstStyle/>
          <a:p>
            <a:r>
              <a:rPr lang="en-US" sz="1600" b="1">
                <a:solidFill>
                  <a:srgbClr val="222222"/>
                </a:solidFill>
                <a:latin typeface="Segoe UI" panose="020B0502040204020203" pitchFamily="34" charset="0"/>
              </a:rPr>
              <a:t>EDW Architecture Review</a:t>
            </a:r>
          </a:p>
        </p:txBody>
      </p:sp>
      <p:sp>
        <p:nvSpPr>
          <p:cNvPr id="10" name="TextBox 9">
            <a:extLst>
              <a:ext uri="{FF2B5EF4-FFF2-40B4-BE49-F238E27FC236}">
                <a16:creationId xmlns:a16="http://schemas.microsoft.com/office/drawing/2014/main" id="{EDEF1ECC-C0E0-EFD3-2315-99A0EDDE4FA3}"/>
              </a:ext>
            </a:extLst>
          </p:cNvPr>
          <p:cNvSpPr txBox="1"/>
          <p:nvPr/>
        </p:nvSpPr>
        <p:spPr>
          <a:xfrm>
            <a:off x="762000" y="4394200"/>
            <a:ext cx="10668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Presented to: Director, Architect, Engineers, QA</a:t>
            </a:r>
          </a:p>
        </p:txBody>
      </p:sp>
      <p:sp>
        <p:nvSpPr>
          <p:cNvPr id="11" name="TextBox 10">
            <a:extLst>
              <a:ext uri="{FF2B5EF4-FFF2-40B4-BE49-F238E27FC236}">
                <a16:creationId xmlns:a16="http://schemas.microsoft.com/office/drawing/2014/main" id="{2E0DD27E-3B4F-9E89-0F5B-C5E6DFCCD9F7}"/>
              </a:ext>
            </a:extLst>
          </p:cNvPr>
          <p:cNvSpPr txBox="1"/>
          <p:nvPr/>
        </p:nvSpPr>
        <p:spPr>
          <a:xfrm>
            <a:off x="762000" y="4699000"/>
            <a:ext cx="10668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30 minutes + 10-minute live demo</a:t>
            </a:r>
          </a:p>
        </p:txBody>
      </p:sp>
      <p:sp>
        <p:nvSpPr>
          <p:cNvPr id="12" name="Rectangle 11">
            <a:extLst>
              <a:ext uri="{FF2B5EF4-FFF2-40B4-BE49-F238E27FC236}">
                <a16:creationId xmlns:a16="http://schemas.microsoft.com/office/drawing/2014/main" id="{E26FBE9D-F080-4989-56F7-2F1B43CEC950}"/>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CE84749-1CD7-7C85-16E1-A138424F7930}"/>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14" name="TextBox 13">
            <a:extLst>
              <a:ext uri="{FF2B5EF4-FFF2-40B4-BE49-F238E27FC236}">
                <a16:creationId xmlns:a16="http://schemas.microsoft.com/office/drawing/2014/main" id="{6E57F74A-FD9E-6557-944E-B0857A9818EB}"/>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1 / 14</a:t>
            </a:r>
          </a:p>
        </p:txBody>
      </p:sp>
    </p:spTree>
    <p:extLst>
      <p:ext uri="{BB962C8B-B14F-4D97-AF65-F5344CB8AC3E}">
        <p14:creationId xmlns:p14="http://schemas.microsoft.com/office/powerpoint/2010/main" val="3703473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A9ED85E-98CA-E752-E8B2-F0CA88A6B597}"/>
              </a:ext>
            </a:extLst>
          </p:cNvPr>
          <p:cNvSpPr/>
          <p:nvPr/>
        </p:nvSpPr>
        <p:spPr>
          <a:xfrm>
            <a:off x="0" y="0"/>
            <a:ext cx="12192000" cy="762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D62A668-9505-8A19-5A69-9C2B533A726B}"/>
              </a:ext>
            </a:extLst>
          </p:cNvPr>
          <p:cNvSpPr txBox="1"/>
          <p:nvPr/>
        </p:nvSpPr>
        <p:spPr>
          <a:xfrm>
            <a:off x="508000" y="381000"/>
            <a:ext cx="11176000" cy="430887"/>
          </a:xfrm>
          <a:prstGeom prst="rect">
            <a:avLst/>
          </a:prstGeom>
          <a:noFill/>
        </p:spPr>
        <p:txBody>
          <a:bodyPr vert="horz" wrap="square" lIns="0" tIns="0" rIns="0" bIns="0" rtlCol="0">
            <a:spAutoFit/>
          </a:bodyPr>
          <a:lstStyle/>
          <a:p>
            <a:r>
              <a:rPr lang="en-US" sz="2800" b="1">
                <a:solidFill>
                  <a:srgbClr val="222222"/>
                </a:solidFill>
                <a:latin typeface="Segoe UI" panose="020B0502040204020203" pitchFamily="34" charset="0"/>
              </a:rPr>
              <a:t>Agenda</a:t>
            </a:r>
          </a:p>
        </p:txBody>
      </p:sp>
      <p:sp>
        <p:nvSpPr>
          <p:cNvPr id="4" name="Rectangle 3">
            <a:extLst>
              <a:ext uri="{FF2B5EF4-FFF2-40B4-BE49-F238E27FC236}">
                <a16:creationId xmlns:a16="http://schemas.microsoft.com/office/drawing/2014/main" id="{8CFA75A8-C092-6070-FB51-7DD23B74088D}"/>
              </a:ext>
            </a:extLst>
          </p:cNvPr>
          <p:cNvSpPr/>
          <p:nvPr/>
        </p:nvSpPr>
        <p:spPr>
          <a:xfrm>
            <a:off x="508000" y="914400"/>
            <a:ext cx="1016000" cy="381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3C62790B-62CD-EA60-96CC-2650995D9E87}"/>
              </a:ext>
            </a:extLst>
          </p:cNvPr>
          <p:cNvSpPr/>
          <p:nvPr/>
        </p:nvSpPr>
        <p:spPr>
          <a:xfrm>
            <a:off x="762000" y="1397000"/>
            <a:ext cx="508000" cy="508000"/>
          </a:xfrm>
          <a:prstGeom prst="ellipse">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FFFF"/>
                </a:solidFill>
                <a:latin typeface="Segoe UI" panose="020B0502040204020203" pitchFamily="34" charset="0"/>
              </a:rPr>
              <a:t>1</a:t>
            </a:r>
          </a:p>
        </p:txBody>
      </p:sp>
      <p:sp>
        <p:nvSpPr>
          <p:cNvPr id="6" name="TextBox 5">
            <a:extLst>
              <a:ext uri="{FF2B5EF4-FFF2-40B4-BE49-F238E27FC236}">
                <a16:creationId xmlns:a16="http://schemas.microsoft.com/office/drawing/2014/main" id="{4080336D-AAE7-F327-A7F0-C272A4BB59BF}"/>
              </a:ext>
            </a:extLst>
          </p:cNvPr>
          <p:cNvSpPr txBox="1"/>
          <p:nvPr/>
        </p:nvSpPr>
        <p:spPr>
          <a:xfrm>
            <a:off x="1524000" y="1473200"/>
            <a:ext cx="9906000" cy="261610"/>
          </a:xfrm>
          <a:prstGeom prst="rect">
            <a:avLst/>
          </a:prstGeom>
          <a:noFill/>
        </p:spPr>
        <p:txBody>
          <a:bodyPr vert="horz" wrap="square" lIns="0" tIns="0" rIns="0" bIns="0" rtlCol="0">
            <a:spAutoFit/>
          </a:bodyPr>
          <a:lstStyle/>
          <a:p>
            <a:r>
              <a:rPr lang="en-US" sz="1700">
                <a:solidFill>
                  <a:srgbClr val="222222"/>
                </a:solidFill>
                <a:latin typeface="Segoe UI" panose="020B0502040204020203" pitchFamily="34" charset="0"/>
              </a:rPr>
              <a:t>The problem we are trying to solve</a:t>
            </a:r>
          </a:p>
        </p:txBody>
      </p:sp>
      <p:sp>
        <p:nvSpPr>
          <p:cNvPr id="7" name="Oval 6">
            <a:extLst>
              <a:ext uri="{FF2B5EF4-FFF2-40B4-BE49-F238E27FC236}">
                <a16:creationId xmlns:a16="http://schemas.microsoft.com/office/drawing/2014/main" id="{65D14739-3CA0-B8D4-87E5-D81126339285}"/>
              </a:ext>
            </a:extLst>
          </p:cNvPr>
          <p:cNvSpPr/>
          <p:nvPr/>
        </p:nvSpPr>
        <p:spPr>
          <a:xfrm>
            <a:off x="762000" y="2095500"/>
            <a:ext cx="508000" cy="508000"/>
          </a:xfrm>
          <a:prstGeom prst="ellipse">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FFFF"/>
                </a:solidFill>
                <a:latin typeface="Segoe UI" panose="020B0502040204020203" pitchFamily="34" charset="0"/>
              </a:rPr>
              <a:t>2</a:t>
            </a:r>
          </a:p>
        </p:txBody>
      </p:sp>
      <p:sp>
        <p:nvSpPr>
          <p:cNvPr id="8" name="TextBox 7">
            <a:extLst>
              <a:ext uri="{FF2B5EF4-FFF2-40B4-BE49-F238E27FC236}">
                <a16:creationId xmlns:a16="http://schemas.microsoft.com/office/drawing/2014/main" id="{34F15D71-2133-CF46-7851-EED5F834B33B}"/>
              </a:ext>
            </a:extLst>
          </p:cNvPr>
          <p:cNvSpPr txBox="1"/>
          <p:nvPr/>
        </p:nvSpPr>
        <p:spPr>
          <a:xfrm>
            <a:off x="1524000" y="2171700"/>
            <a:ext cx="9906000" cy="261610"/>
          </a:xfrm>
          <a:prstGeom prst="rect">
            <a:avLst/>
          </a:prstGeom>
          <a:noFill/>
        </p:spPr>
        <p:txBody>
          <a:bodyPr vert="horz" wrap="square" lIns="0" tIns="0" rIns="0" bIns="0" rtlCol="0">
            <a:spAutoFit/>
          </a:bodyPr>
          <a:lstStyle/>
          <a:p>
            <a:r>
              <a:rPr lang="en-US" sz="1700">
                <a:solidFill>
                  <a:srgbClr val="222222"/>
                </a:solidFill>
                <a:latin typeface="Segoe UI" panose="020B0502040204020203" pitchFamily="34" charset="0"/>
              </a:rPr>
              <a:t>Today's EDW  -  where we are</a:t>
            </a:r>
          </a:p>
        </p:txBody>
      </p:sp>
      <p:sp>
        <p:nvSpPr>
          <p:cNvPr id="9" name="Oval 8">
            <a:extLst>
              <a:ext uri="{FF2B5EF4-FFF2-40B4-BE49-F238E27FC236}">
                <a16:creationId xmlns:a16="http://schemas.microsoft.com/office/drawing/2014/main" id="{E3146D86-7D54-6347-128B-B2010568E741}"/>
              </a:ext>
            </a:extLst>
          </p:cNvPr>
          <p:cNvSpPr/>
          <p:nvPr/>
        </p:nvSpPr>
        <p:spPr>
          <a:xfrm>
            <a:off x="762000" y="2794000"/>
            <a:ext cx="508000" cy="508000"/>
          </a:xfrm>
          <a:prstGeom prst="ellipse">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FFFF"/>
                </a:solidFill>
                <a:latin typeface="Segoe UI" panose="020B0502040204020203" pitchFamily="34" charset="0"/>
              </a:rPr>
              <a:t>3</a:t>
            </a:r>
          </a:p>
        </p:txBody>
      </p:sp>
      <p:sp>
        <p:nvSpPr>
          <p:cNvPr id="10" name="TextBox 9">
            <a:extLst>
              <a:ext uri="{FF2B5EF4-FFF2-40B4-BE49-F238E27FC236}">
                <a16:creationId xmlns:a16="http://schemas.microsoft.com/office/drawing/2014/main" id="{5BD47ED3-E3E4-8DDF-EB72-948739987F7B}"/>
              </a:ext>
            </a:extLst>
          </p:cNvPr>
          <p:cNvSpPr txBox="1"/>
          <p:nvPr/>
        </p:nvSpPr>
        <p:spPr>
          <a:xfrm>
            <a:off x="1524000" y="2870200"/>
            <a:ext cx="9906000" cy="261610"/>
          </a:xfrm>
          <a:prstGeom prst="rect">
            <a:avLst/>
          </a:prstGeom>
          <a:noFill/>
        </p:spPr>
        <p:txBody>
          <a:bodyPr vert="horz" wrap="square" lIns="0" tIns="0" rIns="0" bIns="0" rtlCol="0">
            <a:spAutoFit/>
          </a:bodyPr>
          <a:lstStyle/>
          <a:p>
            <a:r>
              <a:rPr lang="en-US" sz="1700">
                <a:solidFill>
                  <a:srgbClr val="222222"/>
                </a:solidFill>
                <a:latin typeface="Segoe UI" panose="020B0502040204020203" pitchFamily="34" charset="0"/>
              </a:rPr>
              <a:t>The vision  -  Gold and Platinum in Microsoft Fabric</a:t>
            </a:r>
          </a:p>
        </p:txBody>
      </p:sp>
      <p:sp>
        <p:nvSpPr>
          <p:cNvPr id="11" name="Oval 10">
            <a:extLst>
              <a:ext uri="{FF2B5EF4-FFF2-40B4-BE49-F238E27FC236}">
                <a16:creationId xmlns:a16="http://schemas.microsoft.com/office/drawing/2014/main" id="{353CF1C4-EDFA-E439-7FE1-D38225B48C4B}"/>
              </a:ext>
            </a:extLst>
          </p:cNvPr>
          <p:cNvSpPr/>
          <p:nvPr/>
        </p:nvSpPr>
        <p:spPr>
          <a:xfrm>
            <a:off x="762000" y="3492500"/>
            <a:ext cx="508000" cy="508000"/>
          </a:xfrm>
          <a:prstGeom prst="ellipse">
            <a:avLst/>
          </a:prstGeom>
          <a:solidFill>
            <a:srgbClr val="F68D2D"/>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FFFF"/>
                </a:solidFill>
                <a:latin typeface="Segoe UI" panose="020B0502040204020203" pitchFamily="34" charset="0"/>
              </a:rPr>
              <a:t>4</a:t>
            </a:r>
          </a:p>
        </p:txBody>
      </p:sp>
      <p:sp>
        <p:nvSpPr>
          <p:cNvPr id="12" name="TextBox 11">
            <a:extLst>
              <a:ext uri="{FF2B5EF4-FFF2-40B4-BE49-F238E27FC236}">
                <a16:creationId xmlns:a16="http://schemas.microsoft.com/office/drawing/2014/main" id="{4FDFE14E-9E7F-8DCC-F1E4-450DFB0A2DAC}"/>
              </a:ext>
            </a:extLst>
          </p:cNvPr>
          <p:cNvSpPr txBox="1"/>
          <p:nvPr/>
        </p:nvSpPr>
        <p:spPr>
          <a:xfrm>
            <a:off x="1524000" y="3568700"/>
            <a:ext cx="9906000" cy="261610"/>
          </a:xfrm>
          <a:prstGeom prst="rect">
            <a:avLst/>
          </a:prstGeom>
          <a:noFill/>
        </p:spPr>
        <p:txBody>
          <a:bodyPr vert="horz" wrap="square" lIns="0" tIns="0" rIns="0" bIns="0" rtlCol="0">
            <a:spAutoFit/>
          </a:bodyPr>
          <a:lstStyle/>
          <a:p>
            <a:r>
              <a:rPr lang="en-US" sz="1700">
                <a:solidFill>
                  <a:srgbClr val="222222"/>
                </a:solidFill>
                <a:latin typeface="Segoe UI" panose="020B0502040204020203" pitchFamily="34" charset="0"/>
              </a:rPr>
              <a:t>The POC  -  what I built and why</a:t>
            </a:r>
          </a:p>
        </p:txBody>
      </p:sp>
      <p:sp>
        <p:nvSpPr>
          <p:cNvPr id="13" name="Oval 12">
            <a:extLst>
              <a:ext uri="{FF2B5EF4-FFF2-40B4-BE49-F238E27FC236}">
                <a16:creationId xmlns:a16="http://schemas.microsoft.com/office/drawing/2014/main" id="{2BBC9670-1F70-ECA6-D7D5-72B3B4A9F2DC}"/>
              </a:ext>
            </a:extLst>
          </p:cNvPr>
          <p:cNvSpPr/>
          <p:nvPr/>
        </p:nvSpPr>
        <p:spPr>
          <a:xfrm>
            <a:off x="762000" y="4191000"/>
            <a:ext cx="508000" cy="508000"/>
          </a:xfrm>
          <a:prstGeom prst="ellipse">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FFFF"/>
                </a:solidFill>
                <a:latin typeface="Segoe UI" panose="020B0502040204020203" pitchFamily="34" charset="0"/>
              </a:rPr>
              <a:t>5</a:t>
            </a:r>
          </a:p>
        </p:txBody>
      </p:sp>
      <p:sp>
        <p:nvSpPr>
          <p:cNvPr id="14" name="TextBox 13">
            <a:extLst>
              <a:ext uri="{FF2B5EF4-FFF2-40B4-BE49-F238E27FC236}">
                <a16:creationId xmlns:a16="http://schemas.microsoft.com/office/drawing/2014/main" id="{F504C416-A936-E165-0FA2-AF49F3C000B7}"/>
              </a:ext>
            </a:extLst>
          </p:cNvPr>
          <p:cNvSpPr txBox="1"/>
          <p:nvPr/>
        </p:nvSpPr>
        <p:spPr>
          <a:xfrm>
            <a:off x="1524000" y="4267200"/>
            <a:ext cx="9906000" cy="261610"/>
          </a:xfrm>
          <a:prstGeom prst="rect">
            <a:avLst/>
          </a:prstGeom>
          <a:noFill/>
        </p:spPr>
        <p:txBody>
          <a:bodyPr vert="horz" wrap="square" lIns="0" tIns="0" rIns="0" bIns="0" rtlCol="0">
            <a:spAutoFit/>
          </a:bodyPr>
          <a:lstStyle/>
          <a:p>
            <a:r>
              <a:rPr lang="en-US" sz="1700">
                <a:solidFill>
                  <a:srgbClr val="222222"/>
                </a:solidFill>
                <a:latin typeface="Segoe UI" panose="020B0502040204020203" pitchFamily="34" charset="0"/>
              </a:rPr>
              <a:t>Live demo  -  3 questions, easy to hard</a:t>
            </a:r>
          </a:p>
        </p:txBody>
      </p:sp>
      <p:sp>
        <p:nvSpPr>
          <p:cNvPr id="15" name="Oval 14">
            <a:extLst>
              <a:ext uri="{FF2B5EF4-FFF2-40B4-BE49-F238E27FC236}">
                <a16:creationId xmlns:a16="http://schemas.microsoft.com/office/drawing/2014/main" id="{2B389AEA-CD1C-6FC6-077D-B35029952F96}"/>
              </a:ext>
            </a:extLst>
          </p:cNvPr>
          <p:cNvSpPr/>
          <p:nvPr/>
        </p:nvSpPr>
        <p:spPr>
          <a:xfrm>
            <a:off x="762000" y="4889500"/>
            <a:ext cx="508000" cy="508000"/>
          </a:xfrm>
          <a:prstGeom prst="ellipse">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FFFF"/>
                </a:solidFill>
                <a:latin typeface="Segoe UI" panose="020B0502040204020203" pitchFamily="34" charset="0"/>
              </a:rPr>
              <a:t>6</a:t>
            </a:r>
          </a:p>
        </p:txBody>
      </p:sp>
      <p:sp>
        <p:nvSpPr>
          <p:cNvPr id="16" name="TextBox 15">
            <a:extLst>
              <a:ext uri="{FF2B5EF4-FFF2-40B4-BE49-F238E27FC236}">
                <a16:creationId xmlns:a16="http://schemas.microsoft.com/office/drawing/2014/main" id="{12734F22-88C1-7A89-9B5D-0B9EF2DB4240}"/>
              </a:ext>
            </a:extLst>
          </p:cNvPr>
          <p:cNvSpPr txBox="1"/>
          <p:nvPr/>
        </p:nvSpPr>
        <p:spPr>
          <a:xfrm>
            <a:off x="1524000" y="4965700"/>
            <a:ext cx="9906000" cy="261610"/>
          </a:xfrm>
          <a:prstGeom prst="rect">
            <a:avLst/>
          </a:prstGeom>
          <a:noFill/>
        </p:spPr>
        <p:txBody>
          <a:bodyPr vert="horz" wrap="square" lIns="0" tIns="0" rIns="0" bIns="0" rtlCol="0">
            <a:spAutoFit/>
          </a:bodyPr>
          <a:lstStyle/>
          <a:p>
            <a:r>
              <a:rPr lang="en-US" sz="1700">
                <a:solidFill>
                  <a:srgbClr val="222222"/>
                </a:solidFill>
                <a:latin typeface="Segoe UI" panose="020B0502040204020203" pitchFamily="34" charset="0"/>
              </a:rPr>
              <a:t>The real future  -  Fabric Data Agents + Azure OpenAI</a:t>
            </a:r>
          </a:p>
        </p:txBody>
      </p:sp>
      <p:sp>
        <p:nvSpPr>
          <p:cNvPr id="17" name="Oval 16">
            <a:extLst>
              <a:ext uri="{FF2B5EF4-FFF2-40B4-BE49-F238E27FC236}">
                <a16:creationId xmlns:a16="http://schemas.microsoft.com/office/drawing/2014/main" id="{30C2984E-5134-76D0-9D9B-31F5ECDEEA64}"/>
              </a:ext>
            </a:extLst>
          </p:cNvPr>
          <p:cNvSpPr/>
          <p:nvPr/>
        </p:nvSpPr>
        <p:spPr>
          <a:xfrm>
            <a:off x="762000" y="5588000"/>
            <a:ext cx="508000" cy="508000"/>
          </a:xfrm>
          <a:prstGeom prst="ellipse">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FFFF"/>
                </a:solidFill>
                <a:latin typeface="Segoe UI" panose="020B0502040204020203" pitchFamily="34" charset="0"/>
              </a:rPr>
              <a:t>7</a:t>
            </a:r>
          </a:p>
        </p:txBody>
      </p:sp>
      <p:sp>
        <p:nvSpPr>
          <p:cNvPr id="18" name="TextBox 17">
            <a:extLst>
              <a:ext uri="{FF2B5EF4-FFF2-40B4-BE49-F238E27FC236}">
                <a16:creationId xmlns:a16="http://schemas.microsoft.com/office/drawing/2014/main" id="{8A5FDEB9-B10B-8F32-C4AA-63D993E8A64A}"/>
              </a:ext>
            </a:extLst>
          </p:cNvPr>
          <p:cNvSpPr txBox="1"/>
          <p:nvPr/>
        </p:nvSpPr>
        <p:spPr>
          <a:xfrm>
            <a:off x="1524000" y="5664200"/>
            <a:ext cx="9906000" cy="261610"/>
          </a:xfrm>
          <a:prstGeom prst="rect">
            <a:avLst/>
          </a:prstGeom>
          <a:noFill/>
        </p:spPr>
        <p:txBody>
          <a:bodyPr vert="horz" wrap="square" lIns="0" tIns="0" rIns="0" bIns="0" rtlCol="0">
            <a:spAutoFit/>
          </a:bodyPr>
          <a:lstStyle/>
          <a:p>
            <a:r>
              <a:rPr lang="en-US" sz="1700">
                <a:solidFill>
                  <a:srgbClr val="222222"/>
                </a:solidFill>
                <a:latin typeface="Segoe UI" panose="020B0502040204020203" pitchFamily="34" charset="0"/>
              </a:rPr>
              <a:t>What I want from you today</a:t>
            </a:r>
          </a:p>
        </p:txBody>
      </p:sp>
      <p:sp>
        <p:nvSpPr>
          <p:cNvPr id="19" name="Rectangle 18">
            <a:extLst>
              <a:ext uri="{FF2B5EF4-FFF2-40B4-BE49-F238E27FC236}">
                <a16:creationId xmlns:a16="http://schemas.microsoft.com/office/drawing/2014/main" id="{1D9C3080-E0FE-A408-13F9-411C15F90BBC}"/>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C448E1B-723C-26BE-BAD1-E970356419C2}"/>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21" name="TextBox 20">
            <a:extLst>
              <a:ext uri="{FF2B5EF4-FFF2-40B4-BE49-F238E27FC236}">
                <a16:creationId xmlns:a16="http://schemas.microsoft.com/office/drawing/2014/main" id="{CB92E918-26D5-9FAF-3960-10EA3AFB5736}"/>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2 / 14</a:t>
            </a:r>
          </a:p>
        </p:txBody>
      </p:sp>
    </p:spTree>
    <p:extLst>
      <p:ext uri="{BB962C8B-B14F-4D97-AF65-F5344CB8AC3E}">
        <p14:creationId xmlns:p14="http://schemas.microsoft.com/office/powerpoint/2010/main" val="305217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534236-38D5-503A-0CAA-AF593D5BD824}"/>
              </a:ext>
            </a:extLst>
          </p:cNvPr>
          <p:cNvSpPr/>
          <p:nvPr/>
        </p:nvSpPr>
        <p:spPr>
          <a:xfrm>
            <a:off x="0" y="0"/>
            <a:ext cx="12192000" cy="762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A235208-A08E-47DA-881C-4A0492433B89}"/>
              </a:ext>
            </a:extLst>
          </p:cNvPr>
          <p:cNvSpPr txBox="1"/>
          <p:nvPr/>
        </p:nvSpPr>
        <p:spPr>
          <a:xfrm>
            <a:off x="508000" y="381000"/>
            <a:ext cx="11176000" cy="430887"/>
          </a:xfrm>
          <a:prstGeom prst="rect">
            <a:avLst/>
          </a:prstGeom>
          <a:noFill/>
        </p:spPr>
        <p:txBody>
          <a:bodyPr vert="horz" wrap="square" lIns="0" tIns="0" rIns="0" bIns="0" rtlCol="0">
            <a:spAutoFit/>
          </a:bodyPr>
          <a:lstStyle/>
          <a:p>
            <a:r>
              <a:rPr lang="en-US" sz="2800" b="1">
                <a:solidFill>
                  <a:srgbClr val="222222"/>
                </a:solidFill>
                <a:latin typeface="Segoe UI" panose="020B0502040204020203" pitchFamily="34" charset="0"/>
              </a:rPr>
              <a:t>The problem</a:t>
            </a:r>
          </a:p>
        </p:txBody>
      </p:sp>
      <p:sp>
        <p:nvSpPr>
          <p:cNvPr id="4" name="Rectangle 3">
            <a:extLst>
              <a:ext uri="{FF2B5EF4-FFF2-40B4-BE49-F238E27FC236}">
                <a16:creationId xmlns:a16="http://schemas.microsoft.com/office/drawing/2014/main" id="{C5E4007F-8209-DAA8-F89E-BA6D11DC4381}"/>
              </a:ext>
            </a:extLst>
          </p:cNvPr>
          <p:cNvSpPr/>
          <p:nvPr/>
        </p:nvSpPr>
        <p:spPr>
          <a:xfrm>
            <a:off x="508000" y="914400"/>
            <a:ext cx="1016000" cy="381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AECF3F7-B198-2D1B-945B-72F68EA5F510}"/>
              </a:ext>
            </a:extLst>
          </p:cNvPr>
          <p:cNvSpPr txBox="1"/>
          <p:nvPr/>
        </p:nvSpPr>
        <p:spPr>
          <a:xfrm>
            <a:off x="762000" y="1397000"/>
            <a:ext cx="10668000" cy="307777"/>
          </a:xfrm>
          <a:prstGeom prst="rect">
            <a:avLst/>
          </a:prstGeom>
          <a:noFill/>
        </p:spPr>
        <p:txBody>
          <a:bodyPr vert="horz" wrap="square" lIns="0" tIns="0" rIns="0" bIns="0" rtlCol="0">
            <a:spAutoFit/>
          </a:bodyPr>
          <a:lstStyle/>
          <a:p>
            <a:r>
              <a:rPr lang="en-US" sz="2000" b="1">
                <a:solidFill>
                  <a:srgbClr val="222222"/>
                </a:solidFill>
                <a:latin typeface="Segoe UI" panose="020B0502040204020203" pitchFamily="34" charset="0"/>
              </a:rPr>
              <a:t>Our data is rich. Access is not.</a:t>
            </a:r>
          </a:p>
        </p:txBody>
      </p:sp>
      <p:sp>
        <p:nvSpPr>
          <p:cNvPr id="6" name="Rectangle 5">
            <a:extLst>
              <a:ext uri="{FF2B5EF4-FFF2-40B4-BE49-F238E27FC236}">
                <a16:creationId xmlns:a16="http://schemas.microsoft.com/office/drawing/2014/main" id="{66FD1F93-EDF0-3291-3574-AE4513F31659}"/>
              </a:ext>
            </a:extLst>
          </p:cNvPr>
          <p:cNvSpPr/>
          <p:nvPr/>
        </p:nvSpPr>
        <p:spPr>
          <a:xfrm>
            <a:off x="762000" y="2108200"/>
            <a:ext cx="76200" cy="11430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C34F036-0175-4F9E-CBB0-A0BAAFC41C55}"/>
              </a:ext>
            </a:extLst>
          </p:cNvPr>
          <p:cNvSpPr txBox="1"/>
          <p:nvPr/>
        </p:nvSpPr>
        <p:spPr>
          <a:xfrm>
            <a:off x="1079500" y="2032000"/>
            <a:ext cx="10414000" cy="246221"/>
          </a:xfrm>
          <a:prstGeom prst="rect">
            <a:avLst/>
          </a:prstGeom>
          <a:noFill/>
        </p:spPr>
        <p:txBody>
          <a:bodyPr vert="horz" wrap="square" lIns="0" tIns="0" rIns="0" bIns="0" rtlCol="0">
            <a:spAutoFit/>
          </a:bodyPr>
          <a:lstStyle/>
          <a:p>
            <a:r>
              <a:rPr lang="en-US" sz="1600" b="1">
                <a:solidFill>
                  <a:srgbClr val="222222"/>
                </a:solidFill>
                <a:latin typeface="Segoe UI" panose="020B0502040204020203" pitchFamily="34" charset="0"/>
              </a:rPr>
              <a:t>Learning curve</a:t>
            </a:r>
          </a:p>
        </p:txBody>
      </p:sp>
      <p:sp>
        <p:nvSpPr>
          <p:cNvPr id="8" name="TextBox 7">
            <a:extLst>
              <a:ext uri="{FF2B5EF4-FFF2-40B4-BE49-F238E27FC236}">
                <a16:creationId xmlns:a16="http://schemas.microsoft.com/office/drawing/2014/main" id="{AFA707BC-8103-74FF-F861-AFB4FA897BEB}"/>
              </a:ext>
            </a:extLst>
          </p:cNvPr>
          <p:cNvSpPr txBox="1"/>
          <p:nvPr/>
        </p:nvSpPr>
        <p:spPr>
          <a:xfrm>
            <a:off x="1079500" y="2387600"/>
            <a:ext cx="10414000" cy="415498"/>
          </a:xfrm>
          <a:prstGeom prst="rect">
            <a:avLst/>
          </a:prstGeom>
          <a:noFill/>
        </p:spPr>
        <p:txBody>
          <a:bodyPr vert="horz" wrap="square" lIns="0" tIns="0" rIns="0" bIns="0" rtlCol="0">
            <a:spAutoFit/>
          </a:bodyPr>
          <a:lstStyle/>
          <a:p>
            <a:r>
              <a:rPr lang="en-US" sz="1300">
                <a:solidFill>
                  <a:srgbClr val="666666"/>
                </a:solidFill>
                <a:latin typeface="Segoe UI" panose="020B0502040204020203" pitchFamily="34" charset="0"/>
              </a:rPr>
              <a:t>HR says it takes roughly two years of experience before a new analyst can confidently talk about our data model. That is two years of onboarding tax on every new hire.</a:t>
            </a:r>
          </a:p>
        </p:txBody>
      </p:sp>
      <p:sp>
        <p:nvSpPr>
          <p:cNvPr id="9" name="Rectangle 8">
            <a:extLst>
              <a:ext uri="{FF2B5EF4-FFF2-40B4-BE49-F238E27FC236}">
                <a16:creationId xmlns:a16="http://schemas.microsoft.com/office/drawing/2014/main" id="{B8C6A33F-9906-11A5-007C-8079CD15F5DE}"/>
              </a:ext>
            </a:extLst>
          </p:cNvPr>
          <p:cNvSpPr/>
          <p:nvPr/>
        </p:nvSpPr>
        <p:spPr>
          <a:xfrm>
            <a:off x="762000" y="3505200"/>
            <a:ext cx="76200" cy="11430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FFD881B-4445-F925-A100-C120E730C297}"/>
              </a:ext>
            </a:extLst>
          </p:cNvPr>
          <p:cNvSpPr txBox="1"/>
          <p:nvPr/>
        </p:nvSpPr>
        <p:spPr>
          <a:xfrm>
            <a:off x="1079500" y="3429000"/>
            <a:ext cx="10414000" cy="246221"/>
          </a:xfrm>
          <a:prstGeom prst="rect">
            <a:avLst/>
          </a:prstGeom>
          <a:noFill/>
        </p:spPr>
        <p:txBody>
          <a:bodyPr vert="horz" wrap="square" lIns="0" tIns="0" rIns="0" bIns="0" rtlCol="0">
            <a:spAutoFit/>
          </a:bodyPr>
          <a:lstStyle/>
          <a:p>
            <a:r>
              <a:rPr lang="en-US" sz="1600" b="1">
                <a:solidFill>
                  <a:srgbClr val="222222"/>
                </a:solidFill>
                <a:latin typeface="Segoe UI" panose="020B0502040204020203" pitchFamily="34" charset="0"/>
              </a:rPr>
              <a:t>Gatekeeping bottleneck</a:t>
            </a:r>
          </a:p>
        </p:txBody>
      </p:sp>
      <p:sp>
        <p:nvSpPr>
          <p:cNvPr id="11" name="TextBox 10">
            <a:extLst>
              <a:ext uri="{FF2B5EF4-FFF2-40B4-BE49-F238E27FC236}">
                <a16:creationId xmlns:a16="http://schemas.microsoft.com/office/drawing/2014/main" id="{9D44AD08-97CB-A053-4B63-47B616E37698}"/>
              </a:ext>
            </a:extLst>
          </p:cNvPr>
          <p:cNvSpPr txBox="1"/>
          <p:nvPr/>
        </p:nvSpPr>
        <p:spPr>
          <a:xfrm>
            <a:off x="1079500" y="3784600"/>
            <a:ext cx="10414000" cy="207749"/>
          </a:xfrm>
          <a:prstGeom prst="rect">
            <a:avLst/>
          </a:prstGeom>
          <a:noFill/>
        </p:spPr>
        <p:txBody>
          <a:bodyPr vert="horz" wrap="square" lIns="0" tIns="0" rIns="0" bIns="0" rtlCol="0">
            <a:spAutoFit/>
          </a:bodyPr>
          <a:lstStyle/>
          <a:p>
            <a:r>
              <a:rPr lang="en-US" sz="1300">
                <a:solidFill>
                  <a:srgbClr val="666666"/>
                </a:solidFill>
                <a:latin typeface="Segoe UI" panose="020B0502040204020203" pitchFamily="34" charset="0"/>
              </a:rPr>
              <a:t>Business users with questions file tickets. Engineers write SQL. Reports get built. A 10-minute question becomes a 3-day turnaround.</a:t>
            </a:r>
          </a:p>
        </p:txBody>
      </p:sp>
      <p:sp>
        <p:nvSpPr>
          <p:cNvPr id="12" name="Rectangle 11">
            <a:extLst>
              <a:ext uri="{FF2B5EF4-FFF2-40B4-BE49-F238E27FC236}">
                <a16:creationId xmlns:a16="http://schemas.microsoft.com/office/drawing/2014/main" id="{6D1E6407-5C81-332C-D68D-C26A7B537C84}"/>
              </a:ext>
            </a:extLst>
          </p:cNvPr>
          <p:cNvSpPr/>
          <p:nvPr/>
        </p:nvSpPr>
        <p:spPr>
          <a:xfrm>
            <a:off x="762000" y="4902200"/>
            <a:ext cx="76200" cy="11430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0769A56-182B-5467-8201-5AF81A243CF6}"/>
              </a:ext>
            </a:extLst>
          </p:cNvPr>
          <p:cNvSpPr txBox="1"/>
          <p:nvPr/>
        </p:nvSpPr>
        <p:spPr>
          <a:xfrm>
            <a:off x="1079500" y="4826000"/>
            <a:ext cx="10414000" cy="246221"/>
          </a:xfrm>
          <a:prstGeom prst="rect">
            <a:avLst/>
          </a:prstGeom>
          <a:noFill/>
        </p:spPr>
        <p:txBody>
          <a:bodyPr vert="horz" wrap="square" lIns="0" tIns="0" rIns="0" bIns="0" rtlCol="0">
            <a:spAutoFit/>
          </a:bodyPr>
          <a:lstStyle/>
          <a:p>
            <a:r>
              <a:rPr lang="en-US" sz="1600" b="1">
                <a:solidFill>
                  <a:srgbClr val="222222"/>
                </a:solidFill>
                <a:latin typeface="Segoe UI" panose="020B0502040204020203" pitchFamily="34" charset="0"/>
              </a:rPr>
              <a:t>Reports don't cover everything</a:t>
            </a:r>
          </a:p>
        </p:txBody>
      </p:sp>
      <p:sp>
        <p:nvSpPr>
          <p:cNvPr id="14" name="TextBox 13">
            <a:extLst>
              <a:ext uri="{FF2B5EF4-FFF2-40B4-BE49-F238E27FC236}">
                <a16:creationId xmlns:a16="http://schemas.microsoft.com/office/drawing/2014/main" id="{C4FDF2C5-761B-B823-AD1B-4D64B17FEE7C}"/>
              </a:ext>
            </a:extLst>
          </p:cNvPr>
          <p:cNvSpPr txBox="1"/>
          <p:nvPr/>
        </p:nvSpPr>
        <p:spPr>
          <a:xfrm>
            <a:off x="1079500" y="5181600"/>
            <a:ext cx="10414000" cy="207749"/>
          </a:xfrm>
          <a:prstGeom prst="rect">
            <a:avLst/>
          </a:prstGeom>
          <a:noFill/>
        </p:spPr>
        <p:txBody>
          <a:bodyPr vert="horz" wrap="square" lIns="0" tIns="0" rIns="0" bIns="0" rtlCol="0">
            <a:spAutoFit/>
          </a:bodyPr>
          <a:lstStyle/>
          <a:p>
            <a:r>
              <a:rPr lang="en-US" sz="1300">
                <a:solidFill>
                  <a:srgbClr val="666666"/>
                </a:solidFill>
                <a:latin typeface="Segoe UI" panose="020B0502040204020203" pitchFamily="34" charset="0"/>
              </a:rPr>
              <a:t>Power BI reports answer the top 80%. The remaining 20%  -  the ad-hoc, one-off, 'what if' questions  -  fall through the cracks.</a:t>
            </a:r>
          </a:p>
        </p:txBody>
      </p:sp>
      <p:sp>
        <p:nvSpPr>
          <p:cNvPr id="15" name="Rectangle 14">
            <a:extLst>
              <a:ext uri="{FF2B5EF4-FFF2-40B4-BE49-F238E27FC236}">
                <a16:creationId xmlns:a16="http://schemas.microsoft.com/office/drawing/2014/main" id="{CF37B953-5D20-7672-3CF0-30ADEF2F18F9}"/>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B5EDD87-0261-E87A-527F-C9215C2CFDC7}"/>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17" name="TextBox 16">
            <a:extLst>
              <a:ext uri="{FF2B5EF4-FFF2-40B4-BE49-F238E27FC236}">
                <a16:creationId xmlns:a16="http://schemas.microsoft.com/office/drawing/2014/main" id="{354B7136-243C-DF5D-1934-410286AEA1E7}"/>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3 / 14</a:t>
            </a:r>
          </a:p>
        </p:txBody>
      </p:sp>
    </p:spTree>
    <p:extLst>
      <p:ext uri="{BB962C8B-B14F-4D97-AF65-F5344CB8AC3E}">
        <p14:creationId xmlns:p14="http://schemas.microsoft.com/office/powerpoint/2010/main" val="2512944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BCD4B8-23C3-707C-615B-24A7181748EC}"/>
              </a:ext>
            </a:extLst>
          </p:cNvPr>
          <p:cNvSpPr/>
          <p:nvPr/>
        </p:nvSpPr>
        <p:spPr>
          <a:xfrm>
            <a:off x="0" y="0"/>
            <a:ext cx="12192000" cy="762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5C96B29-9B96-AE72-F9DD-DDF54A4B4997}"/>
              </a:ext>
            </a:extLst>
          </p:cNvPr>
          <p:cNvSpPr txBox="1"/>
          <p:nvPr/>
        </p:nvSpPr>
        <p:spPr>
          <a:xfrm>
            <a:off x="508000" y="381000"/>
            <a:ext cx="11176000" cy="430887"/>
          </a:xfrm>
          <a:prstGeom prst="rect">
            <a:avLst/>
          </a:prstGeom>
          <a:noFill/>
        </p:spPr>
        <p:txBody>
          <a:bodyPr vert="horz" wrap="square" lIns="0" tIns="0" rIns="0" bIns="0" rtlCol="0">
            <a:spAutoFit/>
          </a:bodyPr>
          <a:lstStyle/>
          <a:p>
            <a:r>
              <a:rPr lang="en-US" sz="2800" b="1">
                <a:solidFill>
                  <a:srgbClr val="222222"/>
                </a:solidFill>
                <a:latin typeface="Segoe UI" panose="020B0502040204020203" pitchFamily="34" charset="0"/>
              </a:rPr>
              <a:t>Today's EDW</a:t>
            </a:r>
          </a:p>
        </p:txBody>
      </p:sp>
      <p:sp>
        <p:nvSpPr>
          <p:cNvPr id="4" name="Rectangle 3">
            <a:extLst>
              <a:ext uri="{FF2B5EF4-FFF2-40B4-BE49-F238E27FC236}">
                <a16:creationId xmlns:a16="http://schemas.microsoft.com/office/drawing/2014/main" id="{30DEC961-592F-1918-49BA-A663A5C72626}"/>
              </a:ext>
            </a:extLst>
          </p:cNvPr>
          <p:cNvSpPr/>
          <p:nvPr/>
        </p:nvSpPr>
        <p:spPr>
          <a:xfrm>
            <a:off x="508000" y="914400"/>
            <a:ext cx="1016000" cy="381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F0002FC-8F1F-D9C5-E578-531C4F65E665}"/>
              </a:ext>
            </a:extLst>
          </p:cNvPr>
          <p:cNvSpPr txBox="1"/>
          <p:nvPr/>
        </p:nvSpPr>
        <p:spPr>
          <a:xfrm>
            <a:off x="508000" y="990600"/>
            <a:ext cx="11176000" cy="207749"/>
          </a:xfrm>
          <a:prstGeom prst="rect">
            <a:avLst/>
          </a:prstGeom>
          <a:noFill/>
        </p:spPr>
        <p:txBody>
          <a:bodyPr vert="horz" wrap="square" lIns="0" tIns="0" rIns="0" bIns="0" rtlCol="0">
            <a:spAutoFit/>
          </a:bodyPr>
          <a:lstStyle/>
          <a:p>
            <a:r>
              <a:rPr lang="en-US" sz="1300">
                <a:solidFill>
                  <a:srgbClr val="666666"/>
                </a:solidFill>
                <a:latin typeface="Segoe UI" panose="020B0502040204020203" pitchFamily="34" charset="0"/>
              </a:rPr>
              <a:t>Medallion architecture on SQL Server 2022 and SSAS</a:t>
            </a:r>
          </a:p>
        </p:txBody>
      </p:sp>
      <p:sp>
        <p:nvSpPr>
          <p:cNvPr id="6" name="Rectangle: Rounded Corners 5">
            <a:extLst>
              <a:ext uri="{FF2B5EF4-FFF2-40B4-BE49-F238E27FC236}">
                <a16:creationId xmlns:a16="http://schemas.microsoft.com/office/drawing/2014/main" id="{CFEAD5F1-51F8-9A5B-6505-61A9830C96C4}"/>
              </a:ext>
            </a:extLst>
          </p:cNvPr>
          <p:cNvSpPr/>
          <p:nvPr/>
        </p:nvSpPr>
        <p:spPr>
          <a:xfrm>
            <a:off x="762000" y="1778000"/>
            <a:ext cx="2540000" cy="1905000"/>
          </a:xfrm>
          <a:prstGeom prst="roundRect">
            <a:avLst>
              <a:gd name="adj" fmla="val 15000"/>
            </a:avLst>
          </a:prstGeom>
          <a:solidFill>
            <a:srgbClr val="FFFFFF"/>
          </a:solidFill>
          <a:ln w="31750">
            <a:solidFill>
              <a:srgbClr val="8888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0CABF41-C2C0-5A4F-5D58-4FA7C96E9F50}"/>
              </a:ext>
            </a:extLst>
          </p:cNvPr>
          <p:cNvSpPr txBox="1"/>
          <p:nvPr/>
        </p:nvSpPr>
        <p:spPr>
          <a:xfrm>
            <a:off x="762000" y="2095500"/>
            <a:ext cx="2540000" cy="307777"/>
          </a:xfrm>
          <a:prstGeom prst="rect">
            <a:avLst/>
          </a:prstGeom>
          <a:noFill/>
        </p:spPr>
        <p:txBody>
          <a:bodyPr vert="horz" wrap="square" lIns="0" tIns="0" rIns="0" bIns="0" rtlCol="0">
            <a:spAutoFit/>
          </a:bodyPr>
          <a:lstStyle/>
          <a:p>
            <a:r>
              <a:rPr lang="en-US" sz="2000" b="1">
                <a:solidFill>
                  <a:srgbClr val="888888"/>
                </a:solidFill>
                <a:latin typeface="Segoe UI" panose="020B0502040204020203" pitchFamily="34" charset="0"/>
              </a:rPr>
              <a:t>Bronze</a:t>
            </a:r>
          </a:p>
        </p:txBody>
      </p:sp>
      <p:sp>
        <p:nvSpPr>
          <p:cNvPr id="8" name="TextBox 7">
            <a:extLst>
              <a:ext uri="{FF2B5EF4-FFF2-40B4-BE49-F238E27FC236}">
                <a16:creationId xmlns:a16="http://schemas.microsoft.com/office/drawing/2014/main" id="{844F3A09-F788-007E-99EE-9F80436139C0}"/>
              </a:ext>
            </a:extLst>
          </p:cNvPr>
          <p:cNvSpPr txBox="1"/>
          <p:nvPr/>
        </p:nvSpPr>
        <p:spPr>
          <a:xfrm>
            <a:off x="889000" y="2667000"/>
            <a:ext cx="2286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Raw ingest</a:t>
            </a:r>
          </a:p>
        </p:txBody>
      </p:sp>
      <p:cxnSp>
        <p:nvCxnSpPr>
          <p:cNvPr id="9" name="Straight Connector 8">
            <a:extLst>
              <a:ext uri="{FF2B5EF4-FFF2-40B4-BE49-F238E27FC236}">
                <a16:creationId xmlns:a16="http://schemas.microsoft.com/office/drawing/2014/main" id="{C3BD85D0-F74F-5907-5B68-C525BF2261B0}"/>
              </a:ext>
            </a:extLst>
          </p:cNvPr>
          <p:cNvCxnSpPr/>
          <p:nvPr/>
        </p:nvCxnSpPr>
        <p:spPr>
          <a:xfrm>
            <a:off x="3327400" y="2730500"/>
            <a:ext cx="139700" cy="0"/>
          </a:xfrm>
          <a:prstGeom prst="line">
            <a:avLst/>
          </a:prstGeom>
          <a:ln w="25400">
            <a:solidFill>
              <a:srgbClr val="22222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2B23C57A-2A8A-0D4E-FF0C-3CD54F065F5A}"/>
              </a:ext>
            </a:extLst>
          </p:cNvPr>
          <p:cNvSpPr/>
          <p:nvPr/>
        </p:nvSpPr>
        <p:spPr>
          <a:xfrm>
            <a:off x="3492500" y="1778000"/>
            <a:ext cx="2540000" cy="1905000"/>
          </a:xfrm>
          <a:prstGeom prst="roundRect">
            <a:avLst>
              <a:gd name="adj" fmla="val 15000"/>
            </a:avLst>
          </a:prstGeom>
          <a:solidFill>
            <a:srgbClr val="FFFFFF"/>
          </a:solidFill>
          <a:ln w="31750">
            <a:solidFill>
              <a:srgbClr val="8888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6AC36B0-9F8A-7469-24B3-21FD018F4619}"/>
              </a:ext>
            </a:extLst>
          </p:cNvPr>
          <p:cNvSpPr txBox="1"/>
          <p:nvPr/>
        </p:nvSpPr>
        <p:spPr>
          <a:xfrm>
            <a:off x="3492500" y="2095500"/>
            <a:ext cx="2540000" cy="307777"/>
          </a:xfrm>
          <a:prstGeom prst="rect">
            <a:avLst/>
          </a:prstGeom>
          <a:noFill/>
        </p:spPr>
        <p:txBody>
          <a:bodyPr vert="horz" wrap="square" lIns="0" tIns="0" rIns="0" bIns="0" rtlCol="0">
            <a:spAutoFit/>
          </a:bodyPr>
          <a:lstStyle/>
          <a:p>
            <a:r>
              <a:rPr lang="en-US" sz="2000" b="1">
                <a:solidFill>
                  <a:srgbClr val="888888"/>
                </a:solidFill>
                <a:latin typeface="Segoe UI" panose="020B0502040204020203" pitchFamily="34" charset="0"/>
              </a:rPr>
              <a:t>Silver</a:t>
            </a:r>
          </a:p>
        </p:txBody>
      </p:sp>
      <p:sp>
        <p:nvSpPr>
          <p:cNvPr id="12" name="TextBox 11">
            <a:extLst>
              <a:ext uri="{FF2B5EF4-FFF2-40B4-BE49-F238E27FC236}">
                <a16:creationId xmlns:a16="http://schemas.microsoft.com/office/drawing/2014/main" id="{B3850CB7-EF4A-E806-14AB-340918B31C1F}"/>
              </a:ext>
            </a:extLst>
          </p:cNvPr>
          <p:cNvSpPr txBox="1"/>
          <p:nvPr/>
        </p:nvSpPr>
        <p:spPr>
          <a:xfrm>
            <a:off x="3619500" y="2667000"/>
            <a:ext cx="2286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Cleansed, conformed</a:t>
            </a:r>
          </a:p>
        </p:txBody>
      </p:sp>
      <p:cxnSp>
        <p:nvCxnSpPr>
          <p:cNvPr id="13" name="Straight Connector 12">
            <a:extLst>
              <a:ext uri="{FF2B5EF4-FFF2-40B4-BE49-F238E27FC236}">
                <a16:creationId xmlns:a16="http://schemas.microsoft.com/office/drawing/2014/main" id="{2A75D7F9-B657-B7DE-DA0F-B944EFC3C300}"/>
              </a:ext>
            </a:extLst>
          </p:cNvPr>
          <p:cNvCxnSpPr/>
          <p:nvPr/>
        </p:nvCxnSpPr>
        <p:spPr>
          <a:xfrm>
            <a:off x="6057900" y="2730500"/>
            <a:ext cx="139700" cy="0"/>
          </a:xfrm>
          <a:prstGeom prst="line">
            <a:avLst/>
          </a:prstGeom>
          <a:ln w="25400">
            <a:solidFill>
              <a:srgbClr val="222222"/>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37FF3B5C-ACA9-BCE5-7601-DEAAB214E9E8}"/>
              </a:ext>
            </a:extLst>
          </p:cNvPr>
          <p:cNvSpPr/>
          <p:nvPr/>
        </p:nvSpPr>
        <p:spPr>
          <a:xfrm>
            <a:off x="6223000" y="1778000"/>
            <a:ext cx="2540000" cy="1905000"/>
          </a:xfrm>
          <a:prstGeom prst="roundRect">
            <a:avLst>
              <a:gd name="adj" fmla="val 15000"/>
            </a:avLst>
          </a:prstGeom>
          <a:solidFill>
            <a:srgbClr val="FFFFFF"/>
          </a:solidFill>
          <a:ln w="31750">
            <a:solidFill>
              <a:srgbClr val="4C9E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A0FD95D-C8AE-005A-752E-9B6BA08F6671}"/>
              </a:ext>
            </a:extLst>
          </p:cNvPr>
          <p:cNvSpPr txBox="1"/>
          <p:nvPr/>
        </p:nvSpPr>
        <p:spPr>
          <a:xfrm>
            <a:off x="6223000" y="2095500"/>
            <a:ext cx="2540000" cy="307777"/>
          </a:xfrm>
          <a:prstGeom prst="rect">
            <a:avLst/>
          </a:prstGeom>
          <a:noFill/>
        </p:spPr>
        <p:txBody>
          <a:bodyPr vert="horz" wrap="square" lIns="0" tIns="0" rIns="0" bIns="0" rtlCol="0">
            <a:spAutoFit/>
          </a:bodyPr>
          <a:lstStyle/>
          <a:p>
            <a:r>
              <a:rPr lang="en-US" sz="2000" b="1">
                <a:solidFill>
                  <a:srgbClr val="4C9E45"/>
                </a:solidFill>
                <a:latin typeface="Segoe UI" panose="020B0502040204020203" pitchFamily="34" charset="0"/>
              </a:rPr>
              <a:t>Gold</a:t>
            </a:r>
          </a:p>
        </p:txBody>
      </p:sp>
      <p:sp>
        <p:nvSpPr>
          <p:cNvPr id="16" name="TextBox 15">
            <a:extLst>
              <a:ext uri="{FF2B5EF4-FFF2-40B4-BE49-F238E27FC236}">
                <a16:creationId xmlns:a16="http://schemas.microsoft.com/office/drawing/2014/main" id="{93A90495-DFE9-7501-52BA-03896604123B}"/>
              </a:ext>
            </a:extLst>
          </p:cNvPr>
          <p:cNvSpPr txBox="1"/>
          <p:nvPr/>
        </p:nvSpPr>
        <p:spPr>
          <a:xfrm>
            <a:off x="6350000" y="2667000"/>
            <a:ext cx="2286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Star schema on SQL Server 2022</a:t>
            </a:r>
          </a:p>
        </p:txBody>
      </p:sp>
      <p:cxnSp>
        <p:nvCxnSpPr>
          <p:cNvPr id="17" name="Straight Connector 16">
            <a:extLst>
              <a:ext uri="{FF2B5EF4-FFF2-40B4-BE49-F238E27FC236}">
                <a16:creationId xmlns:a16="http://schemas.microsoft.com/office/drawing/2014/main" id="{DECC2B1B-FA6A-A23E-4CD4-747D38B2F602}"/>
              </a:ext>
            </a:extLst>
          </p:cNvPr>
          <p:cNvCxnSpPr/>
          <p:nvPr/>
        </p:nvCxnSpPr>
        <p:spPr>
          <a:xfrm>
            <a:off x="8788400" y="2730500"/>
            <a:ext cx="139700" cy="0"/>
          </a:xfrm>
          <a:prstGeom prst="line">
            <a:avLst/>
          </a:prstGeom>
          <a:ln w="25400">
            <a:solidFill>
              <a:srgbClr val="222222"/>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3FB3BE89-6C86-6996-6631-675AC8AD5BAB}"/>
              </a:ext>
            </a:extLst>
          </p:cNvPr>
          <p:cNvSpPr/>
          <p:nvPr/>
        </p:nvSpPr>
        <p:spPr>
          <a:xfrm>
            <a:off x="8953500" y="1778000"/>
            <a:ext cx="2540000" cy="1905000"/>
          </a:xfrm>
          <a:prstGeom prst="roundRect">
            <a:avLst>
              <a:gd name="adj" fmla="val 15000"/>
            </a:avLst>
          </a:prstGeom>
          <a:solidFill>
            <a:srgbClr val="FFFFFF"/>
          </a:solidFill>
          <a:ln w="31750">
            <a:solidFill>
              <a:srgbClr val="F68D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FB05ACD-3A9C-3153-118B-89AC980ABCB3}"/>
              </a:ext>
            </a:extLst>
          </p:cNvPr>
          <p:cNvSpPr txBox="1"/>
          <p:nvPr/>
        </p:nvSpPr>
        <p:spPr>
          <a:xfrm>
            <a:off x="8953500" y="2095500"/>
            <a:ext cx="2540000" cy="307777"/>
          </a:xfrm>
          <a:prstGeom prst="rect">
            <a:avLst/>
          </a:prstGeom>
          <a:noFill/>
        </p:spPr>
        <p:txBody>
          <a:bodyPr vert="horz" wrap="square" lIns="0" tIns="0" rIns="0" bIns="0" rtlCol="0">
            <a:spAutoFit/>
          </a:bodyPr>
          <a:lstStyle/>
          <a:p>
            <a:r>
              <a:rPr lang="en-US" sz="2000" b="1">
                <a:solidFill>
                  <a:srgbClr val="F68D2D"/>
                </a:solidFill>
                <a:latin typeface="Segoe UI" panose="020B0502040204020203" pitchFamily="34" charset="0"/>
              </a:rPr>
              <a:t>Platinum</a:t>
            </a:r>
          </a:p>
        </p:txBody>
      </p:sp>
      <p:sp>
        <p:nvSpPr>
          <p:cNvPr id="20" name="TextBox 19">
            <a:extLst>
              <a:ext uri="{FF2B5EF4-FFF2-40B4-BE49-F238E27FC236}">
                <a16:creationId xmlns:a16="http://schemas.microsoft.com/office/drawing/2014/main" id="{F57BB9A9-3AE2-F50A-EC87-E6C8D1556FE3}"/>
              </a:ext>
            </a:extLst>
          </p:cNvPr>
          <p:cNvSpPr txBox="1"/>
          <p:nvPr/>
        </p:nvSpPr>
        <p:spPr>
          <a:xfrm>
            <a:off x="9080500" y="2667000"/>
            <a:ext cx="2286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SSAS OLAP cubes</a:t>
            </a:r>
          </a:p>
        </p:txBody>
      </p:sp>
      <p:sp>
        <p:nvSpPr>
          <p:cNvPr id="21" name="TextBox 20">
            <a:extLst>
              <a:ext uri="{FF2B5EF4-FFF2-40B4-BE49-F238E27FC236}">
                <a16:creationId xmlns:a16="http://schemas.microsoft.com/office/drawing/2014/main" id="{99569BBD-63B2-FADF-0ACD-628F6ABFA5AB}"/>
              </a:ext>
            </a:extLst>
          </p:cNvPr>
          <p:cNvSpPr txBox="1"/>
          <p:nvPr/>
        </p:nvSpPr>
        <p:spPr>
          <a:xfrm>
            <a:off x="762000" y="4064000"/>
            <a:ext cx="10668000" cy="215444"/>
          </a:xfrm>
          <a:prstGeom prst="rect">
            <a:avLst/>
          </a:prstGeom>
          <a:noFill/>
        </p:spPr>
        <p:txBody>
          <a:bodyPr vert="horz" wrap="square" lIns="0" tIns="0" rIns="0" bIns="0" rtlCol="0">
            <a:spAutoFit/>
          </a:bodyPr>
          <a:lstStyle/>
          <a:p>
            <a:r>
              <a:rPr lang="en-US" sz="1400" b="1">
                <a:solidFill>
                  <a:srgbClr val="222222"/>
                </a:solidFill>
                <a:latin typeface="Segoe UI" panose="020B0502040204020203" pitchFamily="34" charset="0"/>
              </a:rPr>
              <a:t>Consumers</a:t>
            </a:r>
          </a:p>
        </p:txBody>
      </p:sp>
      <p:sp>
        <p:nvSpPr>
          <p:cNvPr id="22" name="Rectangle 21">
            <a:extLst>
              <a:ext uri="{FF2B5EF4-FFF2-40B4-BE49-F238E27FC236}">
                <a16:creationId xmlns:a16="http://schemas.microsoft.com/office/drawing/2014/main" id="{DCACAA1C-1305-DA42-0746-AD127EF52901}"/>
              </a:ext>
            </a:extLst>
          </p:cNvPr>
          <p:cNvSpPr/>
          <p:nvPr/>
        </p:nvSpPr>
        <p:spPr>
          <a:xfrm>
            <a:off x="762000" y="4381500"/>
            <a:ext cx="10668000" cy="12700"/>
          </a:xfrm>
          <a:prstGeom prst="rect">
            <a:avLst/>
          </a:prstGeom>
          <a:solidFill>
            <a:srgbClr val="88888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AFE1B43-458F-C6CC-78B2-24BCBC97C1AD}"/>
              </a:ext>
            </a:extLst>
          </p:cNvPr>
          <p:cNvSpPr txBox="1"/>
          <p:nvPr/>
        </p:nvSpPr>
        <p:spPr>
          <a:xfrm>
            <a:off x="762000" y="4508500"/>
            <a:ext cx="10668000" cy="215444"/>
          </a:xfrm>
          <a:prstGeom prst="rect">
            <a:avLst/>
          </a:prstGeom>
          <a:noFill/>
        </p:spPr>
        <p:txBody>
          <a:bodyPr vert="horz" wrap="square" lIns="0" tIns="0" rIns="0" bIns="0" rtlCol="0">
            <a:spAutoFit/>
          </a:bodyPr>
          <a:lstStyle/>
          <a:p>
            <a:r>
              <a:rPr lang="en-US" sz="1400">
                <a:solidFill>
                  <a:srgbClr val="666666"/>
                </a:solidFill>
                <a:latin typeface="Segoe UI" panose="020B0502040204020203" pitchFamily="34" charset="0"/>
              </a:rPr>
              <a:t>Power BI  •  Excel  •  SSMS ad-hoc  •  Tickets to the EDW team</a:t>
            </a:r>
          </a:p>
        </p:txBody>
      </p:sp>
      <p:sp>
        <p:nvSpPr>
          <p:cNvPr id="24" name="TextBox 23">
            <a:extLst>
              <a:ext uri="{FF2B5EF4-FFF2-40B4-BE49-F238E27FC236}">
                <a16:creationId xmlns:a16="http://schemas.microsoft.com/office/drawing/2014/main" id="{1D2780AC-0D68-6718-AC87-0D81540A806E}"/>
              </a:ext>
            </a:extLst>
          </p:cNvPr>
          <p:cNvSpPr txBox="1"/>
          <p:nvPr/>
        </p:nvSpPr>
        <p:spPr>
          <a:xfrm>
            <a:off x="762000" y="5207000"/>
            <a:ext cx="10668000" cy="215444"/>
          </a:xfrm>
          <a:prstGeom prst="rect">
            <a:avLst/>
          </a:prstGeom>
          <a:noFill/>
        </p:spPr>
        <p:txBody>
          <a:bodyPr vert="horz" wrap="square" lIns="0" tIns="0" rIns="0" bIns="0" rtlCol="0">
            <a:spAutoFit/>
          </a:bodyPr>
          <a:lstStyle/>
          <a:p>
            <a:r>
              <a:rPr lang="en-US" sz="1400" b="1">
                <a:solidFill>
                  <a:srgbClr val="E32526"/>
                </a:solidFill>
                <a:latin typeface="Segoe UI" panose="020B0502040204020203" pitchFamily="34" charset="0"/>
              </a:rPr>
              <a:t>What is not in this picture</a:t>
            </a:r>
          </a:p>
        </p:txBody>
      </p:sp>
      <p:sp>
        <p:nvSpPr>
          <p:cNvPr id="25" name="Rectangle 24">
            <a:extLst>
              <a:ext uri="{FF2B5EF4-FFF2-40B4-BE49-F238E27FC236}">
                <a16:creationId xmlns:a16="http://schemas.microsoft.com/office/drawing/2014/main" id="{D77980A4-C3C3-5BB9-A766-D8C1A11206F1}"/>
              </a:ext>
            </a:extLst>
          </p:cNvPr>
          <p:cNvSpPr/>
          <p:nvPr/>
        </p:nvSpPr>
        <p:spPr>
          <a:xfrm>
            <a:off x="762000" y="5524500"/>
            <a:ext cx="10668000" cy="127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EBE1C38-A5F6-36AE-3562-5FC33BE4ADEF}"/>
              </a:ext>
            </a:extLst>
          </p:cNvPr>
          <p:cNvSpPr txBox="1"/>
          <p:nvPr/>
        </p:nvSpPr>
        <p:spPr>
          <a:xfrm>
            <a:off x="762000" y="5651500"/>
            <a:ext cx="10668000" cy="215444"/>
          </a:xfrm>
          <a:prstGeom prst="rect">
            <a:avLst/>
          </a:prstGeom>
          <a:noFill/>
        </p:spPr>
        <p:txBody>
          <a:bodyPr vert="horz" wrap="square" lIns="0" tIns="0" rIns="0" bIns="0" rtlCol="0">
            <a:spAutoFit/>
          </a:bodyPr>
          <a:lstStyle/>
          <a:p>
            <a:r>
              <a:rPr lang="en-US" sz="1400">
                <a:solidFill>
                  <a:srgbClr val="222222"/>
                </a:solidFill>
                <a:latin typeface="Segoe UI" panose="020B0502040204020203" pitchFamily="34" charset="0"/>
              </a:rPr>
              <a:t>A way for someone to ask a question in plain English and get an answer.</a:t>
            </a:r>
          </a:p>
        </p:txBody>
      </p:sp>
      <p:sp>
        <p:nvSpPr>
          <p:cNvPr id="27" name="TextBox 26">
            <a:extLst>
              <a:ext uri="{FF2B5EF4-FFF2-40B4-BE49-F238E27FC236}">
                <a16:creationId xmlns:a16="http://schemas.microsoft.com/office/drawing/2014/main" id="{DFD3382B-F298-37E8-8243-05303469D30B}"/>
              </a:ext>
            </a:extLst>
          </p:cNvPr>
          <p:cNvSpPr txBox="1"/>
          <p:nvPr/>
        </p:nvSpPr>
        <p:spPr>
          <a:xfrm>
            <a:off x="762000" y="5969000"/>
            <a:ext cx="10668000" cy="215444"/>
          </a:xfrm>
          <a:prstGeom prst="rect">
            <a:avLst/>
          </a:prstGeom>
          <a:noFill/>
        </p:spPr>
        <p:txBody>
          <a:bodyPr vert="horz" wrap="square" lIns="0" tIns="0" rIns="0" bIns="0" rtlCol="0">
            <a:spAutoFit/>
          </a:bodyPr>
          <a:lstStyle/>
          <a:p>
            <a:r>
              <a:rPr lang="en-US" sz="1400">
                <a:solidFill>
                  <a:srgbClr val="666666"/>
                </a:solidFill>
                <a:latin typeface="Segoe UI" panose="020B0502040204020203" pitchFamily="34" charset="0"/>
              </a:rPr>
              <a:t>Every path to the data still requires SQL, DAX, or a filed ticket.</a:t>
            </a:r>
          </a:p>
        </p:txBody>
      </p:sp>
      <p:sp>
        <p:nvSpPr>
          <p:cNvPr id="28" name="Rectangle 27">
            <a:extLst>
              <a:ext uri="{FF2B5EF4-FFF2-40B4-BE49-F238E27FC236}">
                <a16:creationId xmlns:a16="http://schemas.microsoft.com/office/drawing/2014/main" id="{87129258-1C2C-E8B5-8AB5-088F559314AB}"/>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13BDDDB-AAAB-5385-3EAB-7600DFF06C34}"/>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30" name="TextBox 29">
            <a:extLst>
              <a:ext uri="{FF2B5EF4-FFF2-40B4-BE49-F238E27FC236}">
                <a16:creationId xmlns:a16="http://schemas.microsoft.com/office/drawing/2014/main" id="{39ABA678-C050-3CFD-409E-0AAEB6D90512}"/>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4 / 14</a:t>
            </a:r>
          </a:p>
        </p:txBody>
      </p:sp>
    </p:spTree>
    <p:extLst>
      <p:ext uri="{BB962C8B-B14F-4D97-AF65-F5344CB8AC3E}">
        <p14:creationId xmlns:p14="http://schemas.microsoft.com/office/powerpoint/2010/main" val="2446521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9973F6-8FEA-4CAF-8DC9-BAEC459F4296}"/>
              </a:ext>
            </a:extLst>
          </p:cNvPr>
          <p:cNvSpPr/>
          <p:nvPr/>
        </p:nvSpPr>
        <p:spPr>
          <a:xfrm>
            <a:off x="0" y="0"/>
            <a:ext cx="12192000" cy="76200"/>
          </a:xfrm>
          <a:prstGeom prst="rect">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E5C5E68-997F-BAD3-1EAB-C11EA21F2B84}"/>
              </a:ext>
            </a:extLst>
          </p:cNvPr>
          <p:cNvSpPr txBox="1"/>
          <p:nvPr/>
        </p:nvSpPr>
        <p:spPr>
          <a:xfrm>
            <a:off x="508000" y="381000"/>
            <a:ext cx="11176000" cy="369332"/>
          </a:xfrm>
          <a:prstGeom prst="rect">
            <a:avLst/>
          </a:prstGeom>
          <a:noFill/>
        </p:spPr>
        <p:txBody>
          <a:bodyPr vert="horz" wrap="square" lIns="0" tIns="0" rIns="0" bIns="0" rtlCol="0">
            <a:spAutoFit/>
          </a:bodyPr>
          <a:lstStyle/>
          <a:p>
            <a:r>
              <a:rPr lang="en-US" sz="2400" b="1">
                <a:solidFill>
                  <a:srgbClr val="222222"/>
                </a:solidFill>
                <a:latin typeface="Segoe UI" panose="020B0502040204020203" pitchFamily="34" charset="0"/>
              </a:rPr>
              <a:t>The vision  -  Gold and Platinum in Microsoft Fabric</a:t>
            </a:r>
          </a:p>
        </p:txBody>
      </p:sp>
      <p:sp>
        <p:nvSpPr>
          <p:cNvPr id="4" name="Rectangle 3">
            <a:extLst>
              <a:ext uri="{FF2B5EF4-FFF2-40B4-BE49-F238E27FC236}">
                <a16:creationId xmlns:a16="http://schemas.microsoft.com/office/drawing/2014/main" id="{9A7ECB09-41BC-7ADF-7F50-A3462D461972}"/>
              </a:ext>
            </a:extLst>
          </p:cNvPr>
          <p:cNvSpPr/>
          <p:nvPr/>
        </p:nvSpPr>
        <p:spPr>
          <a:xfrm>
            <a:off x="508000" y="914400"/>
            <a:ext cx="1016000" cy="38100"/>
          </a:xfrm>
          <a:prstGeom prst="rect">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504355F-3BA7-1AED-ABBB-22533B1D37DC}"/>
              </a:ext>
            </a:extLst>
          </p:cNvPr>
          <p:cNvSpPr txBox="1"/>
          <p:nvPr/>
        </p:nvSpPr>
        <p:spPr>
          <a:xfrm>
            <a:off x="508000" y="990600"/>
            <a:ext cx="11176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The plan getting the most attention today: lift Gold and Platinum into Fabric; Power BI connects natively.</a:t>
            </a:r>
          </a:p>
        </p:txBody>
      </p:sp>
      <p:pic>
        <p:nvPicPr>
          <p:cNvPr id="7" name="Graphic 6">
            <a:extLst>
              <a:ext uri="{FF2B5EF4-FFF2-40B4-BE49-F238E27FC236}">
                <a16:creationId xmlns:a16="http://schemas.microsoft.com/office/drawing/2014/main" id="{65F0CE20-5BEF-1492-0357-48A4A92CF73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8000" y="1397000"/>
            <a:ext cx="11176000" cy="4953000"/>
          </a:xfrm>
          <a:prstGeom prst="rect">
            <a:avLst/>
          </a:prstGeom>
        </p:spPr>
      </p:pic>
      <p:sp>
        <p:nvSpPr>
          <p:cNvPr id="8" name="Rectangle 7">
            <a:extLst>
              <a:ext uri="{FF2B5EF4-FFF2-40B4-BE49-F238E27FC236}">
                <a16:creationId xmlns:a16="http://schemas.microsoft.com/office/drawing/2014/main" id="{18A3D577-63C7-2C2D-ED02-B4584BD3F22D}"/>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0BFDF7C-F96E-ADBE-4E38-54BB750064F8}"/>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10" name="TextBox 9">
            <a:extLst>
              <a:ext uri="{FF2B5EF4-FFF2-40B4-BE49-F238E27FC236}">
                <a16:creationId xmlns:a16="http://schemas.microsoft.com/office/drawing/2014/main" id="{1A02AFB5-D5F6-CC29-41B9-CB91205A400B}"/>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5 / 14</a:t>
            </a:r>
          </a:p>
        </p:txBody>
      </p:sp>
    </p:spTree>
    <p:extLst>
      <p:ext uri="{BB962C8B-B14F-4D97-AF65-F5344CB8AC3E}">
        <p14:creationId xmlns:p14="http://schemas.microsoft.com/office/powerpoint/2010/main" val="570910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D43FBB-08B4-64AB-EDD9-6235355DB567}"/>
              </a:ext>
            </a:extLst>
          </p:cNvPr>
          <p:cNvSpPr/>
          <p:nvPr/>
        </p:nvSpPr>
        <p:spPr>
          <a:xfrm>
            <a:off x="0" y="0"/>
            <a:ext cx="12192000" cy="76200"/>
          </a:xfrm>
          <a:prstGeom prst="rect">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88CF88-2FAB-B653-3D9B-7BC500CAFD69}"/>
              </a:ext>
            </a:extLst>
          </p:cNvPr>
          <p:cNvSpPr txBox="1"/>
          <p:nvPr/>
        </p:nvSpPr>
        <p:spPr>
          <a:xfrm>
            <a:off x="508000" y="381000"/>
            <a:ext cx="11176000" cy="369332"/>
          </a:xfrm>
          <a:prstGeom prst="rect">
            <a:avLst/>
          </a:prstGeom>
          <a:noFill/>
        </p:spPr>
        <p:txBody>
          <a:bodyPr vert="horz" wrap="square" lIns="0" tIns="0" rIns="0" bIns="0" rtlCol="0">
            <a:spAutoFit/>
          </a:bodyPr>
          <a:lstStyle/>
          <a:p>
            <a:r>
              <a:rPr lang="en-US" sz="2400" b="1">
                <a:solidFill>
                  <a:srgbClr val="222222"/>
                </a:solidFill>
                <a:latin typeface="Segoe UI" panose="020B0502040204020203" pitchFamily="34" charset="0"/>
              </a:rPr>
              <a:t>Why Fabric  -  and why it is a hard sell</a:t>
            </a:r>
          </a:p>
        </p:txBody>
      </p:sp>
      <p:sp>
        <p:nvSpPr>
          <p:cNvPr id="4" name="Rectangle 3">
            <a:extLst>
              <a:ext uri="{FF2B5EF4-FFF2-40B4-BE49-F238E27FC236}">
                <a16:creationId xmlns:a16="http://schemas.microsoft.com/office/drawing/2014/main" id="{B480CAF5-08FE-8B91-089D-627B60DE95E4}"/>
              </a:ext>
            </a:extLst>
          </p:cNvPr>
          <p:cNvSpPr/>
          <p:nvPr/>
        </p:nvSpPr>
        <p:spPr>
          <a:xfrm>
            <a:off x="508000" y="914400"/>
            <a:ext cx="1016000" cy="38100"/>
          </a:xfrm>
          <a:prstGeom prst="rect">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DFD9A36-53E9-4ABC-FB7E-B18ECF887772}"/>
              </a:ext>
            </a:extLst>
          </p:cNvPr>
          <p:cNvSpPr txBox="1"/>
          <p:nvPr/>
        </p:nvSpPr>
        <p:spPr>
          <a:xfrm>
            <a:off x="762000" y="1397000"/>
            <a:ext cx="5334000" cy="246221"/>
          </a:xfrm>
          <a:prstGeom prst="rect">
            <a:avLst/>
          </a:prstGeom>
          <a:noFill/>
        </p:spPr>
        <p:txBody>
          <a:bodyPr vert="horz" wrap="square" lIns="0" tIns="0" rIns="0" bIns="0" rtlCol="0">
            <a:spAutoFit/>
          </a:bodyPr>
          <a:lstStyle/>
          <a:p>
            <a:r>
              <a:rPr lang="en-US" sz="1600" b="1">
                <a:solidFill>
                  <a:srgbClr val="4C9E45"/>
                </a:solidFill>
                <a:latin typeface="Segoe UI" panose="020B0502040204020203" pitchFamily="34" charset="0"/>
              </a:rPr>
              <a:t>What Fabric buys us</a:t>
            </a:r>
          </a:p>
        </p:txBody>
      </p:sp>
      <p:sp>
        <p:nvSpPr>
          <p:cNvPr id="6" name="TextBox 5">
            <a:extLst>
              <a:ext uri="{FF2B5EF4-FFF2-40B4-BE49-F238E27FC236}">
                <a16:creationId xmlns:a16="http://schemas.microsoft.com/office/drawing/2014/main" id="{C0D241B4-4197-C668-AAAB-0881652E4F6F}"/>
              </a:ext>
            </a:extLst>
          </p:cNvPr>
          <p:cNvSpPr txBox="1"/>
          <p:nvPr/>
        </p:nvSpPr>
        <p:spPr>
          <a:xfrm>
            <a:off x="762000" y="1778000"/>
            <a:ext cx="254000" cy="215444"/>
          </a:xfrm>
          <a:prstGeom prst="rect">
            <a:avLst/>
          </a:prstGeom>
          <a:noFill/>
        </p:spPr>
        <p:txBody>
          <a:bodyPr vert="horz" wrap="square" lIns="0" tIns="0" rIns="0" bIns="0" rtlCol="0">
            <a:spAutoFit/>
          </a:bodyPr>
          <a:lstStyle/>
          <a:p>
            <a:r>
              <a:rPr lang="en-US" sz="1400" b="1">
                <a:solidFill>
                  <a:srgbClr val="4C9E45"/>
                </a:solidFill>
                <a:latin typeface="Segoe UI" panose="020B0502040204020203" pitchFamily="34" charset="0"/>
              </a:rPr>
              <a:t>•</a:t>
            </a:r>
          </a:p>
        </p:txBody>
      </p:sp>
      <p:sp>
        <p:nvSpPr>
          <p:cNvPr id="7" name="TextBox 6">
            <a:extLst>
              <a:ext uri="{FF2B5EF4-FFF2-40B4-BE49-F238E27FC236}">
                <a16:creationId xmlns:a16="http://schemas.microsoft.com/office/drawing/2014/main" id="{012B2E35-ED35-E89F-E0F6-FAC3DAEAD601}"/>
              </a:ext>
            </a:extLst>
          </p:cNvPr>
          <p:cNvSpPr txBox="1"/>
          <p:nvPr/>
        </p:nvSpPr>
        <p:spPr>
          <a:xfrm>
            <a:off x="1016000" y="1778000"/>
            <a:ext cx="5080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OneLake  -  one governed copy of data, no duplication</a:t>
            </a:r>
          </a:p>
        </p:txBody>
      </p:sp>
      <p:sp>
        <p:nvSpPr>
          <p:cNvPr id="8" name="TextBox 7">
            <a:extLst>
              <a:ext uri="{FF2B5EF4-FFF2-40B4-BE49-F238E27FC236}">
                <a16:creationId xmlns:a16="http://schemas.microsoft.com/office/drawing/2014/main" id="{FBF8E0E8-EF37-1CA0-F491-4AFCF53BCD06}"/>
              </a:ext>
            </a:extLst>
          </p:cNvPr>
          <p:cNvSpPr txBox="1"/>
          <p:nvPr/>
        </p:nvSpPr>
        <p:spPr>
          <a:xfrm>
            <a:off x="762000" y="2159000"/>
            <a:ext cx="254000" cy="215444"/>
          </a:xfrm>
          <a:prstGeom prst="rect">
            <a:avLst/>
          </a:prstGeom>
          <a:noFill/>
        </p:spPr>
        <p:txBody>
          <a:bodyPr vert="horz" wrap="square" lIns="0" tIns="0" rIns="0" bIns="0" rtlCol="0">
            <a:spAutoFit/>
          </a:bodyPr>
          <a:lstStyle/>
          <a:p>
            <a:r>
              <a:rPr lang="en-US" sz="1400" b="1">
                <a:solidFill>
                  <a:srgbClr val="4C9E45"/>
                </a:solidFill>
                <a:latin typeface="Segoe UI" panose="020B0502040204020203" pitchFamily="34" charset="0"/>
              </a:rPr>
              <a:t>•</a:t>
            </a:r>
          </a:p>
        </p:txBody>
      </p:sp>
      <p:sp>
        <p:nvSpPr>
          <p:cNvPr id="9" name="TextBox 8">
            <a:extLst>
              <a:ext uri="{FF2B5EF4-FFF2-40B4-BE49-F238E27FC236}">
                <a16:creationId xmlns:a16="http://schemas.microsoft.com/office/drawing/2014/main" id="{D6534392-FC55-4154-1B82-851DA8638F1F}"/>
              </a:ext>
            </a:extLst>
          </p:cNvPr>
          <p:cNvSpPr txBox="1"/>
          <p:nvPr/>
        </p:nvSpPr>
        <p:spPr>
          <a:xfrm>
            <a:off x="1016000" y="2159000"/>
            <a:ext cx="5080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Direct Lake  -  Power BI without import lag or refresh windows</a:t>
            </a:r>
          </a:p>
        </p:txBody>
      </p:sp>
      <p:sp>
        <p:nvSpPr>
          <p:cNvPr id="10" name="TextBox 9">
            <a:extLst>
              <a:ext uri="{FF2B5EF4-FFF2-40B4-BE49-F238E27FC236}">
                <a16:creationId xmlns:a16="http://schemas.microsoft.com/office/drawing/2014/main" id="{AD54FAD5-35A9-FF80-F70E-FB5590EBD2F9}"/>
              </a:ext>
            </a:extLst>
          </p:cNvPr>
          <p:cNvSpPr txBox="1"/>
          <p:nvPr/>
        </p:nvSpPr>
        <p:spPr>
          <a:xfrm>
            <a:off x="762000" y="2540000"/>
            <a:ext cx="254000" cy="215444"/>
          </a:xfrm>
          <a:prstGeom prst="rect">
            <a:avLst/>
          </a:prstGeom>
          <a:noFill/>
        </p:spPr>
        <p:txBody>
          <a:bodyPr vert="horz" wrap="square" lIns="0" tIns="0" rIns="0" bIns="0" rtlCol="0">
            <a:spAutoFit/>
          </a:bodyPr>
          <a:lstStyle/>
          <a:p>
            <a:r>
              <a:rPr lang="en-US" sz="1400" b="1">
                <a:solidFill>
                  <a:srgbClr val="4C9E45"/>
                </a:solidFill>
                <a:latin typeface="Segoe UI" panose="020B0502040204020203" pitchFamily="34" charset="0"/>
              </a:rPr>
              <a:t>•</a:t>
            </a:r>
          </a:p>
        </p:txBody>
      </p:sp>
      <p:sp>
        <p:nvSpPr>
          <p:cNvPr id="11" name="TextBox 10">
            <a:extLst>
              <a:ext uri="{FF2B5EF4-FFF2-40B4-BE49-F238E27FC236}">
                <a16:creationId xmlns:a16="http://schemas.microsoft.com/office/drawing/2014/main" id="{0B0B7D79-8C8C-7E75-D4EF-3CF4D1C57A1A}"/>
              </a:ext>
            </a:extLst>
          </p:cNvPr>
          <p:cNvSpPr txBox="1"/>
          <p:nvPr/>
        </p:nvSpPr>
        <p:spPr>
          <a:xfrm>
            <a:off x="1016000" y="2540000"/>
            <a:ext cx="5080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Built-in governance via Purview and Entra ID</a:t>
            </a:r>
          </a:p>
        </p:txBody>
      </p:sp>
      <p:sp>
        <p:nvSpPr>
          <p:cNvPr id="12" name="TextBox 11">
            <a:extLst>
              <a:ext uri="{FF2B5EF4-FFF2-40B4-BE49-F238E27FC236}">
                <a16:creationId xmlns:a16="http://schemas.microsoft.com/office/drawing/2014/main" id="{41CC7B79-57CB-A29C-9839-07CA4461B31B}"/>
              </a:ext>
            </a:extLst>
          </p:cNvPr>
          <p:cNvSpPr txBox="1"/>
          <p:nvPr/>
        </p:nvSpPr>
        <p:spPr>
          <a:xfrm>
            <a:off x="762000" y="2921000"/>
            <a:ext cx="254000" cy="215444"/>
          </a:xfrm>
          <a:prstGeom prst="rect">
            <a:avLst/>
          </a:prstGeom>
          <a:noFill/>
        </p:spPr>
        <p:txBody>
          <a:bodyPr vert="horz" wrap="square" lIns="0" tIns="0" rIns="0" bIns="0" rtlCol="0">
            <a:spAutoFit/>
          </a:bodyPr>
          <a:lstStyle/>
          <a:p>
            <a:r>
              <a:rPr lang="en-US" sz="1400" b="1">
                <a:solidFill>
                  <a:srgbClr val="4C9E45"/>
                </a:solidFill>
                <a:latin typeface="Segoe UI" panose="020B0502040204020203" pitchFamily="34" charset="0"/>
              </a:rPr>
              <a:t>•</a:t>
            </a:r>
          </a:p>
        </p:txBody>
      </p:sp>
      <p:sp>
        <p:nvSpPr>
          <p:cNvPr id="13" name="TextBox 12">
            <a:extLst>
              <a:ext uri="{FF2B5EF4-FFF2-40B4-BE49-F238E27FC236}">
                <a16:creationId xmlns:a16="http://schemas.microsoft.com/office/drawing/2014/main" id="{71C9FCEF-3EA0-A6D1-0E9C-CB8CFD402C91}"/>
              </a:ext>
            </a:extLst>
          </p:cNvPr>
          <p:cNvSpPr txBox="1"/>
          <p:nvPr/>
        </p:nvSpPr>
        <p:spPr>
          <a:xfrm>
            <a:off x="1016000" y="2921000"/>
            <a:ext cx="5080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Unlocks Fabric Data Agents + Azure OpenAI for free</a:t>
            </a:r>
          </a:p>
        </p:txBody>
      </p:sp>
      <p:sp>
        <p:nvSpPr>
          <p:cNvPr id="14" name="TextBox 13">
            <a:extLst>
              <a:ext uri="{FF2B5EF4-FFF2-40B4-BE49-F238E27FC236}">
                <a16:creationId xmlns:a16="http://schemas.microsoft.com/office/drawing/2014/main" id="{664A5636-2CB6-77E1-A226-2BFCD35F3E58}"/>
              </a:ext>
            </a:extLst>
          </p:cNvPr>
          <p:cNvSpPr txBox="1"/>
          <p:nvPr/>
        </p:nvSpPr>
        <p:spPr>
          <a:xfrm>
            <a:off x="762000" y="3302000"/>
            <a:ext cx="254000" cy="215444"/>
          </a:xfrm>
          <a:prstGeom prst="rect">
            <a:avLst/>
          </a:prstGeom>
          <a:noFill/>
        </p:spPr>
        <p:txBody>
          <a:bodyPr vert="horz" wrap="square" lIns="0" tIns="0" rIns="0" bIns="0" rtlCol="0">
            <a:spAutoFit/>
          </a:bodyPr>
          <a:lstStyle/>
          <a:p>
            <a:r>
              <a:rPr lang="en-US" sz="1400" b="1">
                <a:solidFill>
                  <a:srgbClr val="4C9E45"/>
                </a:solidFill>
                <a:latin typeface="Segoe UI" panose="020B0502040204020203" pitchFamily="34" charset="0"/>
              </a:rPr>
              <a:t>•</a:t>
            </a:r>
          </a:p>
        </p:txBody>
      </p:sp>
      <p:sp>
        <p:nvSpPr>
          <p:cNvPr id="15" name="TextBox 14">
            <a:extLst>
              <a:ext uri="{FF2B5EF4-FFF2-40B4-BE49-F238E27FC236}">
                <a16:creationId xmlns:a16="http://schemas.microsoft.com/office/drawing/2014/main" id="{6D09C686-092F-2747-7B30-8B0576935251}"/>
              </a:ext>
            </a:extLst>
          </p:cNvPr>
          <p:cNvSpPr txBox="1"/>
          <p:nvPr/>
        </p:nvSpPr>
        <p:spPr>
          <a:xfrm>
            <a:off x="1016000" y="3302000"/>
            <a:ext cx="5080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CI/CD through Fabric Git integration</a:t>
            </a:r>
          </a:p>
        </p:txBody>
      </p:sp>
      <p:sp>
        <p:nvSpPr>
          <p:cNvPr id="16" name="TextBox 15">
            <a:extLst>
              <a:ext uri="{FF2B5EF4-FFF2-40B4-BE49-F238E27FC236}">
                <a16:creationId xmlns:a16="http://schemas.microsoft.com/office/drawing/2014/main" id="{9F471F9F-5B03-AF32-75A4-A6537425EF5A}"/>
              </a:ext>
            </a:extLst>
          </p:cNvPr>
          <p:cNvSpPr txBox="1"/>
          <p:nvPr/>
        </p:nvSpPr>
        <p:spPr>
          <a:xfrm>
            <a:off x="6350000" y="1397000"/>
            <a:ext cx="5334000" cy="246221"/>
          </a:xfrm>
          <a:prstGeom prst="rect">
            <a:avLst/>
          </a:prstGeom>
          <a:noFill/>
        </p:spPr>
        <p:txBody>
          <a:bodyPr vert="horz" wrap="square" lIns="0" tIns="0" rIns="0" bIns="0" rtlCol="0">
            <a:spAutoFit/>
          </a:bodyPr>
          <a:lstStyle/>
          <a:p>
            <a:r>
              <a:rPr lang="en-US" sz="1600" b="1">
                <a:solidFill>
                  <a:srgbClr val="E32526"/>
                </a:solidFill>
                <a:latin typeface="Segoe UI" panose="020B0502040204020203" pitchFamily="34" charset="0"/>
              </a:rPr>
              <a:t>Why it is hard to sell</a:t>
            </a:r>
          </a:p>
        </p:txBody>
      </p:sp>
      <p:sp>
        <p:nvSpPr>
          <p:cNvPr id="17" name="TextBox 16">
            <a:extLst>
              <a:ext uri="{FF2B5EF4-FFF2-40B4-BE49-F238E27FC236}">
                <a16:creationId xmlns:a16="http://schemas.microsoft.com/office/drawing/2014/main" id="{5F300077-0C01-796A-5797-3E350B3F1901}"/>
              </a:ext>
            </a:extLst>
          </p:cNvPr>
          <p:cNvSpPr txBox="1"/>
          <p:nvPr/>
        </p:nvSpPr>
        <p:spPr>
          <a:xfrm>
            <a:off x="6350000" y="1778000"/>
            <a:ext cx="254000" cy="215444"/>
          </a:xfrm>
          <a:prstGeom prst="rect">
            <a:avLst/>
          </a:prstGeom>
          <a:noFill/>
        </p:spPr>
        <p:txBody>
          <a:bodyPr vert="horz" wrap="square" lIns="0" tIns="0" rIns="0" bIns="0" rtlCol="0">
            <a:spAutoFit/>
          </a:bodyPr>
          <a:lstStyle/>
          <a:p>
            <a:r>
              <a:rPr lang="en-US" sz="1400" b="1">
                <a:solidFill>
                  <a:srgbClr val="E32526"/>
                </a:solidFill>
                <a:latin typeface="Segoe UI" panose="020B0502040204020203" pitchFamily="34" charset="0"/>
              </a:rPr>
              <a:t>•</a:t>
            </a:r>
          </a:p>
        </p:txBody>
      </p:sp>
      <p:sp>
        <p:nvSpPr>
          <p:cNvPr id="18" name="TextBox 17">
            <a:extLst>
              <a:ext uri="{FF2B5EF4-FFF2-40B4-BE49-F238E27FC236}">
                <a16:creationId xmlns:a16="http://schemas.microsoft.com/office/drawing/2014/main" id="{BA2EBB34-8011-183D-B741-DBF383C43FC4}"/>
              </a:ext>
            </a:extLst>
          </p:cNvPr>
          <p:cNvSpPr txBox="1"/>
          <p:nvPr/>
        </p:nvSpPr>
        <p:spPr>
          <a:xfrm>
            <a:off x="6604000" y="1778000"/>
            <a:ext cx="5080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Licensing cost  -  capacity SKUs are not cheap</a:t>
            </a:r>
          </a:p>
        </p:txBody>
      </p:sp>
      <p:sp>
        <p:nvSpPr>
          <p:cNvPr id="19" name="TextBox 18">
            <a:extLst>
              <a:ext uri="{FF2B5EF4-FFF2-40B4-BE49-F238E27FC236}">
                <a16:creationId xmlns:a16="http://schemas.microsoft.com/office/drawing/2014/main" id="{DD6F0D03-58B4-7FBF-64B2-A1EB495D5E7A}"/>
              </a:ext>
            </a:extLst>
          </p:cNvPr>
          <p:cNvSpPr txBox="1"/>
          <p:nvPr/>
        </p:nvSpPr>
        <p:spPr>
          <a:xfrm>
            <a:off x="6350000" y="2159000"/>
            <a:ext cx="254000" cy="215444"/>
          </a:xfrm>
          <a:prstGeom prst="rect">
            <a:avLst/>
          </a:prstGeom>
          <a:noFill/>
        </p:spPr>
        <p:txBody>
          <a:bodyPr vert="horz" wrap="square" lIns="0" tIns="0" rIns="0" bIns="0" rtlCol="0">
            <a:spAutoFit/>
          </a:bodyPr>
          <a:lstStyle/>
          <a:p>
            <a:r>
              <a:rPr lang="en-US" sz="1400" b="1">
                <a:solidFill>
                  <a:srgbClr val="E32526"/>
                </a:solidFill>
                <a:latin typeface="Segoe UI" panose="020B0502040204020203" pitchFamily="34" charset="0"/>
              </a:rPr>
              <a:t>•</a:t>
            </a:r>
          </a:p>
        </p:txBody>
      </p:sp>
      <p:sp>
        <p:nvSpPr>
          <p:cNvPr id="20" name="TextBox 19">
            <a:extLst>
              <a:ext uri="{FF2B5EF4-FFF2-40B4-BE49-F238E27FC236}">
                <a16:creationId xmlns:a16="http://schemas.microsoft.com/office/drawing/2014/main" id="{F94E1935-A656-C155-3B00-7BD2FA017904}"/>
              </a:ext>
            </a:extLst>
          </p:cNvPr>
          <p:cNvSpPr txBox="1"/>
          <p:nvPr/>
        </p:nvSpPr>
        <p:spPr>
          <a:xfrm>
            <a:off x="6604000" y="2159000"/>
            <a:ext cx="5080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Migration risk  -  moving Gold and Platinum is real work</a:t>
            </a:r>
          </a:p>
        </p:txBody>
      </p:sp>
      <p:sp>
        <p:nvSpPr>
          <p:cNvPr id="21" name="TextBox 20">
            <a:extLst>
              <a:ext uri="{FF2B5EF4-FFF2-40B4-BE49-F238E27FC236}">
                <a16:creationId xmlns:a16="http://schemas.microsoft.com/office/drawing/2014/main" id="{274F834B-33D7-0658-FB6B-DFA659BBD837}"/>
              </a:ext>
            </a:extLst>
          </p:cNvPr>
          <p:cNvSpPr txBox="1"/>
          <p:nvPr/>
        </p:nvSpPr>
        <p:spPr>
          <a:xfrm>
            <a:off x="6350000" y="2540000"/>
            <a:ext cx="254000" cy="215444"/>
          </a:xfrm>
          <a:prstGeom prst="rect">
            <a:avLst/>
          </a:prstGeom>
          <a:noFill/>
        </p:spPr>
        <p:txBody>
          <a:bodyPr vert="horz" wrap="square" lIns="0" tIns="0" rIns="0" bIns="0" rtlCol="0">
            <a:spAutoFit/>
          </a:bodyPr>
          <a:lstStyle/>
          <a:p>
            <a:r>
              <a:rPr lang="en-US" sz="1400" b="1">
                <a:solidFill>
                  <a:srgbClr val="E32526"/>
                </a:solidFill>
                <a:latin typeface="Segoe UI" panose="020B0502040204020203" pitchFamily="34" charset="0"/>
              </a:rPr>
              <a:t>•</a:t>
            </a:r>
          </a:p>
        </p:txBody>
      </p:sp>
      <p:sp>
        <p:nvSpPr>
          <p:cNvPr id="22" name="TextBox 21">
            <a:extLst>
              <a:ext uri="{FF2B5EF4-FFF2-40B4-BE49-F238E27FC236}">
                <a16:creationId xmlns:a16="http://schemas.microsoft.com/office/drawing/2014/main" id="{B2B45028-FA1F-7870-6F81-2285EF62EBE0}"/>
              </a:ext>
            </a:extLst>
          </p:cNvPr>
          <p:cNvSpPr txBox="1"/>
          <p:nvPr/>
        </p:nvSpPr>
        <p:spPr>
          <a:xfrm>
            <a:off x="6604000" y="2540000"/>
            <a:ext cx="5080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Team ramp-up  -  new tooling, new monitoring, new CI/CD</a:t>
            </a:r>
          </a:p>
        </p:txBody>
      </p:sp>
      <p:sp>
        <p:nvSpPr>
          <p:cNvPr id="23" name="TextBox 22">
            <a:extLst>
              <a:ext uri="{FF2B5EF4-FFF2-40B4-BE49-F238E27FC236}">
                <a16:creationId xmlns:a16="http://schemas.microsoft.com/office/drawing/2014/main" id="{C0DDDF34-EF6B-7D60-D2D4-FFAFBDE06E1D}"/>
              </a:ext>
            </a:extLst>
          </p:cNvPr>
          <p:cNvSpPr txBox="1"/>
          <p:nvPr/>
        </p:nvSpPr>
        <p:spPr>
          <a:xfrm>
            <a:off x="6350000" y="2921000"/>
            <a:ext cx="254000" cy="215444"/>
          </a:xfrm>
          <a:prstGeom prst="rect">
            <a:avLst/>
          </a:prstGeom>
          <a:noFill/>
        </p:spPr>
        <p:txBody>
          <a:bodyPr vert="horz" wrap="square" lIns="0" tIns="0" rIns="0" bIns="0" rtlCol="0">
            <a:spAutoFit/>
          </a:bodyPr>
          <a:lstStyle/>
          <a:p>
            <a:r>
              <a:rPr lang="en-US" sz="1400" b="1">
                <a:solidFill>
                  <a:srgbClr val="E32526"/>
                </a:solidFill>
                <a:latin typeface="Segoe UI" panose="020B0502040204020203" pitchFamily="34" charset="0"/>
              </a:rPr>
              <a:t>•</a:t>
            </a:r>
          </a:p>
        </p:txBody>
      </p:sp>
      <p:sp>
        <p:nvSpPr>
          <p:cNvPr id="24" name="TextBox 23">
            <a:extLst>
              <a:ext uri="{FF2B5EF4-FFF2-40B4-BE49-F238E27FC236}">
                <a16:creationId xmlns:a16="http://schemas.microsoft.com/office/drawing/2014/main" id="{4046B234-C42A-FC1B-55C5-E7F4D1FDC014}"/>
              </a:ext>
            </a:extLst>
          </p:cNvPr>
          <p:cNvSpPr txBox="1"/>
          <p:nvPr/>
        </p:nvSpPr>
        <p:spPr>
          <a:xfrm>
            <a:off x="6604000" y="2921000"/>
            <a:ext cx="5080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Perceived as 'just another rebrand' of synapse/PBI Premium</a:t>
            </a:r>
          </a:p>
        </p:txBody>
      </p:sp>
      <p:sp>
        <p:nvSpPr>
          <p:cNvPr id="25" name="TextBox 24">
            <a:extLst>
              <a:ext uri="{FF2B5EF4-FFF2-40B4-BE49-F238E27FC236}">
                <a16:creationId xmlns:a16="http://schemas.microsoft.com/office/drawing/2014/main" id="{390FE1AF-5CC1-AF4A-21FF-639744E89929}"/>
              </a:ext>
            </a:extLst>
          </p:cNvPr>
          <p:cNvSpPr txBox="1"/>
          <p:nvPr/>
        </p:nvSpPr>
        <p:spPr>
          <a:xfrm>
            <a:off x="6350000" y="3302000"/>
            <a:ext cx="254000" cy="215444"/>
          </a:xfrm>
          <a:prstGeom prst="rect">
            <a:avLst/>
          </a:prstGeom>
          <a:noFill/>
        </p:spPr>
        <p:txBody>
          <a:bodyPr vert="horz" wrap="square" lIns="0" tIns="0" rIns="0" bIns="0" rtlCol="0">
            <a:spAutoFit/>
          </a:bodyPr>
          <a:lstStyle/>
          <a:p>
            <a:r>
              <a:rPr lang="en-US" sz="1400" b="1">
                <a:solidFill>
                  <a:srgbClr val="E32526"/>
                </a:solidFill>
                <a:latin typeface="Segoe UI" panose="020B0502040204020203" pitchFamily="34" charset="0"/>
              </a:rPr>
              <a:t>•</a:t>
            </a:r>
          </a:p>
        </p:txBody>
      </p:sp>
      <p:sp>
        <p:nvSpPr>
          <p:cNvPr id="26" name="TextBox 25">
            <a:extLst>
              <a:ext uri="{FF2B5EF4-FFF2-40B4-BE49-F238E27FC236}">
                <a16:creationId xmlns:a16="http://schemas.microsoft.com/office/drawing/2014/main" id="{EA6BEF09-1857-D39A-E6CE-7C27D08996E9}"/>
              </a:ext>
            </a:extLst>
          </p:cNvPr>
          <p:cNvSpPr txBox="1"/>
          <p:nvPr/>
        </p:nvSpPr>
        <p:spPr>
          <a:xfrm>
            <a:off x="6604000" y="3302000"/>
            <a:ext cx="5080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No compelling AI story yet  -  until today</a:t>
            </a:r>
          </a:p>
        </p:txBody>
      </p:sp>
      <p:sp>
        <p:nvSpPr>
          <p:cNvPr id="27" name="Rectangle 26">
            <a:extLst>
              <a:ext uri="{FF2B5EF4-FFF2-40B4-BE49-F238E27FC236}">
                <a16:creationId xmlns:a16="http://schemas.microsoft.com/office/drawing/2014/main" id="{4146E33A-43F8-0A77-F5ED-D4AD7D72B4BA}"/>
              </a:ext>
            </a:extLst>
          </p:cNvPr>
          <p:cNvSpPr/>
          <p:nvPr/>
        </p:nvSpPr>
        <p:spPr>
          <a:xfrm>
            <a:off x="762000" y="4191000"/>
            <a:ext cx="10922000" cy="254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C80FDDB-9377-E666-A0F4-D83B7B76DD7D}"/>
              </a:ext>
            </a:extLst>
          </p:cNvPr>
          <p:cNvSpPr txBox="1"/>
          <p:nvPr/>
        </p:nvSpPr>
        <p:spPr>
          <a:xfrm>
            <a:off x="762000" y="4381500"/>
            <a:ext cx="10922000" cy="215444"/>
          </a:xfrm>
          <a:prstGeom prst="rect">
            <a:avLst/>
          </a:prstGeom>
          <a:noFill/>
        </p:spPr>
        <p:txBody>
          <a:bodyPr vert="horz" wrap="square" lIns="0" tIns="0" rIns="0" bIns="0" rtlCol="0">
            <a:spAutoFit/>
          </a:bodyPr>
          <a:lstStyle/>
          <a:p>
            <a:r>
              <a:rPr lang="en-US" sz="1400" b="1">
                <a:solidFill>
                  <a:srgbClr val="6B4990"/>
                </a:solidFill>
                <a:latin typeface="Segoe UI" panose="020B0502040204020203" pitchFamily="34" charset="0"/>
              </a:rPr>
              <a:t>The missing pitch</a:t>
            </a:r>
          </a:p>
        </p:txBody>
      </p:sp>
      <p:sp>
        <p:nvSpPr>
          <p:cNvPr id="29" name="TextBox 28">
            <a:extLst>
              <a:ext uri="{FF2B5EF4-FFF2-40B4-BE49-F238E27FC236}">
                <a16:creationId xmlns:a16="http://schemas.microsoft.com/office/drawing/2014/main" id="{DD1266D2-4CA3-5E4B-F8B3-88DC30522A09}"/>
              </a:ext>
            </a:extLst>
          </p:cNvPr>
          <p:cNvSpPr txBox="1"/>
          <p:nvPr/>
        </p:nvSpPr>
        <p:spPr>
          <a:xfrm>
            <a:off x="762000" y="4724400"/>
            <a:ext cx="10922000" cy="369332"/>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Fabric's AI story is the strongest argument no one is making yet. Data Agents and Azure OpenAI natively grounded on our own semantic model change the conversation from 'migration project' to 'capability unlock'. That is what this POC is meant to show.</a:t>
            </a:r>
          </a:p>
        </p:txBody>
      </p:sp>
      <p:sp>
        <p:nvSpPr>
          <p:cNvPr id="30" name="Rectangle 29">
            <a:extLst>
              <a:ext uri="{FF2B5EF4-FFF2-40B4-BE49-F238E27FC236}">
                <a16:creationId xmlns:a16="http://schemas.microsoft.com/office/drawing/2014/main" id="{33CDCD04-8FDD-B31D-8FFF-DE23DC67D34A}"/>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50049BE-46E4-D3AB-4FB5-5890963D3845}"/>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32" name="TextBox 31">
            <a:extLst>
              <a:ext uri="{FF2B5EF4-FFF2-40B4-BE49-F238E27FC236}">
                <a16:creationId xmlns:a16="http://schemas.microsoft.com/office/drawing/2014/main" id="{854ECF90-9F20-60A5-56CA-3E62F69F48B2}"/>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6 / 14</a:t>
            </a:r>
          </a:p>
        </p:txBody>
      </p:sp>
    </p:spTree>
    <p:extLst>
      <p:ext uri="{BB962C8B-B14F-4D97-AF65-F5344CB8AC3E}">
        <p14:creationId xmlns:p14="http://schemas.microsoft.com/office/powerpoint/2010/main" val="1340223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DD9D9B-8719-D581-08F9-663455C8DFAD}"/>
              </a:ext>
            </a:extLst>
          </p:cNvPr>
          <p:cNvSpPr/>
          <p:nvPr/>
        </p:nvSpPr>
        <p:spPr>
          <a:xfrm>
            <a:off x="0" y="0"/>
            <a:ext cx="12192000" cy="76200"/>
          </a:xfrm>
          <a:prstGeom prst="rect">
            <a:avLst/>
          </a:prstGeom>
          <a:solidFill>
            <a:srgbClr val="F68D2D"/>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4442DDF-D824-1542-F981-DF5231AA90C3}"/>
              </a:ext>
            </a:extLst>
          </p:cNvPr>
          <p:cNvSpPr txBox="1"/>
          <p:nvPr/>
        </p:nvSpPr>
        <p:spPr>
          <a:xfrm>
            <a:off x="508000" y="381000"/>
            <a:ext cx="11176000" cy="369332"/>
          </a:xfrm>
          <a:prstGeom prst="rect">
            <a:avLst/>
          </a:prstGeom>
          <a:noFill/>
        </p:spPr>
        <p:txBody>
          <a:bodyPr vert="horz" wrap="square" lIns="0" tIns="0" rIns="0" bIns="0" rtlCol="0">
            <a:spAutoFit/>
          </a:bodyPr>
          <a:lstStyle/>
          <a:p>
            <a:r>
              <a:rPr lang="en-US" sz="2400" b="1">
                <a:solidFill>
                  <a:srgbClr val="222222"/>
                </a:solidFill>
                <a:latin typeface="Segoe UI" panose="020B0502040204020203" pitchFamily="34" charset="0"/>
              </a:rPr>
              <a:t>The POC  -  what I built</a:t>
            </a:r>
          </a:p>
        </p:txBody>
      </p:sp>
      <p:sp>
        <p:nvSpPr>
          <p:cNvPr id="4" name="Rectangle 3">
            <a:extLst>
              <a:ext uri="{FF2B5EF4-FFF2-40B4-BE49-F238E27FC236}">
                <a16:creationId xmlns:a16="http://schemas.microsoft.com/office/drawing/2014/main" id="{92C245AB-3F8E-1B7D-44D2-B6AC3C79BF84}"/>
              </a:ext>
            </a:extLst>
          </p:cNvPr>
          <p:cNvSpPr/>
          <p:nvPr/>
        </p:nvSpPr>
        <p:spPr>
          <a:xfrm>
            <a:off x="508000" y="914400"/>
            <a:ext cx="1016000" cy="38100"/>
          </a:xfrm>
          <a:prstGeom prst="rect">
            <a:avLst/>
          </a:prstGeom>
          <a:solidFill>
            <a:srgbClr val="F68D2D"/>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31FA2F4-A863-A5D7-70BB-9E93FE105585}"/>
              </a:ext>
            </a:extLst>
          </p:cNvPr>
          <p:cNvSpPr txBox="1"/>
          <p:nvPr/>
        </p:nvSpPr>
        <p:spPr>
          <a:xfrm>
            <a:off x="508000" y="990600"/>
            <a:ext cx="11176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A .NET 10 REST service that takes a plain-English question and returns generated T-SQL + a plain-English answer.</a:t>
            </a:r>
          </a:p>
        </p:txBody>
      </p:sp>
      <p:sp>
        <p:nvSpPr>
          <p:cNvPr id="6" name="Rectangle: Rounded Corners 5">
            <a:extLst>
              <a:ext uri="{FF2B5EF4-FFF2-40B4-BE49-F238E27FC236}">
                <a16:creationId xmlns:a16="http://schemas.microsoft.com/office/drawing/2014/main" id="{3407E581-4E76-A0C0-87EB-B55CABD604FF}"/>
              </a:ext>
            </a:extLst>
          </p:cNvPr>
          <p:cNvSpPr/>
          <p:nvPr/>
        </p:nvSpPr>
        <p:spPr>
          <a:xfrm>
            <a:off x="508000" y="1587500"/>
            <a:ext cx="1841500" cy="952500"/>
          </a:xfrm>
          <a:prstGeom prst="roundRect">
            <a:avLst>
              <a:gd name="adj" fmla="val 15000"/>
            </a:avLst>
          </a:prstGeom>
          <a:solidFill>
            <a:srgbClr val="FFFFFF"/>
          </a:solidFill>
          <a:ln w="25400">
            <a:solidFill>
              <a:srgbClr val="6666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16D7FAE-E0B7-F2D3-4F51-4B36E6AA9F39}"/>
              </a:ext>
            </a:extLst>
          </p:cNvPr>
          <p:cNvSpPr txBox="1"/>
          <p:nvPr/>
        </p:nvSpPr>
        <p:spPr>
          <a:xfrm>
            <a:off x="508000" y="1714500"/>
            <a:ext cx="1841500" cy="184666"/>
          </a:xfrm>
          <a:prstGeom prst="rect">
            <a:avLst/>
          </a:prstGeom>
          <a:noFill/>
        </p:spPr>
        <p:txBody>
          <a:bodyPr vert="horz" wrap="square" lIns="0" tIns="0" rIns="0" bIns="0" rtlCol="0">
            <a:spAutoFit/>
          </a:bodyPr>
          <a:lstStyle/>
          <a:p>
            <a:r>
              <a:rPr lang="en-US" sz="1200" b="1">
                <a:solidFill>
                  <a:srgbClr val="666666"/>
                </a:solidFill>
                <a:latin typeface="Segoe UI" panose="020B0502040204020203" pitchFamily="34" charset="0"/>
              </a:rPr>
              <a:t>1. Question</a:t>
            </a:r>
          </a:p>
        </p:txBody>
      </p:sp>
      <p:sp>
        <p:nvSpPr>
          <p:cNvPr id="8" name="TextBox 7">
            <a:extLst>
              <a:ext uri="{FF2B5EF4-FFF2-40B4-BE49-F238E27FC236}">
                <a16:creationId xmlns:a16="http://schemas.microsoft.com/office/drawing/2014/main" id="{CD5C8F9F-8B14-A418-AE07-35A00B33D186}"/>
              </a:ext>
            </a:extLst>
          </p:cNvPr>
          <p:cNvSpPr txBox="1"/>
          <p:nvPr/>
        </p:nvSpPr>
        <p:spPr>
          <a:xfrm>
            <a:off x="571500" y="2095500"/>
            <a:ext cx="1714500" cy="153888"/>
          </a:xfrm>
          <a:prstGeom prst="rect">
            <a:avLst/>
          </a:prstGeom>
          <a:noFill/>
        </p:spPr>
        <p:txBody>
          <a:bodyPr vert="horz" wrap="square" lIns="0" tIns="0" rIns="0" bIns="0" rtlCol="0">
            <a:spAutoFit/>
          </a:bodyPr>
          <a:lstStyle/>
          <a:p>
            <a:r>
              <a:rPr lang="en-US" sz="1000">
                <a:solidFill>
                  <a:srgbClr val="666666"/>
                </a:solidFill>
                <a:latin typeface="Segoe UI" panose="020B0502040204020203" pitchFamily="34" charset="0"/>
              </a:rPr>
              <a:t>HTTP POST</a:t>
            </a:r>
          </a:p>
        </p:txBody>
      </p:sp>
      <p:sp>
        <p:nvSpPr>
          <p:cNvPr id="9" name="Rectangle: Rounded Corners 8">
            <a:extLst>
              <a:ext uri="{FF2B5EF4-FFF2-40B4-BE49-F238E27FC236}">
                <a16:creationId xmlns:a16="http://schemas.microsoft.com/office/drawing/2014/main" id="{1499871D-DE18-6097-FAA1-333ED452E0CF}"/>
              </a:ext>
            </a:extLst>
          </p:cNvPr>
          <p:cNvSpPr/>
          <p:nvPr/>
        </p:nvSpPr>
        <p:spPr>
          <a:xfrm>
            <a:off x="2438400" y="1587500"/>
            <a:ext cx="1841500" cy="952500"/>
          </a:xfrm>
          <a:prstGeom prst="roundRect">
            <a:avLst>
              <a:gd name="adj" fmla="val 15000"/>
            </a:avLst>
          </a:prstGeom>
          <a:solidFill>
            <a:srgbClr val="FFFFFF"/>
          </a:solidFill>
          <a:ln w="25400">
            <a:solidFill>
              <a:srgbClr val="6B49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72ABAD0-CE68-CF8E-98DE-8A871497DF5B}"/>
              </a:ext>
            </a:extLst>
          </p:cNvPr>
          <p:cNvSpPr txBox="1"/>
          <p:nvPr/>
        </p:nvSpPr>
        <p:spPr>
          <a:xfrm>
            <a:off x="2438400" y="1714500"/>
            <a:ext cx="1841500" cy="184666"/>
          </a:xfrm>
          <a:prstGeom prst="rect">
            <a:avLst/>
          </a:prstGeom>
          <a:noFill/>
        </p:spPr>
        <p:txBody>
          <a:bodyPr vert="horz" wrap="square" lIns="0" tIns="0" rIns="0" bIns="0" rtlCol="0">
            <a:spAutoFit/>
          </a:bodyPr>
          <a:lstStyle/>
          <a:p>
            <a:r>
              <a:rPr lang="en-US" sz="1200" b="1">
                <a:solidFill>
                  <a:srgbClr val="6B4990"/>
                </a:solidFill>
                <a:latin typeface="Segoe UI" panose="020B0502040204020203" pitchFamily="34" charset="0"/>
              </a:rPr>
              <a:t>2. Schema</a:t>
            </a:r>
          </a:p>
        </p:txBody>
      </p:sp>
      <p:sp>
        <p:nvSpPr>
          <p:cNvPr id="11" name="TextBox 10">
            <a:extLst>
              <a:ext uri="{FF2B5EF4-FFF2-40B4-BE49-F238E27FC236}">
                <a16:creationId xmlns:a16="http://schemas.microsoft.com/office/drawing/2014/main" id="{89C6C95E-CFDA-CA52-FDFA-1AA7DC8168BD}"/>
              </a:ext>
            </a:extLst>
          </p:cNvPr>
          <p:cNvSpPr txBox="1"/>
          <p:nvPr/>
        </p:nvSpPr>
        <p:spPr>
          <a:xfrm>
            <a:off x="2501900" y="2095500"/>
            <a:ext cx="1714500" cy="153888"/>
          </a:xfrm>
          <a:prstGeom prst="rect">
            <a:avLst/>
          </a:prstGeom>
          <a:noFill/>
        </p:spPr>
        <p:txBody>
          <a:bodyPr vert="horz" wrap="square" lIns="0" tIns="0" rIns="0" bIns="0" rtlCol="0">
            <a:spAutoFit/>
          </a:bodyPr>
          <a:lstStyle/>
          <a:p>
            <a:r>
              <a:rPr lang="en-US" sz="1000">
                <a:solidFill>
                  <a:srgbClr val="666666"/>
                </a:solidFill>
                <a:latin typeface="Segoe UI" panose="020B0502040204020203" pitchFamily="34" charset="0"/>
              </a:rPr>
              <a:t>sys.* catalog + FK chains</a:t>
            </a:r>
          </a:p>
        </p:txBody>
      </p:sp>
      <p:sp>
        <p:nvSpPr>
          <p:cNvPr id="12" name="Rectangle: Rounded Corners 11">
            <a:extLst>
              <a:ext uri="{FF2B5EF4-FFF2-40B4-BE49-F238E27FC236}">
                <a16:creationId xmlns:a16="http://schemas.microsoft.com/office/drawing/2014/main" id="{FB366806-8633-AF74-43FD-41DBDAC5C4D5}"/>
              </a:ext>
            </a:extLst>
          </p:cNvPr>
          <p:cNvSpPr/>
          <p:nvPr/>
        </p:nvSpPr>
        <p:spPr>
          <a:xfrm>
            <a:off x="4368800" y="1587500"/>
            <a:ext cx="1841500" cy="952500"/>
          </a:xfrm>
          <a:prstGeom prst="roundRect">
            <a:avLst>
              <a:gd name="adj" fmla="val 15000"/>
            </a:avLst>
          </a:prstGeom>
          <a:solidFill>
            <a:srgbClr val="FFFFFF"/>
          </a:solidFill>
          <a:ln w="25400">
            <a:solidFill>
              <a:srgbClr val="F68D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10567F5-A570-1CA8-F237-B2EE4B0830E3}"/>
              </a:ext>
            </a:extLst>
          </p:cNvPr>
          <p:cNvSpPr txBox="1"/>
          <p:nvPr/>
        </p:nvSpPr>
        <p:spPr>
          <a:xfrm>
            <a:off x="4368800" y="1714500"/>
            <a:ext cx="1841500" cy="184666"/>
          </a:xfrm>
          <a:prstGeom prst="rect">
            <a:avLst/>
          </a:prstGeom>
          <a:noFill/>
        </p:spPr>
        <p:txBody>
          <a:bodyPr vert="horz" wrap="square" lIns="0" tIns="0" rIns="0" bIns="0" rtlCol="0">
            <a:spAutoFit/>
          </a:bodyPr>
          <a:lstStyle/>
          <a:p>
            <a:r>
              <a:rPr lang="en-US" sz="1200" b="1">
                <a:solidFill>
                  <a:srgbClr val="F68D2D"/>
                </a:solidFill>
                <a:latin typeface="Segoe UI" panose="020B0502040204020203" pitchFamily="34" charset="0"/>
              </a:rPr>
              <a:t>3. Generate SQL</a:t>
            </a:r>
          </a:p>
        </p:txBody>
      </p:sp>
      <p:sp>
        <p:nvSpPr>
          <p:cNvPr id="14" name="TextBox 13">
            <a:extLst>
              <a:ext uri="{FF2B5EF4-FFF2-40B4-BE49-F238E27FC236}">
                <a16:creationId xmlns:a16="http://schemas.microsoft.com/office/drawing/2014/main" id="{A63252E2-1A00-E594-F262-7C102D3833A6}"/>
              </a:ext>
            </a:extLst>
          </p:cNvPr>
          <p:cNvSpPr txBox="1"/>
          <p:nvPr/>
        </p:nvSpPr>
        <p:spPr>
          <a:xfrm>
            <a:off x="4432300" y="2095500"/>
            <a:ext cx="1714500" cy="153888"/>
          </a:xfrm>
          <a:prstGeom prst="rect">
            <a:avLst/>
          </a:prstGeom>
          <a:noFill/>
        </p:spPr>
        <p:txBody>
          <a:bodyPr vert="horz" wrap="square" lIns="0" tIns="0" rIns="0" bIns="0" rtlCol="0">
            <a:spAutoFit/>
          </a:bodyPr>
          <a:lstStyle/>
          <a:p>
            <a:r>
              <a:rPr lang="en-US" sz="1000">
                <a:solidFill>
                  <a:srgbClr val="666666"/>
                </a:solidFill>
                <a:latin typeface="Segoe UI" panose="020B0502040204020203" pitchFamily="34" charset="0"/>
              </a:rPr>
              <a:t>Local LLM (Ollama)</a:t>
            </a:r>
          </a:p>
        </p:txBody>
      </p:sp>
      <p:sp>
        <p:nvSpPr>
          <p:cNvPr id="15" name="Rectangle: Rounded Corners 14">
            <a:extLst>
              <a:ext uri="{FF2B5EF4-FFF2-40B4-BE49-F238E27FC236}">
                <a16:creationId xmlns:a16="http://schemas.microsoft.com/office/drawing/2014/main" id="{68C69E9F-4EB4-3E7C-4425-C7AB2C051A22}"/>
              </a:ext>
            </a:extLst>
          </p:cNvPr>
          <p:cNvSpPr/>
          <p:nvPr/>
        </p:nvSpPr>
        <p:spPr>
          <a:xfrm>
            <a:off x="6299200" y="1587500"/>
            <a:ext cx="1841500" cy="952500"/>
          </a:xfrm>
          <a:prstGeom prst="roundRect">
            <a:avLst>
              <a:gd name="adj" fmla="val 15000"/>
            </a:avLst>
          </a:prstGeom>
          <a:solidFill>
            <a:srgbClr val="FFFFFF"/>
          </a:solidFill>
          <a:ln w="25400">
            <a:solidFill>
              <a:srgbClr val="E325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32DCDDE-7CDD-872B-A483-5E2281110168}"/>
              </a:ext>
            </a:extLst>
          </p:cNvPr>
          <p:cNvSpPr txBox="1"/>
          <p:nvPr/>
        </p:nvSpPr>
        <p:spPr>
          <a:xfrm>
            <a:off x="6299200" y="1714500"/>
            <a:ext cx="1841500" cy="184666"/>
          </a:xfrm>
          <a:prstGeom prst="rect">
            <a:avLst/>
          </a:prstGeom>
          <a:noFill/>
        </p:spPr>
        <p:txBody>
          <a:bodyPr vert="horz" wrap="square" lIns="0" tIns="0" rIns="0" bIns="0" rtlCol="0">
            <a:spAutoFit/>
          </a:bodyPr>
          <a:lstStyle/>
          <a:p>
            <a:r>
              <a:rPr lang="en-US" sz="1200" b="1">
                <a:solidFill>
                  <a:srgbClr val="E32526"/>
                </a:solidFill>
                <a:latin typeface="Segoe UI" panose="020B0502040204020203" pitchFamily="34" charset="0"/>
              </a:rPr>
              <a:t>4. Safety check</a:t>
            </a:r>
          </a:p>
        </p:txBody>
      </p:sp>
      <p:sp>
        <p:nvSpPr>
          <p:cNvPr id="17" name="TextBox 16">
            <a:extLst>
              <a:ext uri="{FF2B5EF4-FFF2-40B4-BE49-F238E27FC236}">
                <a16:creationId xmlns:a16="http://schemas.microsoft.com/office/drawing/2014/main" id="{A9158739-E6D2-8334-91AF-5E5E322ECA8A}"/>
              </a:ext>
            </a:extLst>
          </p:cNvPr>
          <p:cNvSpPr txBox="1"/>
          <p:nvPr/>
        </p:nvSpPr>
        <p:spPr>
          <a:xfrm>
            <a:off x="6362700" y="2095500"/>
            <a:ext cx="1714500" cy="153888"/>
          </a:xfrm>
          <a:prstGeom prst="rect">
            <a:avLst/>
          </a:prstGeom>
          <a:noFill/>
        </p:spPr>
        <p:txBody>
          <a:bodyPr vert="horz" wrap="square" lIns="0" tIns="0" rIns="0" bIns="0" rtlCol="0">
            <a:spAutoFit/>
          </a:bodyPr>
          <a:lstStyle/>
          <a:p>
            <a:r>
              <a:rPr lang="en-US" sz="1000">
                <a:solidFill>
                  <a:srgbClr val="666666"/>
                </a:solidFill>
                <a:latin typeface="Segoe UI" panose="020B0502040204020203" pitchFamily="34" charset="0"/>
              </a:rPr>
              <a:t>SELECT-only guardrail</a:t>
            </a:r>
          </a:p>
        </p:txBody>
      </p:sp>
      <p:sp>
        <p:nvSpPr>
          <p:cNvPr id="18" name="Rectangle: Rounded Corners 17">
            <a:extLst>
              <a:ext uri="{FF2B5EF4-FFF2-40B4-BE49-F238E27FC236}">
                <a16:creationId xmlns:a16="http://schemas.microsoft.com/office/drawing/2014/main" id="{49521C34-D3A4-4622-DB02-4A949E484BFC}"/>
              </a:ext>
            </a:extLst>
          </p:cNvPr>
          <p:cNvSpPr/>
          <p:nvPr/>
        </p:nvSpPr>
        <p:spPr>
          <a:xfrm>
            <a:off x="8229600" y="1587500"/>
            <a:ext cx="1841500" cy="952500"/>
          </a:xfrm>
          <a:prstGeom prst="roundRect">
            <a:avLst>
              <a:gd name="adj" fmla="val 15000"/>
            </a:avLst>
          </a:prstGeom>
          <a:solidFill>
            <a:srgbClr val="FFFFFF"/>
          </a:solidFill>
          <a:ln w="25400">
            <a:solidFill>
              <a:srgbClr val="4C9E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6ECFB09-9AAF-2384-EA57-5C4BAAB0066C}"/>
              </a:ext>
            </a:extLst>
          </p:cNvPr>
          <p:cNvSpPr txBox="1"/>
          <p:nvPr/>
        </p:nvSpPr>
        <p:spPr>
          <a:xfrm>
            <a:off x="8229600" y="1714500"/>
            <a:ext cx="1841500" cy="184666"/>
          </a:xfrm>
          <a:prstGeom prst="rect">
            <a:avLst/>
          </a:prstGeom>
          <a:noFill/>
        </p:spPr>
        <p:txBody>
          <a:bodyPr vert="horz" wrap="square" lIns="0" tIns="0" rIns="0" bIns="0" rtlCol="0">
            <a:spAutoFit/>
          </a:bodyPr>
          <a:lstStyle/>
          <a:p>
            <a:r>
              <a:rPr lang="en-US" sz="1200" b="1">
                <a:solidFill>
                  <a:srgbClr val="4C9E45"/>
                </a:solidFill>
                <a:latin typeface="Segoe UI" panose="020B0502040204020203" pitchFamily="34" charset="0"/>
              </a:rPr>
              <a:t>5. Execute</a:t>
            </a:r>
          </a:p>
        </p:txBody>
      </p:sp>
      <p:sp>
        <p:nvSpPr>
          <p:cNvPr id="20" name="TextBox 19">
            <a:extLst>
              <a:ext uri="{FF2B5EF4-FFF2-40B4-BE49-F238E27FC236}">
                <a16:creationId xmlns:a16="http://schemas.microsoft.com/office/drawing/2014/main" id="{4EDBE85E-173D-E8EF-4C40-4D178C4425A7}"/>
              </a:ext>
            </a:extLst>
          </p:cNvPr>
          <p:cNvSpPr txBox="1"/>
          <p:nvPr/>
        </p:nvSpPr>
        <p:spPr>
          <a:xfrm>
            <a:off x="8293100" y="2095500"/>
            <a:ext cx="1714500" cy="153888"/>
          </a:xfrm>
          <a:prstGeom prst="rect">
            <a:avLst/>
          </a:prstGeom>
          <a:noFill/>
        </p:spPr>
        <p:txBody>
          <a:bodyPr vert="horz" wrap="square" lIns="0" tIns="0" rIns="0" bIns="0" rtlCol="0">
            <a:spAutoFit/>
          </a:bodyPr>
          <a:lstStyle/>
          <a:p>
            <a:r>
              <a:rPr lang="en-US" sz="1000">
                <a:solidFill>
                  <a:srgbClr val="666666"/>
                </a:solidFill>
                <a:latin typeface="Segoe UI" panose="020B0502040204020203" pitchFamily="34" charset="0"/>
              </a:rPr>
              <a:t>Read-only transaction</a:t>
            </a:r>
          </a:p>
        </p:txBody>
      </p:sp>
      <p:sp>
        <p:nvSpPr>
          <p:cNvPr id="21" name="Rectangle: Rounded Corners 20">
            <a:extLst>
              <a:ext uri="{FF2B5EF4-FFF2-40B4-BE49-F238E27FC236}">
                <a16:creationId xmlns:a16="http://schemas.microsoft.com/office/drawing/2014/main" id="{239B867B-4F48-ED20-A0E0-0C3919F3ECCB}"/>
              </a:ext>
            </a:extLst>
          </p:cNvPr>
          <p:cNvSpPr/>
          <p:nvPr/>
        </p:nvSpPr>
        <p:spPr>
          <a:xfrm>
            <a:off x="10160000" y="1587500"/>
            <a:ext cx="1841500" cy="952500"/>
          </a:xfrm>
          <a:prstGeom prst="roundRect">
            <a:avLst>
              <a:gd name="adj" fmla="val 15000"/>
            </a:avLst>
          </a:prstGeom>
          <a:solidFill>
            <a:srgbClr val="FFFFFF"/>
          </a:solidFill>
          <a:ln w="25400">
            <a:solidFill>
              <a:srgbClr val="F68D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833A1F1-4212-265E-F449-9C1FFF093DA7}"/>
              </a:ext>
            </a:extLst>
          </p:cNvPr>
          <p:cNvSpPr txBox="1"/>
          <p:nvPr/>
        </p:nvSpPr>
        <p:spPr>
          <a:xfrm>
            <a:off x="10160000" y="1714500"/>
            <a:ext cx="1841500" cy="184666"/>
          </a:xfrm>
          <a:prstGeom prst="rect">
            <a:avLst/>
          </a:prstGeom>
          <a:noFill/>
        </p:spPr>
        <p:txBody>
          <a:bodyPr vert="horz" wrap="square" lIns="0" tIns="0" rIns="0" bIns="0" rtlCol="0">
            <a:spAutoFit/>
          </a:bodyPr>
          <a:lstStyle/>
          <a:p>
            <a:r>
              <a:rPr lang="en-US" sz="1200" b="1">
                <a:solidFill>
                  <a:srgbClr val="F68D2D"/>
                </a:solidFill>
                <a:latin typeface="Segoe UI" panose="020B0502040204020203" pitchFamily="34" charset="0"/>
              </a:rPr>
              <a:t>6. Synthesize</a:t>
            </a:r>
          </a:p>
        </p:txBody>
      </p:sp>
      <p:sp>
        <p:nvSpPr>
          <p:cNvPr id="23" name="TextBox 22">
            <a:extLst>
              <a:ext uri="{FF2B5EF4-FFF2-40B4-BE49-F238E27FC236}">
                <a16:creationId xmlns:a16="http://schemas.microsoft.com/office/drawing/2014/main" id="{6FF98D7B-7C5E-BCF3-88FB-ACB759B321E9}"/>
              </a:ext>
            </a:extLst>
          </p:cNvPr>
          <p:cNvSpPr txBox="1"/>
          <p:nvPr/>
        </p:nvSpPr>
        <p:spPr>
          <a:xfrm>
            <a:off x="10223500" y="2095500"/>
            <a:ext cx="1714500" cy="153888"/>
          </a:xfrm>
          <a:prstGeom prst="rect">
            <a:avLst/>
          </a:prstGeom>
          <a:noFill/>
        </p:spPr>
        <p:txBody>
          <a:bodyPr vert="horz" wrap="square" lIns="0" tIns="0" rIns="0" bIns="0" rtlCol="0">
            <a:spAutoFit/>
          </a:bodyPr>
          <a:lstStyle/>
          <a:p>
            <a:r>
              <a:rPr lang="en-US" sz="1000">
                <a:solidFill>
                  <a:srgbClr val="666666"/>
                </a:solidFill>
                <a:latin typeface="Segoe UI" panose="020B0502040204020203" pitchFamily="34" charset="0"/>
              </a:rPr>
              <a:t>LLM to plain English</a:t>
            </a:r>
          </a:p>
        </p:txBody>
      </p:sp>
      <p:sp>
        <p:nvSpPr>
          <p:cNvPr id="24" name="TextBox 23">
            <a:extLst>
              <a:ext uri="{FF2B5EF4-FFF2-40B4-BE49-F238E27FC236}">
                <a16:creationId xmlns:a16="http://schemas.microsoft.com/office/drawing/2014/main" id="{4C761E01-C4CE-CB4D-4EF8-50BBA184BC18}"/>
              </a:ext>
            </a:extLst>
          </p:cNvPr>
          <p:cNvSpPr txBox="1"/>
          <p:nvPr/>
        </p:nvSpPr>
        <p:spPr>
          <a:xfrm>
            <a:off x="508000" y="2794000"/>
            <a:ext cx="11176000" cy="215444"/>
          </a:xfrm>
          <a:prstGeom prst="rect">
            <a:avLst/>
          </a:prstGeom>
          <a:noFill/>
        </p:spPr>
        <p:txBody>
          <a:bodyPr vert="horz" wrap="square" lIns="0" tIns="0" rIns="0" bIns="0" rtlCol="0">
            <a:spAutoFit/>
          </a:bodyPr>
          <a:lstStyle/>
          <a:p>
            <a:r>
              <a:rPr lang="en-US" sz="1400" b="1">
                <a:solidFill>
                  <a:srgbClr val="222222"/>
                </a:solidFill>
                <a:latin typeface="Segoe UI" panose="020B0502040204020203" pitchFamily="34" charset="0"/>
              </a:rPr>
              <a:t>Design principles</a:t>
            </a:r>
          </a:p>
        </p:txBody>
      </p:sp>
      <p:sp>
        <p:nvSpPr>
          <p:cNvPr id="25" name="Rectangle 24">
            <a:extLst>
              <a:ext uri="{FF2B5EF4-FFF2-40B4-BE49-F238E27FC236}">
                <a16:creationId xmlns:a16="http://schemas.microsoft.com/office/drawing/2014/main" id="{8AB623B6-B613-5B96-F991-56389AE4E2B3}"/>
              </a:ext>
            </a:extLst>
          </p:cNvPr>
          <p:cNvSpPr/>
          <p:nvPr/>
        </p:nvSpPr>
        <p:spPr>
          <a:xfrm>
            <a:off x="508000" y="3124200"/>
            <a:ext cx="11176000" cy="12700"/>
          </a:xfrm>
          <a:prstGeom prst="rect">
            <a:avLst/>
          </a:prstGeom>
          <a:solidFill>
            <a:srgbClr val="88888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AB02DF12-3C25-F73C-7CD3-DB807354759C}"/>
              </a:ext>
            </a:extLst>
          </p:cNvPr>
          <p:cNvSpPr txBox="1"/>
          <p:nvPr/>
        </p:nvSpPr>
        <p:spPr>
          <a:xfrm>
            <a:off x="762000" y="3302000"/>
            <a:ext cx="2286000" cy="184666"/>
          </a:xfrm>
          <a:prstGeom prst="rect">
            <a:avLst/>
          </a:prstGeom>
          <a:noFill/>
        </p:spPr>
        <p:txBody>
          <a:bodyPr vert="horz" wrap="square" lIns="0" tIns="0" rIns="0" bIns="0" rtlCol="0">
            <a:spAutoFit/>
          </a:bodyPr>
          <a:lstStyle/>
          <a:p>
            <a:r>
              <a:rPr lang="en-US" sz="1200" b="1">
                <a:solidFill>
                  <a:srgbClr val="F68D2D"/>
                </a:solidFill>
                <a:latin typeface="Segoe UI" panose="020B0502040204020203" pitchFamily="34" charset="0"/>
              </a:rPr>
              <a:t>Schema-agnostic</a:t>
            </a:r>
          </a:p>
        </p:txBody>
      </p:sp>
      <p:sp>
        <p:nvSpPr>
          <p:cNvPr id="27" name="TextBox 26">
            <a:extLst>
              <a:ext uri="{FF2B5EF4-FFF2-40B4-BE49-F238E27FC236}">
                <a16:creationId xmlns:a16="http://schemas.microsoft.com/office/drawing/2014/main" id="{7847F2E5-0AF7-3A1F-D809-4594875D02FB}"/>
              </a:ext>
            </a:extLst>
          </p:cNvPr>
          <p:cNvSpPr txBox="1"/>
          <p:nvPr/>
        </p:nvSpPr>
        <p:spPr>
          <a:xfrm>
            <a:off x="3175000" y="3302000"/>
            <a:ext cx="8636000" cy="169277"/>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No table names, column names, or join hints in code or config. Point it at any SQL Server database.</a:t>
            </a:r>
          </a:p>
        </p:txBody>
      </p:sp>
      <p:sp>
        <p:nvSpPr>
          <p:cNvPr id="28" name="TextBox 27">
            <a:extLst>
              <a:ext uri="{FF2B5EF4-FFF2-40B4-BE49-F238E27FC236}">
                <a16:creationId xmlns:a16="http://schemas.microsoft.com/office/drawing/2014/main" id="{DAAF00C9-D643-EB2D-7921-D97D5C300FB8}"/>
              </a:ext>
            </a:extLst>
          </p:cNvPr>
          <p:cNvSpPr txBox="1"/>
          <p:nvPr/>
        </p:nvSpPr>
        <p:spPr>
          <a:xfrm>
            <a:off x="762000" y="3657600"/>
            <a:ext cx="2286000" cy="184666"/>
          </a:xfrm>
          <a:prstGeom prst="rect">
            <a:avLst/>
          </a:prstGeom>
          <a:noFill/>
        </p:spPr>
        <p:txBody>
          <a:bodyPr vert="horz" wrap="square" lIns="0" tIns="0" rIns="0" bIns="0" rtlCol="0">
            <a:spAutoFit/>
          </a:bodyPr>
          <a:lstStyle/>
          <a:p>
            <a:r>
              <a:rPr lang="en-US" sz="1200" b="1">
                <a:solidFill>
                  <a:srgbClr val="F68D2D"/>
                </a:solidFill>
                <a:latin typeface="Segoe UI" panose="020B0502040204020203" pitchFamily="34" charset="0"/>
              </a:rPr>
              <a:t>FK chain walking</a:t>
            </a:r>
          </a:p>
        </p:txBody>
      </p:sp>
      <p:sp>
        <p:nvSpPr>
          <p:cNvPr id="29" name="TextBox 28">
            <a:extLst>
              <a:ext uri="{FF2B5EF4-FFF2-40B4-BE49-F238E27FC236}">
                <a16:creationId xmlns:a16="http://schemas.microsoft.com/office/drawing/2014/main" id="{520E2EEE-02C3-0523-FA71-5F6ED42F60A6}"/>
              </a:ext>
            </a:extLst>
          </p:cNvPr>
          <p:cNvSpPr txBox="1"/>
          <p:nvPr/>
        </p:nvSpPr>
        <p:spPr>
          <a:xfrm>
            <a:off x="3175000" y="3657600"/>
            <a:ext cx="8636000" cy="169277"/>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Annotates columns with reachable terminal tables  -  solves multi-hop join hallucinations generically.</a:t>
            </a:r>
          </a:p>
        </p:txBody>
      </p:sp>
      <p:sp>
        <p:nvSpPr>
          <p:cNvPr id="30" name="TextBox 29">
            <a:extLst>
              <a:ext uri="{FF2B5EF4-FFF2-40B4-BE49-F238E27FC236}">
                <a16:creationId xmlns:a16="http://schemas.microsoft.com/office/drawing/2014/main" id="{CAE196B7-F4F4-E3D5-5DE6-8BF5665F8962}"/>
              </a:ext>
            </a:extLst>
          </p:cNvPr>
          <p:cNvSpPr txBox="1"/>
          <p:nvPr/>
        </p:nvSpPr>
        <p:spPr>
          <a:xfrm>
            <a:off x="762000" y="4013200"/>
            <a:ext cx="2286000" cy="184666"/>
          </a:xfrm>
          <a:prstGeom prst="rect">
            <a:avLst/>
          </a:prstGeom>
          <a:noFill/>
        </p:spPr>
        <p:txBody>
          <a:bodyPr vert="horz" wrap="square" lIns="0" tIns="0" rIns="0" bIns="0" rtlCol="0">
            <a:spAutoFit/>
          </a:bodyPr>
          <a:lstStyle/>
          <a:p>
            <a:r>
              <a:rPr lang="en-US" sz="1200" b="1">
                <a:solidFill>
                  <a:srgbClr val="F68D2D"/>
                </a:solidFill>
                <a:latin typeface="Segoe UI" panose="020B0502040204020203" pitchFamily="34" charset="0"/>
              </a:rPr>
              <a:t>Two-model pipeline</a:t>
            </a:r>
          </a:p>
        </p:txBody>
      </p:sp>
      <p:sp>
        <p:nvSpPr>
          <p:cNvPr id="31" name="TextBox 30">
            <a:extLst>
              <a:ext uri="{FF2B5EF4-FFF2-40B4-BE49-F238E27FC236}">
                <a16:creationId xmlns:a16="http://schemas.microsoft.com/office/drawing/2014/main" id="{5D194AEF-1CCD-E191-A6F3-A73652BA6584}"/>
              </a:ext>
            </a:extLst>
          </p:cNvPr>
          <p:cNvSpPr txBox="1"/>
          <p:nvPr/>
        </p:nvSpPr>
        <p:spPr>
          <a:xfrm>
            <a:off x="3175000" y="4013200"/>
            <a:ext cx="8636000" cy="169277"/>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One model generates SQL, a second model synthesizes the human answer  -  each tuned for its job.</a:t>
            </a:r>
          </a:p>
        </p:txBody>
      </p:sp>
      <p:sp>
        <p:nvSpPr>
          <p:cNvPr id="32" name="TextBox 31">
            <a:extLst>
              <a:ext uri="{FF2B5EF4-FFF2-40B4-BE49-F238E27FC236}">
                <a16:creationId xmlns:a16="http://schemas.microsoft.com/office/drawing/2014/main" id="{86F89DF4-1B9C-B13D-03DA-86074B31CAF1}"/>
              </a:ext>
            </a:extLst>
          </p:cNvPr>
          <p:cNvSpPr txBox="1"/>
          <p:nvPr/>
        </p:nvSpPr>
        <p:spPr>
          <a:xfrm>
            <a:off x="762000" y="4368800"/>
            <a:ext cx="2286000" cy="184666"/>
          </a:xfrm>
          <a:prstGeom prst="rect">
            <a:avLst/>
          </a:prstGeom>
          <a:noFill/>
        </p:spPr>
        <p:txBody>
          <a:bodyPr vert="horz" wrap="square" lIns="0" tIns="0" rIns="0" bIns="0" rtlCol="0">
            <a:spAutoFit/>
          </a:bodyPr>
          <a:lstStyle/>
          <a:p>
            <a:r>
              <a:rPr lang="en-US" sz="1200" b="1">
                <a:solidFill>
                  <a:srgbClr val="F68D2D"/>
                </a:solidFill>
                <a:latin typeface="Segoe UI" panose="020B0502040204020203" pitchFamily="34" charset="0"/>
              </a:rPr>
              <a:t>3-attempt retry</a:t>
            </a:r>
          </a:p>
        </p:txBody>
      </p:sp>
      <p:sp>
        <p:nvSpPr>
          <p:cNvPr id="33" name="TextBox 32">
            <a:extLst>
              <a:ext uri="{FF2B5EF4-FFF2-40B4-BE49-F238E27FC236}">
                <a16:creationId xmlns:a16="http://schemas.microsoft.com/office/drawing/2014/main" id="{74C38812-C924-ED87-112D-F770B3A3D3FC}"/>
              </a:ext>
            </a:extLst>
          </p:cNvPr>
          <p:cNvSpPr txBox="1"/>
          <p:nvPr/>
        </p:nvSpPr>
        <p:spPr>
          <a:xfrm>
            <a:off x="3175000" y="4368800"/>
            <a:ext cx="8636000" cy="169277"/>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If generated SQL fails to execute, regenerate with the error message in the next prompt.</a:t>
            </a:r>
          </a:p>
        </p:txBody>
      </p:sp>
      <p:sp>
        <p:nvSpPr>
          <p:cNvPr id="34" name="TextBox 33">
            <a:extLst>
              <a:ext uri="{FF2B5EF4-FFF2-40B4-BE49-F238E27FC236}">
                <a16:creationId xmlns:a16="http://schemas.microsoft.com/office/drawing/2014/main" id="{D78EF271-B4DD-4E78-80D1-75693F021574}"/>
              </a:ext>
            </a:extLst>
          </p:cNvPr>
          <p:cNvSpPr txBox="1"/>
          <p:nvPr/>
        </p:nvSpPr>
        <p:spPr>
          <a:xfrm>
            <a:off x="762000" y="4724400"/>
            <a:ext cx="2286000" cy="184666"/>
          </a:xfrm>
          <a:prstGeom prst="rect">
            <a:avLst/>
          </a:prstGeom>
          <a:noFill/>
        </p:spPr>
        <p:txBody>
          <a:bodyPr vert="horz" wrap="square" lIns="0" tIns="0" rIns="0" bIns="0" rtlCol="0">
            <a:spAutoFit/>
          </a:bodyPr>
          <a:lstStyle/>
          <a:p>
            <a:r>
              <a:rPr lang="en-US" sz="1200" b="1">
                <a:solidFill>
                  <a:srgbClr val="F68D2D"/>
                </a:solidFill>
                <a:latin typeface="Segoe UI" panose="020B0502040204020203" pitchFamily="34" charset="0"/>
              </a:rPr>
              <a:t>Read-only</a:t>
            </a:r>
          </a:p>
        </p:txBody>
      </p:sp>
      <p:sp>
        <p:nvSpPr>
          <p:cNvPr id="35" name="TextBox 34">
            <a:extLst>
              <a:ext uri="{FF2B5EF4-FFF2-40B4-BE49-F238E27FC236}">
                <a16:creationId xmlns:a16="http://schemas.microsoft.com/office/drawing/2014/main" id="{92B50584-C76E-8062-A304-FB4C483F7480}"/>
              </a:ext>
            </a:extLst>
          </p:cNvPr>
          <p:cNvSpPr txBox="1"/>
          <p:nvPr/>
        </p:nvSpPr>
        <p:spPr>
          <a:xfrm>
            <a:off x="3175000" y="4724400"/>
            <a:ext cx="8636000" cy="169277"/>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SELECT-only regex guard. Blocked keyword list. Read-only transaction. No caching, no history, no faking.</a:t>
            </a:r>
          </a:p>
        </p:txBody>
      </p:sp>
      <p:sp>
        <p:nvSpPr>
          <p:cNvPr id="36" name="Rectangle 35">
            <a:extLst>
              <a:ext uri="{FF2B5EF4-FFF2-40B4-BE49-F238E27FC236}">
                <a16:creationId xmlns:a16="http://schemas.microsoft.com/office/drawing/2014/main" id="{48D67F64-D93A-3502-F66B-FE4ABBE25A64}"/>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B8F6D55-7972-7E91-3DE8-42718A12C09F}"/>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38" name="TextBox 37">
            <a:extLst>
              <a:ext uri="{FF2B5EF4-FFF2-40B4-BE49-F238E27FC236}">
                <a16:creationId xmlns:a16="http://schemas.microsoft.com/office/drawing/2014/main" id="{D4E6348E-BAEC-0FF4-AD4F-567B3364E5C7}"/>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7 / 14</a:t>
            </a:r>
          </a:p>
        </p:txBody>
      </p:sp>
    </p:spTree>
    <p:extLst>
      <p:ext uri="{BB962C8B-B14F-4D97-AF65-F5344CB8AC3E}">
        <p14:creationId xmlns:p14="http://schemas.microsoft.com/office/powerpoint/2010/main" val="630489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39DDCB-F7B9-226F-AB95-30D6A4BD7673}"/>
              </a:ext>
            </a:extLst>
          </p:cNvPr>
          <p:cNvSpPr/>
          <p:nvPr/>
        </p:nvSpPr>
        <p:spPr>
          <a:xfrm>
            <a:off x="0" y="0"/>
            <a:ext cx="12192000" cy="762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67267A0-D847-8320-A761-F00C8BA5E76F}"/>
              </a:ext>
            </a:extLst>
          </p:cNvPr>
          <p:cNvSpPr txBox="1"/>
          <p:nvPr/>
        </p:nvSpPr>
        <p:spPr>
          <a:xfrm>
            <a:off x="508000" y="381000"/>
            <a:ext cx="11176000" cy="369332"/>
          </a:xfrm>
          <a:prstGeom prst="rect">
            <a:avLst/>
          </a:prstGeom>
          <a:noFill/>
        </p:spPr>
        <p:txBody>
          <a:bodyPr vert="horz" wrap="square" lIns="0" tIns="0" rIns="0" bIns="0" rtlCol="0">
            <a:spAutoFit/>
          </a:bodyPr>
          <a:lstStyle/>
          <a:p>
            <a:r>
              <a:rPr lang="en-US" sz="2400" b="1">
                <a:solidFill>
                  <a:srgbClr val="222222"/>
                </a:solidFill>
                <a:latin typeface="Segoe UI" panose="020B0502040204020203" pitchFamily="34" charset="0"/>
              </a:rPr>
              <a:t>Before the demo  -  things you should know</a:t>
            </a:r>
          </a:p>
        </p:txBody>
      </p:sp>
      <p:sp>
        <p:nvSpPr>
          <p:cNvPr id="4" name="Rectangle 3">
            <a:extLst>
              <a:ext uri="{FF2B5EF4-FFF2-40B4-BE49-F238E27FC236}">
                <a16:creationId xmlns:a16="http://schemas.microsoft.com/office/drawing/2014/main" id="{559161FE-CACF-F224-C48E-35A77D602C0E}"/>
              </a:ext>
            </a:extLst>
          </p:cNvPr>
          <p:cNvSpPr/>
          <p:nvPr/>
        </p:nvSpPr>
        <p:spPr>
          <a:xfrm>
            <a:off x="508000" y="914400"/>
            <a:ext cx="1016000" cy="381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085A0E1-CBB1-4495-420C-418AE379FD63}"/>
              </a:ext>
            </a:extLst>
          </p:cNvPr>
          <p:cNvSpPr/>
          <p:nvPr/>
        </p:nvSpPr>
        <p:spPr>
          <a:xfrm>
            <a:off x="762000" y="1536700"/>
            <a:ext cx="76200" cy="9525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E9997A0-8C6F-63E0-58F7-F83F836D8AB5}"/>
              </a:ext>
            </a:extLst>
          </p:cNvPr>
          <p:cNvSpPr txBox="1"/>
          <p:nvPr/>
        </p:nvSpPr>
        <p:spPr>
          <a:xfrm>
            <a:off x="1079500" y="1460500"/>
            <a:ext cx="10414000" cy="215444"/>
          </a:xfrm>
          <a:prstGeom prst="rect">
            <a:avLst/>
          </a:prstGeom>
          <a:noFill/>
        </p:spPr>
        <p:txBody>
          <a:bodyPr vert="horz" wrap="square" lIns="0" tIns="0" rIns="0" bIns="0" rtlCol="0">
            <a:spAutoFit/>
          </a:bodyPr>
          <a:lstStyle/>
          <a:p>
            <a:r>
              <a:rPr lang="en-US" sz="1400" b="1">
                <a:solidFill>
                  <a:srgbClr val="222222"/>
                </a:solidFill>
                <a:latin typeface="Segoe UI" panose="020B0502040204020203" pitchFamily="34" charset="0"/>
              </a:rPr>
              <a:t>It will be slow</a:t>
            </a:r>
          </a:p>
        </p:txBody>
      </p:sp>
      <p:sp>
        <p:nvSpPr>
          <p:cNvPr id="7" name="TextBox 6">
            <a:extLst>
              <a:ext uri="{FF2B5EF4-FFF2-40B4-BE49-F238E27FC236}">
                <a16:creationId xmlns:a16="http://schemas.microsoft.com/office/drawing/2014/main" id="{8C2E2EFC-35A7-FCFF-92A2-88890F4AE336}"/>
              </a:ext>
            </a:extLst>
          </p:cNvPr>
          <p:cNvSpPr txBox="1"/>
          <p:nvPr/>
        </p:nvSpPr>
        <p:spPr>
          <a:xfrm>
            <a:off x="1079500" y="1790700"/>
            <a:ext cx="10414000" cy="169277"/>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A 7B-parameter model running on 8 GB of VRAM on a workstation. Expect 30-90 seconds per question. Azure OpenAI does this in 2-4 seconds.</a:t>
            </a:r>
          </a:p>
        </p:txBody>
      </p:sp>
      <p:sp>
        <p:nvSpPr>
          <p:cNvPr id="8" name="Rectangle 7">
            <a:extLst>
              <a:ext uri="{FF2B5EF4-FFF2-40B4-BE49-F238E27FC236}">
                <a16:creationId xmlns:a16="http://schemas.microsoft.com/office/drawing/2014/main" id="{322D9F3A-65E1-BF8A-0DBB-92821150EA05}"/>
              </a:ext>
            </a:extLst>
          </p:cNvPr>
          <p:cNvSpPr/>
          <p:nvPr/>
        </p:nvSpPr>
        <p:spPr>
          <a:xfrm>
            <a:off x="762000" y="2743200"/>
            <a:ext cx="76200" cy="9525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71BC118-9EF4-907B-1D4E-01229670A859}"/>
              </a:ext>
            </a:extLst>
          </p:cNvPr>
          <p:cNvSpPr txBox="1"/>
          <p:nvPr/>
        </p:nvSpPr>
        <p:spPr>
          <a:xfrm>
            <a:off x="1079500" y="2667000"/>
            <a:ext cx="10414000" cy="215444"/>
          </a:xfrm>
          <a:prstGeom prst="rect">
            <a:avLst/>
          </a:prstGeom>
          <a:noFill/>
        </p:spPr>
        <p:txBody>
          <a:bodyPr vert="horz" wrap="square" lIns="0" tIns="0" rIns="0" bIns="0" rtlCol="0">
            <a:spAutoFit/>
          </a:bodyPr>
          <a:lstStyle/>
          <a:p>
            <a:r>
              <a:rPr lang="en-US" sz="1400" b="1">
                <a:solidFill>
                  <a:srgbClr val="222222"/>
                </a:solidFill>
                <a:latin typeface="Segoe UI" panose="020B0502040204020203" pitchFamily="34" charset="0"/>
              </a:rPr>
              <a:t>It will sometimes fail</a:t>
            </a:r>
          </a:p>
        </p:txBody>
      </p:sp>
      <p:sp>
        <p:nvSpPr>
          <p:cNvPr id="10" name="TextBox 9">
            <a:extLst>
              <a:ext uri="{FF2B5EF4-FFF2-40B4-BE49-F238E27FC236}">
                <a16:creationId xmlns:a16="http://schemas.microsoft.com/office/drawing/2014/main" id="{4453EBBE-92C0-5115-B7F8-3DB076E3FA3D}"/>
              </a:ext>
            </a:extLst>
          </p:cNvPr>
          <p:cNvSpPr txBox="1"/>
          <p:nvPr/>
        </p:nvSpPr>
        <p:spPr>
          <a:xfrm>
            <a:off x="1079500" y="2997200"/>
            <a:ext cx="10414000" cy="169277"/>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Local models hallucinate. The safety guard catches destructive SQL. The retry loop recovers from most execution errors. Some questions still won't land cleanly.</a:t>
            </a:r>
          </a:p>
        </p:txBody>
      </p:sp>
      <p:sp>
        <p:nvSpPr>
          <p:cNvPr id="11" name="Rectangle 10">
            <a:extLst>
              <a:ext uri="{FF2B5EF4-FFF2-40B4-BE49-F238E27FC236}">
                <a16:creationId xmlns:a16="http://schemas.microsoft.com/office/drawing/2014/main" id="{A1CA10C6-1005-5683-2615-31B008B5268D}"/>
              </a:ext>
            </a:extLst>
          </p:cNvPr>
          <p:cNvSpPr/>
          <p:nvPr/>
        </p:nvSpPr>
        <p:spPr>
          <a:xfrm>
            <a:off x="762000" y="3949700"/>
            <a:ext cx="76200" cy="9525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780E00A-F6BF-0C3B-738F-2564839EEB54}"/>
              </a:ext>
            </a:extLst>
          </p:cNvPr>
          <p:cNvSpPr txBox="1"/>
          <p:nvPr/>
        </p:nvSpPr>
        <p:spPr>
          <a:xfrm>
            <a:off x="1079500" y="3873500"/>
            <a:ext cx="10414000" cy="215444"/>
          </a:xfrm>
          <a:prstGeom prst="rect">
            <a:avLst/>
          </a:prstGeom>
          <a:noFill/>
        </p:spPr>
        <p:txBody>
          <a:bodyPr vert="horz" wrap="square" lIns="0" tIns="0" rIns="0" bIns="0" rtlCol="0">
            <a:spAutoFit/>
          </a:bodyPr>
          <a:lstStyle/>
          <a:p>
            <a:r>
              <a:rPr lang="en-US" sz="1400" b="1">
                <a:solidFill>
                  <a:srgbClr val="222222"/>
                </a:solidFill>
                <a:latin typeface="Segoe UI" panose="020B0502040204020203" pitchFamily="34" charset="0"/>
              </a:rPr>
              <a:t>It is not a replacement for reports</a:t>
            </a:r>
          </a:p>
        </p:txBody>
      </p:sp>
      <p:sp>
        <p:nvSpPr>
          <p:cNvPr id="13" name="TextBox 12">
            <a:extLst>
              <a:ext uri="{FF2B5EF4-FFF2-40B4-BE49-F238E27FC236}">
                <a16:creationId xmlns:a16="http://schemas.microsoft.com/office/drawing/2014/main" id="{E3F37943-22AF-B3BE-FEB0-DC0F92E48639}"/>
              </a:ext>
            </a:extLst>
          </p:cNvPr>
          <p:cNvSpPr txBox="1"/>
          <p:nvPr/>
        </p:nvSpPr>
        <p:spPr>
          <a:xfrm>
            <a:off x="1079500" y="4203700"/>
            <a:ext cx="10414000" cy="338554"/>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This is a research aid and a learning aid. The SQL it returns helps users understand how to ask their own questions. Decisions should still be grounded in reviewed reports.</a:t>
            </a:r>
          </a:p>
        </p:txBody>
      </p:sp>
      <p:sp>
        <p:nvSpPr>
          <p:cNvPr id="14" name="Rectangle 13">
            <a:extLst>
              <a:ext uri="{FF2B5EF4-FFF2-40B4-BE49-F238E27FC236}">
                <a16:creationId xmlns:a16="http://schemas.microsoft.com/office/drawing/2014/main" id="{6A9F0C76-D30C-5A60-A42D-3AA25E750A89}"/>
              </a:ext>
            </a:extLst>
          </p:cNvPr>
          <p:cNvSpPr/>
          <p:nvPr/>
        </p:nvSpPr>
        <p:spPr>
          <a:xfrm>
            <a:off x="762000" y="5156200"/>
            <a:ext cx="76200" cy="9525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5A6FD00-936F-C672-6B7C-A6EBFB0931C7}"/>
              </a:ext>
            </a:extLst>
          </p:cNvPr>
          <p:cNvSpPr txBox="1"/>
          <p:nvPr/>
        </p:nvSpPr>
        <p:spPr>
          <a:xfrm>
            <a:off x="1079500" y="5080000"/>
            <a:ext cx="10414000" cy="215444"/>
          </a:xfrm>
          <a:prstGeom prst="rect">
            <a:avLst/>
          </a:prstGeom>
          <a:noFill/>
        </p:spPr>
        <p:txBody>
          <a:bodyPr vert="horz" wrap="square" lIns="0" tIns="0" rIns="0" bIns="0" rtlCol="0">
            <a:spAutoFit/>
          </a:bodyPr>
          <a:lstStyle/>
          <a:p>
            <a:r>
              <a:rPr lang="en-US" sz="1400" b="1">
                <a:solidFill>
                  <a:srgbClr val="222222"/>
                </a:solidFill>
                <a:latin typeface="Segoe UI" panose="020B0502040204020203" pitchFamily="34" charset="0"/>
              </a:rPr>
              <a:t>It is a learning shortcut</a:t>
            </a:r>
          </a:p>
        </p:txBody>
      </p:sp>
      <p:sp>
        <p:nvSpPr>
          <p:cNvPr id="16" name="TextBox 15">
            <a:extLst>
              <a:ext uri="{FF2B5EF4-FFF2-40B4-BE49-F238E27FC236}">
                <a16:creationId xmlns:a16="http://schemas.microsoft.com/office/drawing/2014/main" id="{9126194F-3B53-DE84-2942-08AB4CFBE83C}"/>
              </a:ext>
            </a:extLst>
          </p:cNvPr>
          <p:cNvSpPr txBox="1"/>
          <p:nvPr/>
        </p:nvSpPr>
        <p:spPr>
          <a:xfrm>
            <a:off x="1079500" y="5410200"/>
            <a:ext cx="10414000" cy="169277"/>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Two-year ramp on our data model? This lets a new hire ask 'what tables do I join to find X' and get a working answer today.</a:t>
            </a:r>
          </a:p>
        </p:txBody>
      </p:sp>
      <p:sp>
        <p:nvSpPr>
          <p:cNvPr id="17" name="Rectangle 16">
            <a:extLst>
              <a:ext uri="{FF2B5EF4-FFF2-40B4-BE49-F238E27FC236}">
                <a16:creationId xmlns:a16="http://schemas.microsoft.com/office/drawing/2014/main" id="{E0206AF4-A2FE-18B8-5CC6-DCBA0286E7E9}"/>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91F630B-D5A4-B88D-6475-E48398F693F1}"/>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19" name="TextBox 18">
            <a:extLst>
              <a:ext uri="{FF2B5EF4-FFF2-40B4-BE49-F238E27FC236}">
                <a16:creationId xmlns:a16="http://schemas.microsoft.com/office/drawing/2014/main" id="{98AE7F72-C0AC-FB94-946B-F32AC6429DD2}"/>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8 / 14</a:t>
            </a:r>
          </a:p>
        </p:txBody>
      </p:sp>
    </p:spTree>
    <p:extLst>
      <p:ext uri="{BB962C8B-B14F-4D97-AF65-F5344CB8AC3E}">
        <p14:creationId xmlns:p14="http://schemas.microsoft.com/office/powerpoint/2010/main" val="3757433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E817B9-9C0E-2427-D8A9-24C83E61C7CB}"/>
              </a:ext>
            </a:extLst>
          </p:cNvPr>
          <p:cNvSpPr/>
          <p:nvPr/>
        </p:nvSpPr>
        <p:spPr>
          <a:xfrm>
            <a:off x="0" y="0"/>
            <a:ext cx="12192000" cy="762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F04CA66-1480-D904-FC52-B7B5F5988479}"/>
              </a:ext>
            </a:extLst>
          </p:cNvPr>
          <p:cNvSpPr txBox="1"/>
          <p:nvPr/>
        </p:nvSpPr>
        <p:spPr>
          <a:xfrm>
            <a:off x="508000" y="381000"/>
            <a:ext cx="11176000" cy="400110"/>
          </a:xfrm>
          <a:prstGeom prst="rect">
            <a:avLst/>
          </a:prstGeom>
          <a:noFill/>
        </p:spPr>
        <p:txBody>
          <a:bodyPr vert="horz" wrap="square" lIns="0" tIns="0" rIns="0" bIns="0" rtlCol="0">
            <a:spAutoFit/>
          </a:bodyPr>
          <a:lstStyle/>
          <a:p>
            <a:r>
              <a:rPr lang="en-US" sz="2600" b="1">
                <a:solidFill>
                  <a:srgbClr val="222222"/>
                </a:solidFill>
                <a:latin typeface="Segoe UI" panose="020B0502040204020203" pitchFamily="34" charset="0"/>
              </a:rPr>
              <a:t>Live demo  -  three questions</a:t>
            </a:r>
          </a:p>
        </p:txBody>
      </p:sp>
      <p:sp>
        <p:nvSpPr>
          <p:cNvPr id="4" name="Rectangle 3">
            <a:extLst>
              <a:ext uri="{FF2B5EF4-FFF2-40B4-BE49-F238E27FC236}">
                <a16:creationId xmlns:a16="http://schemas.microsoft.com/office/drawing/2014/main" id="{2CF84F59-5ABF-B564-E69E-896A5EDE2CE2}"/>
              </a:ext>
            </a:extLst>
          </p:cNvPr>
          <p:cNvSpPr/>
          <p:nvPr/>
        </p:nvSpPr>
        <p:spPr>
          <a:xfrm>
            <a:off x="508000" y="914400"/>
            <a:ext cx="1016000" cy="381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0DB7C1A-58DB-C65C-0AD1-EE747694EBCB}"/>
              </a:ext>
            </a:extLst>
          </p:cNvPr>
          <p:cNvSpPr txBox="1"/>
          <p:nvPr/>
        </p:nvSpPr>
        <p:spPr>
          <a:xfrm>
            <a:off x="508000" y="990600"/>
            <a:ext cx="11176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Each question is pre-loaded in a Postman tab. I'll also take one question from the audience.</a:t>
            </a:r>
          </a:p>
        </p:txBody>
      </p:sp>
      <p:sp>
        <p:nvSpPr>
          <p:cNvPr id="6" name="Rectangle: Rounded Corners 5">
            <a:extLst>
              <a:ext uri="{FF2B5EF4-FFF2-40B4-BE49-F238E27FC236}">
                <a16:creationId xmlns:a16="http://schemas.microsoft.com/office/drawing/2014/main" id="{794B706F-8681-9A90-EB6B-F941BD2F4570}"/>
              </a:ext>
            </a:extLst>
          </p:cNvPr>
          <p:cNvSpPr/>
          <p:nvPr/>
        </p:nvSpPr>
        <p:spPr>
          <a:xfrm>
            <a:off x="508000" y="1460500"/>
            <a:ext cx="11176000" cy="1460500"/>
          </a:xfrm>
          <a:prstGeom prst="roundRect">
            <a:avLst>
              <a:gd name="adj" fmla="val 10000"/>
            </a:avLst>
          </a:prstGeom>
          <a:solidFill>
            <a:srgbClr val="FFFFFF"/>
          </a:solidFill>
          <a:ln w="25400">
            <a:solidFill>
              <a:srgbClr val="4C9E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A209BBD-155F-49EE-8F60-1EE1AB44E098}"/>
              </a:ext>
            </a:extLst>
          </p:cNvPr>
          <p:cNvSpPr/>
          <p:nvPr/>
        </p:nvSpPr>
        <p:spPr>
          <a:xfrm>
            <a:off x="508000" y="1460500"/>
            <a:ext cx="152400" cy="1460500"/>
          </a:xfrm>
          <a:prstGeom prst="rect">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579304B-E71F-739B-C98E-26F315200626}"/>
              </a:ext>
            </a:extLst>
          </p:cNvPr>
          <p:cNvSpPr txBox="1"/>
          <p:nvPr/>
        </p:nvSpPr>
        <p:spPr>
          <a:xfrm>
            <a:off x="825500" y="1612900"/>
            <a:ext cx="1524000" cy="215444"/>
          </a:xfrm>
          <a:prstGeom prst="rect">
            <a:avLst/>
          </a:prstGeom>
          <a:noFill/>
        </p:spPr>
        <p:txBody>
          <a:bodyPr vert="horz" wrap="square" lIns="0" tIns="0" rIns="0" bIns="0" rtlCol="0">
            <a:spAutoFit/>
          </a:bodyPr>
          <a:lstStyle/>
          <a:p>
            <a:r>
              <a:rPr lang="en-US" sz="1400" b="1">
                <a:solidFill>
                  <a:srgbClr val="4C9E45"/>
                </a:solidFill>
                <a:latin typeface="Segoe UI" panose="020B0502040204020203" pitchFamily="34" charset="0"/>
              </a:rPr>
              <a:t>Easy</a:t>
            </a:r>
          </a:p>
        </p:txBody>
      </p:sp>
      <p:sp>
        <p:nvSpPr>
          <p:cNvPr id="9" name="TextBox 8">
            <a:extLst>
              <a:ext uri="{FF2B5EF4-FFF2-40B4-BE49-F238E27FC236}">
                <a16:creationId xmlns:a16="http://schemas.microsoft.com/office/drawing/2014/main" id="{43643806-3EA2-0D37-78E8-DC905EEF6556}"/>
              </a:ext>
            </a:extLst>
          </p:cNvPr>
          <p:cNvSpPr txBox="1"/>
          <p:nvPr/>
        </p:nvSpPr>
        <p:spPr>
          <a:xfrm>
            <a:off x="825500" y="1917700"/>
            <a:ext cx="10414000" cy="246221"/>
          </a:xfrm>
          <a:prstGeom prst="rect">
            <a:avLst/>
          </a:prstGeom>
          <a:noFill/>
        </p:spPr>
        <p:txBody>
          <a:bodyPr vert="horz" wrap="square" lIns="0" tIns="0" rIns="0" bIns="0" rtlCol="0">
            <a:spAutoFit/>
          </a:bodyPr>
          <a:lstStyle/>
          <a:p>
            <a:r>
              <a:rPr lang="en-US" sz="1600" b="1">
                <a:solidFill>
                  <a:srgbClr val="222222"/>
                </a:solidFill>
                <a:latin typeface="Segoe UI" panose="020B0502040204020203" pitchFamily="34" charset="0"/>
              </a:rPr>
              <a:t>"How many products do we sell?"</a:t>
            </a:r>
          </a:p>
        </p:txBody>
      </p:sp>
      <p:sp>
        <p:nvSpPr>
          <p:cNvPr id="10" name="TextBox 9">
            <a:extLst>
              <a:ext uri="{FF2B5EF4-FFF2-40B4-BE49-F238E27FC236}">
                <a16:creationId xmlns:a16="http://schemas.microsoft.com/office/drawing/2014/main" id="{AC4FE1F8-ED06-FDF9-7B1F-8236357B9BDE}"/>
              </a:ext>
            </a:extLst>
          </p:cNvPr>
          <p:cNvSpPr txBox="1"/>
          <p:nvPr/>
        </p:nvSpPr>
        <p:spPr>
          <a:xfrm>
            <a:off x="825500" y="2374900"/>
            <a:ext cx="10414000" cy="169277"/>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Single table, single aggregate. Validates the pipeline end-to-end.</a:t>
            </a:r>
          </a:p>
        </p:txBody>
      </p:sp>
      <p:sp>
        <p:nvSpPr>
          <p:cNvPr id="11" name="Rectangle: Rounded Corners 10">
            <a:extLst>
              <a:ext uri="{FF2B5EF4-FFF2-40B4-BE49-F238E27FC236}">
                <a16:creationId xmlns:a16="http://schemas.microsoft.com/office/drawing/2014/main" id="{E56F0A1C-4B0B-2EC6-4C5B-15A23FEC42EF}"/>
              </a:ext>
            </a:extLst>
          </p:cNvPr>
          <p:cNvSpPr/>
          <p:nvPr/>
        </p:nvSpPr>
        <p:spPr>
          <a:xfrm>
            <a:off x="508000" y="3048000"/>
            <a:ext cx="11176000" cy="1460500"/>
          </a:xfrm>
          <a:prstGeom prst="roundRect">
            <a:avLst>
              <a:gd name="adj" fmla="val 10000"/>
            </a:avLst>
          </a:prstGeom>
          <a:solidFill>
            <a:srgbClr val="FFFFFF"/>
          </a:solidFill>
          <a:ln w="25400">
            <a:solidFill>
              <a:srgbClr val="F68D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052B65-F3B6-BB5D-5BE5-F2366F06215A}"/>
              </a:ext>
            </a:extLst>
          </p:cNvPr>
          <p:cNvSpPr/>
          <p:nvPr/>
        </p:nvSpPr>
        <p:spPr>
          <a:xfrm>
            <a:off x="508000" y="3048000"/>
            <a:ext cx="152400" cy="1460500"/>
          </a:xfrm>
          <a:prstGeom prst="rect">
            <a:avLst/>
          </a:prstGeom>
          <a:solidFill>
            <a:srgbClr val="F68D2D"/>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46FED9C-D7C3-6DA8-BFFA-B801BDE1BA70}"/>
              </a:ext>
            </a:extLst>
          </p:cNvPr>
          <p:cNvSpPr txBox="1"/>
          <p:nvPr/>
        </p:nvSpPr>
        <p:spPr>
          <a:xfrm>
            <a:off x="825500" y="3200400"/>
            <a:ext cx="1524000" cy="215444"/>
          </a:xfrm>
          <a:prstGeom prst="rect">
            <a:avLst/>
          </a:prstGeom>
          <a:noFill/>
        </p:spPr>
        <p:txBody>
          <a:bodyPr vert="horz" wrap="square" lIns="0" tIns="0" rIns="0" bIns="0" rtlCol="0">
            <a:spAutoFit/>
          </a:bodyPr>
          <a:lstStyle/>
          <a:p>
            <a:r>
              <a:rPr lang="en-US" sz="1400" b="1">
                <a:solidFill>
                  <a:srgbClr val="F68D2D"/>
                </a:solidFill>
                <a:latin typeface="Segoe UI" panose="020B0502040204020203" pitchFamily="34" charset="0"/>
              </a:rPr>
              <a:t>Medium</a:t>
            </a:r>
          </a:p>
        </p:txBody>
      </p:sp>
      <p:sp>
        <p:nvSpPr>
          <p:cNvPr id="14" name="TextBox 13">
            <a:extLst>
              <a:ext uri="{FF2B5EF4-FFF2-40B4-BE49-F238E27FC236}">
                <a16:creationId xmlns:a16="http://schemas.microsoft.com/office/drawing/2014/main" id="{EE04646F-FF13-95FA-DCEA-6F3F69AE8B8A}"/>
              </a:ext>
            </a:extLst>
          </p:cNvPr>
          <p:cNvSpPr txBox="1"/>
          <p:nvPr/>
        </p:nvSpPr>
        <p:spPr>
          <a:xfrm>
            <a:off x="825500" y="3505200"/>
            <a:ext cx="10414000" cy="246221"/>
          </a:xfrm>
          <a:prstGeom prst="rect">
            <a:avLst/>
          </a:prstGeom>
          <a:noFill/>
        </p:spPr>
        <p:txBody>
          <a:bodyPr vert="horz" wrap="square" lIns="0" tIns="0" rIns="0" bIns="0" rtlCol="0">
            <a:spAutoFit/>
          </a:bodyPr>
          <a:lstStyle/>
          <a:p>
            <a:r>
              <a:rPr lang="en-US" sz="1600" b="1">
                <a:solidFill>
                  <a:srgbClr val="222222"/>
                </a:solidFill>
                <a:latin typeface="Segoe UI" panose="020B0502040204020203" pitchFamily="34" charset="0"/>
              </a:rPr>
              <a:t>"What are our top 5 product categories by total sales amount?"</a:t>
            </a:r>
          </a:p>
        </p:txBody>
      </p:sp>
      <p:sp>
        <p:nvSpPr>
          <p:cNvPr id="15" name="TextBox 14">
            <a:extLst>
              <a:ext uri="{FF2B5EF4-FFF2-40B4-BE49-F238E27FC236}">
                <a16:creationId xmlns:a16="http://schemas.microsoft.com/office/drawing/2014/main" id="{2206D705-984F-555B-32C3-2936575009B1}"/>
              </a:ext>
            </a:extLst>
          </p:cNvPr>
          <p:cNvSpPr txBox="1"/>
          <p:nvPr/>
        </p:nvSpPr>
        <p:spPr>
          <a:xfrm>
            <a:off x="825500" y="3962400"/>
            <a:ext cx="10414000" cy="169277"/>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Multi-table join, GROUP BY, ORDER BY, TOP. This is the FK chain walking test.</a:t>
            </a:r>
          </a:p>
        </p:txBody>
      </p:sp>
      <p:sp>
        <p:nvSpPr>
          <p:cNvPr id="16" name="Rectangle: Rounded Corners 15">
            <a:extLst>
              <a:ext uri="{FF2B5EF4-FFF2-40B4-BE49-F238E27FC236}">
                <a16:creationId xmlns:a16="http://schemas.microsoft.com/office/drawing/2014/main" id="{378BDDCB-6BED-1C8A-CDF6-148E50DAF1E0}"/>
              </a:ext>
            </a:extLst>
          </p:cNvPr>
          <p:cNvSpPr/>
          <p:nvPr/>
        </p:nvSpPr>
        <p:spPr>
          <a:xfrm>
            <a:off x="508000" y="4635500"/>
            <a:ext cx="11176000" cy="1460500"/>
          </a:xfrm>
          <a:prstGeom prst="roundRect">
            <a:avLst>
              <a:gd name="adj" fmla="val 10000"/>
            </a:avLst>
          </a:prstGeom>
          <a:solidFill>
            <a:srgbClr val="FFFFFF"/>
          </a:solidFill>
          <a:ln w="25400">
            <a:solidFill>
              <a:srgbClr val="E325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44DCF18-9ED4-706C-88B7-0F19496F5839}"/>
              </a:ext>
            </a:extLst>
          </p:cNvPr>
          <p:cNvSpPr/>
          <p:nvPr/>
        </p:nvSpPr>
        <p:spPr>
          <a:xfrm>
            <a:off x="508000" y="4635500"/>
            <a:ext cx="152400" cy="1460500"/>
          </a:xfrm>
          <a:prstGeom prst="rect">
            <a:avLst/>
          </a:prstGeom>
          <a:solidFill>
            <a:srgbClr val="E3252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8A2C29F-6865-59FE-C02F-EC03D52C49D2}"/>
              </a:ext>
            </a:extLst>
          </p:cNvPr>
          <p:cNvSpPr txBox="1"/>
          <p:nvPr/>
        </p:nvSpPr>
        <p:spPr>
          <a:xfrm>
            <a:off x="825500" y="4787900"/>
            <a:ext cx="1524000" cy="215444"/>
          </a:xfrm>
          <a:prstGeom prst="rect">
            <a:avLst/>
          </a:prstGeom>
          <a:noFill/>
        </p:spPr>
        <p:txBody>
          <a:bodyPr vert="horz" wrap="square" lIns="0" tIns="0" rIns="0" bIns="0" rtlCol="0">
            <a:spAutoFit/>
          </a:bodyPr>
          <a:lstStyle/>
          <a:p>
            <a:r>
              <a:rPr lang="en-US" sz="1400" b="1">
                <a:solidFill>
                  <a:srgbClr val="E32526"/>
                </a:solidFill>
                <a:latin typeface="Segoe UI" panose="020B0502040204020203" pitchFamily="34" charset="0"/>
              </a:rPr>
              <a:t>Hard</a:t>
            </a:r>
          </a:p>
        </p:txBody>
      </p:sp>
      <p:sp>
        <p:nvSpPr>
          <p:cNvPr id="19" name="TextBox 18">
            <a:extLst>
              <a:ext uri="{FF2B5EF4-FFF2-40B4-BE49-F238E27FC236}">
                <a16:creationId xmlns:a16="http://schemas.microsoft.com/office/drawing/2014/main" id="{ABE080C4-A080-A4BB-A467-7A3480067B55}"/>
              </a:ext>
            </a:extLst>
          </p:cNvPr>
          <p:cNvSpPr txBox="1"/>
          <p:nvPr/>
        </p:nvSpPr>
        <p:spPr>
          <a:xfrm>
            <a:off x="825500" y="5092700"/>
            <a:ext cx="10414000" cy="246221"/>
          </a:xfrm>
          <a:prstGeom prst="rect">
            <a:avLst/>
          </a:prstGeom>
          <a:noFill/>
        </p:spPr>
        <p:txBody>
          <a:bodyPr vert="horz" wrap="square" lIns="0" tIns="0" rIns="0" bIns="0" rtlCol="0">
            <a:spAutoFit/>
          </a:bodyPr>
          <a:lstStyle/>
          <a:p>
            <a:r>
              <a:rPr lang="en-US" sz="1600" b="1">
                <a:solidFill>
                  <a:srgbClr val="222222"/>
                </a:solidFill>
                <a:latin typeface="Segoe UI" panose="020B0502040204020203" pitchFamily="34" charset="0"/>
              </a:rPr>
              <a:t>"Which resellers had the highest year-over-year sales growth between 2012 and 2013?"</a:t>
            </a:r>
          </a:p>
        </p:txBody>
      </p:sp>
      <p:sp>
        <p:nvSpPr>
          <p:cNvPr id="20" name="TextBox 19">
            <a:extLst>
              <a:ext uri="{FF2B5EF4-FFF2-40B4-BE49-F238E27FC236}">
                <a16:creationId xmlns:a16="http://schemas.microsoft.com/office/drawing/2014/main" id="{F69109DD-1535-C1AA-66A0-297736FFAE26}"/>
              </a:ext>
            </a:extLst>
          </p:cNvPr>
          <p:cNvSpPr txBox="1"/>
          <p:nvPr/>
        </p:nvSpPr>
        <p:spPr>
          <a:xfrm>
            <a:off x="825500" y="5549900"/>
            <a:ext cx="10414000" cy="169277"/>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Date arithmetic, self-join or CTE, percentage calculation, filtering. The stress test.</a:t>
            </a:r>
          </a:p>
        </p:txBody>
      </p:sp>
      <p:sp>
        <p:nvSpPr>
          <p:cNvPr id="21" name="Rectangle 20">
            <a:extLst>
              <a:ext uri="{FF2B5EF4-FFF2-40B4-BE49-F238E27FC236}">
                <a16:creationId xmlns:a16="http://schemas.microsoft.com/office/drawing/2014/main" id="{24E8091D-F9EF-9224-1F89-2EE50DE3004A}"/>
              </a:ext>
            </a:extLst>
          </p:cNvPr>
          <p:cNvSpPr/>
          <p:nvPr/>
        </p:nvSpPr>
        <p:spPr>
          <a:xfrm>
            <a:off x="508000" y="6286500"/>
            <a:ext cx="11176000" cy="254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587910E-C8F9-F482-7D97-77FB8638C00D}"/>
              </a:ext>
            </a:extLst>
          </p:cNvPr>
          <p:cNvSpPr txBox="1"/>
          <p:nvPr/>
        </p:nvSpPr>
        <p:spPr>
          <a:xfrm>
            <a:off x="508000" y="6350000"/>
            <a:ext cx="11176000" cy="184666"/>
          </a:xfrm>
          <a:prstGeom prst="rect">
            <a:avLst/>
          </a:prstGeom>
          <a:noFill/>
        </p:spPr>
        <p:txBody>
          <a:bodyPr vert="horz" wrap="square" lIns="0" tIns="0" rIns="0" bIns="0" rtlCol="0">
            <a:spAutoFit/>
          </a:bodyPr>
          <a:lstStyle/>
          <a:p>
            <a:r>
              <a:rPr lang="en-US" sz="1200" b="1">
                <a:solidFill>
                  <a:srgbClr val="6B4990"/>
                </a:solidFill>
                <a:latin typeface="Segoe UI" panose="020B0502040204020203" pitchFamily="34" charset="0"/>
              </a:rPr>
              <a:t>Plus one audience question  -  bring your best AdventureWorks curveball.</a:t>
            </a:r>
          </a:p>
        </p:txBody>
      </p:sp>
      <p:sp>
        <p:nvSpPr>
          <p:cNvPr id="23" name="Rectangle 22">
            <a:extLst>
              <a:ext uri="{FF2B5EF4-FFF2-40B4-BE49-F238E27FC236}">
                <a16:creationId xmlns:a16="http://schemas.microsoft.com/office/drawing/2014/main" id="{943DD9FF-63DA-E564-2D9F-FC1F3A7A7931}"/>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76E0EE0-F1EE-1E4E-5DE4-0D2FC3173BA3}"/>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25" name="TextBox 24">
            <a:extLst>
              <a:ext uri="{FF2B5EF4-FFF2-40B4-BE49-F238E27FC236}">
                <a16:creationId xmlns:a16="http://schemas.microsoft.com/office/drawing/2014/main" id="{DDA7EB7D-F849-4A23-D2AD-04B742086B8B}"/>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9 / 14</a:t>
            </a:r>
          </a:p>
        </p:txBody>
      </p:sp>
    </p:spTree>
    <p:extLst>
      <p:ext uri="{BB962C8B-B14F-4D97-AF65-F5344CB8AC3E}">
        <p14:creationId xmlns:p14="http://schemas.microsoft.com/office/powerpoint/2010/main" val="61136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2222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8F9729-F9A5-2570-E8C3-88917DA33239}"/>
              </a:ext>
            </a:extLst>
          </p:cNvPr>
          <p:cNvSpPr txBox="1"/>
          <p:nvPr/>
        </p:nvSpPr>
        <p:spPr>
          <a:xfrm>
            <a:off x="508000" y="2540000"/>
            <a:ext cx="11176000" cy="1477328"/>
          </a:xfrm>
          <a:prstGeom prst="rect">
            <a:avLst/>
          </a:prstGeom>
          <a:noFill/>
        </p:spPr>
        <p:txBody>
          <a:bodyPr vert="horz" wrap="square" lIns="0" tIns="0" rIns="0" bIns="0" rtlCol="0">
            <a:spAutoFit/>
          </a:bodyPr>
          <a:lstStyle/>
          <a:p>
            <a:r>
              <a:rPr lang="en-US" sz="9600" b="1">
                <a:solidFill>
                  <a:srgbClr val="FFFFFF"/>
                </a:solidFill>
                <a:latin typeface="Segoe UI" panose="020B0502040204020203" pitchFamily="34" charset="0"/>
              </a:rPr>
              <a:t>DEMO</a:t>
            </a:r>
          </a:p>
        </p:txBody>
      </p:sp>
      <p:sp>
        <p:nvSpPr>
          <p:cNvPr id="3" name="TextBox 2">
            <a:extLst>
              <a:ext uri="{FF2B5EF4-FFF2-40B4-BE49-F238E27FC236}">
                <a16:creationId xmlns:a16="http://schemas.microsoft.com/office/drawing/2014/main" id="{261CECFD-5B84-199F-D6DC-238C314852BB}"/>
              </a:ext>
            </a:extLst>
          </p:cNvPr>
          <p:cNvSpPr txBox="1"/>
          <p:nvPr/>
        </p:nvSpPr>
        <p:spPr>
          <a:xfrm>
            <a:off x="508000" y="3937000"/>
            <a:ext cx="11176000" cy="369332"/>
          </a:xfrm>
          <a:prstGeom prst="rect">
            <a:avLst/>
          </a:prstGeom>
          <a:noFill/>
        </p:spPr>
        <p:txBody>
          <a:bodyPr vert="horz" wrap="square" lIns="0" tIns="0" rIns="0" bIns="0" rtlCol="0">
            <a:spAutoFit/>
          </a:bodyPr>
          <a:lstStyle/>
          <a:p>
            <a:r>
              <a:rPr lang="en-US" sz="2400">
                <a:solidFill>
                  <a:srgbClr val="DCDCDC"/>
                </a:solidFill>
                <a:latin typeface="Segoe UI" panose="020B0502040204020203" pitchFamily="34" charset="0"/>
              </a:rPr>
              <a:t>Switch to Postman</a:t>
            </a:r>
          </a:p>
        </p:txBody>
      </p:sp>
      <p:sp>
        <p:nvSpPr>
          <p:cNvPr id="4" name="Rectangle 3">
            <a:extLst>
              <a:ext uri="{FF2B5EF4-FFF2-40B4-BE49-F238E27FC236}">
                <a16:creationId xmlns:a16="http://schemas.microsoft.com/office/drawing/2014/main" id="{F8B4A1C6-658B-0860-4E82-E48B524C7AF2}"/>
              </a:ext>
            </a:extLst>
          </p:cNvPr>
          <p:cNvSpPr/>
          <p:nvPr/>
        </p:nvSpPr>
        <p:spPr>
          <a:xfrm>
            <a:off x="5461000" y="4699000"/>
            <a:ext cx="1270000" cy="38100"/>
          </a:xfrm>
          <a:prstGeom prst="rect">
            <a:avLst/>
          </a:prstGeom>
          <a:solidFill>
            <a:srgbClr val="F68D2D"/>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0B7E16D-990A-42CE-44FD-CD69F3701F84}"/>
              </a:ext>
            </a:extLst>
          </p:cNvPr>
          <p:cNvSpPr txBox="1"/>
          <p:nvPr/>
        </p:nvSpPr>
        <p:spPr>
          <a:xfrm>
            <a:off x="508000" y="4953000"/>
            <a:ext cx="11176000" cy="215444"/>
          </a:xfrm>
          <a:prstGeom prst="rect">
            <a:avLst/>
          </a:prstGeom>
          <a:noFill/>
        </p:spPr>
        <p:txBody>
          <a:bodyPr vert="horz" wrap="square" lIns="0" tIns="0" rIns="0" bIns="0" rtlCol="0">
            <a:spAutoFit/>
          </a:bodyPr>
          <a:lstStyle/>
          <a:p>
            <a:r>
              <a:rPr lang="en-US" sz="1400">
                <a:solidFill>
                  <a:srgbClr val="B4B4B4"/>
                </a:solidFill>
                <a:latin typeface="Segoe UI" panose="020B0502040204020203" pitchFamily="34" charset="0"/>
              </a:rPr>
              <a:t>approx. 10 minutes</a:t>
            </a:r>
          </a:p>
        </p:txBody>
      </p:sp>
      <p:sp>
        <p:nvSpPr>
          <p:cNvPr id="6" name="Rectangle 5">
            <a:extLst>
              <a:ext uri="{FF2B5EF4-FFF2-40B4-BE49-F238E27FC236}">
                <a16:creationId xmlns:a16="http://schemas.microsoft.com/office/drawing/2014/main" id="{77947759-9D42-5767-D791-EFFE88CC4C4D}"/>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8C32524-3472-76D4-5D3C-AF73A84C9839}"/>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8" name="TextBox 7">
            <a:extLst>
              <a:ext uri="{FF2B5EF4-FFF2-40B4-BE49-F238E27FC236}">
                <a16:creationId xmlns:a16="http://schemas.microsoft.com/office/drawing/2014/main" id="{A824EA23-49F0-AD2F-BC58-2ED8D8F61046}"/>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10 / 14</a:t>
            </a:r>
          </a:p>
        </p:txBody>
      </p:sp>
    </p:spTree>
    <p:extLst>
      <p:ext uri="{BB962C8B-B14F-4D97-AF65-F5344CB8AC3E}">
        <p14:creationId xmlns:p14="http://schemas.microsoft.com/office/powerpoint/2010/main" val="2501844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859BD-D81C-37A5-1A18-40F3C9D0DE5E}"/>
              </a:ext>
            </a:extLst>
          </p:cNvPr>
          <p:cNvSpPr/>
          <p:nvPr/>
        </p:nvSpPr>
        <p:spPr>
          <a:xfrm>
            <a:off x="0" y="0"/>
            <a:ext cx="12192000" cy="762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9D46DA-0D52-E834-F09D-C05A78D29CCF}"/>
              </a:ext>
            </a:extLst>
          </p:cNvPr>
          <p:cNvSpPr txBox="1"/>
          <p:nvPr/>
        </p:nvSpPr>
        <p:spPr>
          <a:xfrm>
            <a:off x="508000" y="381000"/>
            <a:ext cx="11176000" cy="369332"/>
          </a:xfrm>
          <a:prstGeom prst="rect">
            <a:avLst/>
          </a:prstGeom>
          <a:noFill/>
        </p:spPr>
        <p:txBody>
          <a:bodyPr vert="horz" wrap="square" lIns="0" tIns="0" rIns="0" bIns="0" rtlCol="0">
            <a:spAutoFit/>
          </a:bodyPr>
          <a:lstStyle/>
          <a:p>
            <a:r>
              <a:rPr lang="en-US" sz="2400" b="1">
                <a:solidFill>
                  <a:srgbClr val="222222"/>
                </a:solidFill>
                <a:latin typeface="Segoe UI" panose="020B0502040204020203" pitchFamily="34" charset="0"/>
              </a:rPr>
              <a:t>The real future  -  native Fabric Data Agents</a:t>
            </a:r>
          </a:p>
        </p:txBody>
      </p:sp>
      <p:sp>
        <p:nvSpPr>
          <p:cNvPr id="4" name="Rectangle 3">
            <a:extLst>
              <a:ext uri="{FF2B5EF4-FFF2-40B4-BE49-F238E27FC236}">
                <a16:creationId xmlns:a16="http://schemas.microsoft.com/office/drawing/2014/main" id="{4ACE4C17-5FD6-EB24-8561-EC717974781F}"/>
              </a:ext>
            </a:extLst>
          </p:cNvPr>
          <p:cNvSpPr/>
          <p:nvPr/>
        </p:nvSpPr>
        <p:spPr>
          <a:xfrm>
            <a:off x="508000" y="914400"/>
            <a:ext cx="1016000" cy="381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54CFF98-44E0-A153-6DD8-97493EA9A095}"/>
              </a:ext>
            </a:extLst>
          </p:cNvPr>
          <p:cNvSpPr txBox="1"/>
          <p:nvPr/>
        </p:nvSpPr>
        <p:spPr>
          <a:xfrm>
            <a:off x="508000" y="990600"/>
            <a:ext cx="11176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Everything the POC does, but grounded on the Platinum semantic model and powered by Azure OpenAI.</a:t>
            </a:r>
          </a:p>
        </p:txBody>
      </p:sp>
      <p:pic>
        <p:nvPicPr>
          <p:cNvPr id="7" name="Graphic 6">
            <a:extLst>
              <a:ext uri="{FF2B5EF4-FFF2-40B4-BE49-F238E27FC236}">
                <a16:creationId xmlns:a16="http://schemas.microsoft.com/office/drawing/2014/main" id="{215DC6AF-1E6A-4969-3BA7-BFB091072EF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00" y="1333500"/>
            <a:ext cx="11430000" cy="5016500"/>
          </a:xfrm>
          <a:prstGeom prst="rect">
            <a:avLst/>
          </a:prstGeom>
        </p:spPr>
      </p:pic>
      <p:sp>
        <p:nvSpPr>
          <p:cNvPr id="8" name="Rectangle 7">
            <a:extLst>
              <a:ext uri="{FF2B5EF4-FFF2-40B4-BE49-F238E27FC236}">
                <a16:creationId xmlns:a16="http://schemas.microsoft.com/office/drawing/2014/main" id="{2C7321F4-E639-CFB3-5B4B-6AD1E73E80F7}"/>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00BF744-1F58-5B82-F60B-0A71A79263CE}"/>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10" name="TextBox 9">
            <a:extLst>
              <a:ext uri="{FF2B5EF4-FFF2-40B4-BE49-F238E27FC236}">
                <a16:creationId xmlns:a16="http://schemas.microsoft.com/office/drawing/2014/main" id="{D7B91DC4-E5C4-5ED4-DEE5-0BFD8BD1C646}"/>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11 / 14</a:t>
            </a:r>
          </a:p>
        </p:txBody>
      </p:sp>
    </p:spTree>
    <p:extLst>
      <p:ext uri="{BB962C8B-B14F-4D97-AF65-F5344CB8AC3E}">
        <p14:creationId xmlns:p14="http://schemas.microsoft.com/office/powerpoint/2010/main" val="2900726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D2C297-8B39-33B3-AB5B-9775F2968725}"/>
              </a:ext>
            </a:extLst>
          </p:cNvPr>
          <p:cNvSpPr/>
          <p:nvPr/>
        </p:nvSpPr>
        <p:spPr>
          <a:xfrm>
            <a:off x="0" y="0"/>
            <a:ext cx="12192000" cy="762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A32D58B-F1A7-DF2A-DB9C-3E6C6A80CF9F}"/>
              </a:ext>
            </a:extLst>
          </p:cNvPr>
          <p:cNvSpPr txBox="1"/>
          <p:nvPr/>
        </p:nvSpPr>
        <p:spPr>
          <a:xfrm>
            <a:off x="508000" y="381000"/>
            <a:ext cx="11176000" cy="369332"/>
          </a:xfrm>
          <a:prstGeom prst="rect">
            <a:avLst/>
          </a:prstGeom>
          <a:noFill/>
        </p:spPr>
        <p:txBody>
          <a:bodyPr vert="horz" wrap="square" lIns="0" tIns="0" rIns="0" bIns="0" rtlCol="0">
            <a:spAutoFit/>
          </a:bodyPr>
          <a:lstStyle/>
          <a:p>
            <a:r>
              <a:rPr lang="en-US" sz="2400" b="1">
                <a:solidFill>
                  <a:srgbClr val="222222"/>
                </a:solidFill>
                <a:latin typeface="Segoe UI" panose="020B0502040204020203" pitchFamily="34" charset="0"/>
              </a:rPr>
              <a:t>POC vs. the Fabric-native path</a:t>
            </a:r>
          </a:p>
        </p:txBody>
      </p:sp>
      <p:sp>
        <p:nvSpPr>
          <p:cNvPr id="4" name="Rectangle 3">
            <a:extLst>
              <a:ext uri="{FF2B5EF4-FFF2-40B4-BE49-F238E27FC236}">
                <a16:creationId xmlns:a16="http://schemas.microsoft.com/office/drawing/2014/main" id="{8809BC5D-DEA4-6A4B-950A-4301E42F7811}"/>
              </a:ext>
            </a:extLst>
          </p:cNvPr>
          <p:cNvSpPr/>
          <p:nvPr/>
        </p:nvSpPr>
        <p:spPr>
          <a:xfrm>
            <a:off x="508000" y="914400"/>
            <a:ext cx="1016000" cy="381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8061E79-35E1-357C-C8E5-EB61A134E7DA}"/>
              </a:ext>
            </a:extLst>
          </p:cNvPr>
          <p:cNvSpPr/>
          <p:nvPr/>
        </p:nvSpPr>
        <p:spPr>
          <a:xfrm>
            <a:off x="508000" y="1397000"/>
            <a:ext cx="11176000" cy="4064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FEC058F-97C1-7916-0B3E-1F4485818956}"/>
              </a:ext>
            </a:extLst>
          </p:cNvPr>
          <p:cNvSpPr txBox="1"/>
          <p:nvPr/>
        </p:nvSpPr>
        <p:spPr>
          <a:xfrm>
            <a:off x="698500" y="1473200"/>
            <a:ext cx="3810000" cy="207749"/>
          </a:xfrm>
          <a:prstGeom prst="rect">
            <a:avLst/>
          </a:prstGeom>
          <a:noFill/>
        </p:spPr>
        <p:txBody>
          <a:bodyPr vert="horz" wrap="square" lIns="0" tIns="0" rIns="0" bIns="0" rtlCol="0">
            <a:spAutoFit/>
          </a:bodyPr>
          <a:lstStyle/>
          <a:p>
            <a:r>
              <a:rPr lang="en-US" sz="1300" b="1">
                <a:solidFill>
                  <a:srgbClr val="FFFFFF"/>
                </a:solidFill>
                <a:latin typeface="Segoe UI" panose="020B0502040204020203" pitchFamily="34" charset="0"/>
              </a:rPr>
              <a:t>Dimension</a:t>
            </a:r>
          </a:p>
        </p:txBody>
      </p:sp>
      <p:sp>
        <p:nvSpPr>
          <p:cNvPr id="7" name="TextBox 6">
            <a:extLst>
              <a:ext uri="{FF2B5EF4-FFF2-40B4-BE49-F238E27FC236}">
                <a16:creationId xmlns:a16="http://schemas.microsoft.com/office/drawing/2014/main" id="{CD6EE88E-23E8-166B-F492-FAF2683329DF}"/>
              </a:ext>
            </a:extLst>
          </p:cNvPr>
          <p:cNvSpPr txBox="1"/>
          <p:nvPr/>
        </p:nvSpPr>
        <p:spPr>
          <a:xfrm>
            <a:off x="4572000" y="1473200"/>
            <a:ext cx="3429000" cy="207749"/>
          </a:xfrm>
          <a:prstGeom prst="rect">
            <a:avLst/>
          </a:prstGeom>
          <a:noFill/>
        </p:spPr>
        <p:txBody>
          <a:bodyPr vert="horz" wrap="square" lIns="0" tIns="0" rIns="0" bIns="0" rtlCol="0">
            <a:spAutoFit/>
          </a:bodyPr>
          <a:lstStyle/>
          <a:p>
            <a:r>
              <a:rPr lang="en-US" sz="1300" b="1">
                <a:solidFill>
                  <a:srgbClr val="FFFFFF"/>
                </a:solidFill>
                <a:latin typeface="Segoe UI" panose="020B0502040204020203" pitchFamily="34" charset="0"/>
              </a:rPr>
              <a:t>Today's POC</a:t>
            </a:r>
          </a:p>
        </p:txBody>
      </p:sp>
      <p:sp>
        <p:nvSpPr>
          <p:cNvPr id="8" name="TextBox 7">
            <a:extLst>
              <a:ext uri="{FF2B5EF4-FFF2-40B4-BE49-F238E27FC236}">
                <a16:creationId xmlns:a16="http://schemas.microsoft.com/office/drawing/2014/main" id="{872E0D8A-A13F-2B0A-BA4D-8ADF9F728631}"/>
              </a:ext>
            </a:extLst>
          </p:cNvPr>
          <p:cNvSpPr txBox="1"/>
          <p:nvPr/>
        </p:nvSpPr>
        <p:spPr>
          <a:xfrm>
            <a:off x="8128000" y="1473200"/>
            <a:ext cx="3429000" cy="207749"/>
          </a:xfrm>
          <a:prstGeom prst="rect">
            <a:avLst/>
          </a:prstGeom>
          <a:noFill/>
        </p:spPr>
        <p:txBody>
          <a:bodyPr vert="horz" wrap="square" lIns="0" tIns="0" rIns="0" bIns="0" rtlCol="0">
            <a:spAutoFit/>
          </a:bodyPr>
          <a:lstStyle/>
          <a:p>
            <a:r>
              <a:rPr lang="en-US" sz="1300" b="1">
                <a:solidFill>
                  <a:srgbClr val="FFFFFF"/>
                </a:solidFill>
                <a:latin typeface="Segoe UI" panose="020B0502040204020203" pitchFamily="34" charset="0"/>
              </a:rPr>
              <a:t>Fabric Data Agent</a:t>
            </a:r>
          </a:p>
        </p:txBody>
      </p:sp>
      <p:sp>
        <p:nvSpPr>
          <p:cNvPr id="9" name="Rectangle 8">
            <a:extLst>
              <a:ext uri="{FF2B5EF4-FFF2-40B4-BE49-F238E27FC236}">
                <a16:creationId xmlns:a16="http://schemas.microsoft.com/office/drawing/2014/main" id="{A39DF0AC-E6D9-7E92-F300-2C5EAFB3F92F}"/>
              </a:ext>
            </a:extLst>
          </p:cNvPr>
          <p:cNvSpPr/>
          <p:nvPr/>
        </p:nvSpPr>
        <p:spPr>
          <a:xfrm>
            <a:off x="508000" y="1803400"/>
            <a:ext cx="11176000" cy="406400"/>
          </a:xfrm>
          <a:prstGeom prst="rect">
            <a:avLst/>
          </a:prstGeom>
          <a:solidFill>
            <a:srgbClr val="F5F3F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363ECFA-DFE4-3F64-6E31-7B6E1DD9697E}"/>
              </a:ext>
            </a:extLst>
          </p:cNvPr>
          <p:cNvSpPr txBox="1"/>
          <p:nvPr/>
        </p:nvSpPr>
        <p:spPr>
          <a:xfrm>
            <a:off x="698500" y="1879600"/>
            <a:ext cx="3810000" cy="184666"/>
          </a:xfrm>
          <a:prstGeom prst="rect">
            <a:avLst/>
          </a:prstGeom>
          <a:noFill/>
        </p:spPr>
        <p:txBody>
          <a:bodyPr vert="horz" wrap="square" lIns="0" tIns="0" rIns="0" bIns="0" rtlCol="0">
            <a:spAutoFit/>
          </a:bodyPr>
          <a:lstStyle/>
          <a:p>
            <a:r>
              <a:rPr lang="en-US" sz="1200" b="1">
                <a:solidFill>
                  <a:srgbClr val="222222"/>
                </a:solidFill>
                <a:latin typeface="Segoe UI" panose="020B0502040204020203" pitchFamily="34" charset="0"/>
              </a:rPr>
              <a:t>Model</a:t>
            </a:r>
          </a:p>
        </p:txBody>
      </p:sp>
      <p:sp>
        <p:nvSpPr>
          <p:cNvPr id="11" name="TextBox 10">
            <a:extLst>
              <a:ext uri="{FF2B5EF4-FFF2-40B4-BE49-F238E27FC236}">
                <a16:creationId xmlns:a16="http://schemas.microsoft.com/office/drawing/2014/main" id="{9B4EAEAE-36B2-BD38-E2BA-9986DBB7B5B6}"/>
              </a:ext>
            </a:extLst>
          </p:cNvPr>
          <p:cNvSpPr txBox="1"/>
          <p:nvPr/>
        </p:nvSpPr>
        <p:spPr>
          <a:xfrm>
            <a:off x="4572000" y="1879600"/>
            <a:ext cx="3429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Local Ollama 7B</a:t>
            </a:r>
          </a:p>
        </p:txBody>
      </p:sp>
      <p:sp>
        <p:nvSpPr>
          <p:cNvPr id="12" name="TextBox 11">
            <a:extLst>
              <a:ext uri="{FF2B5EF4-FFF2-40B4-BE49-F238E27FC236}">
                <a16:creationId xmlns:a16="http://schemas.microsoft.com/office/drawing/2014/main" id="{643C3DEA-875E-3B13-8322-E1722B1CEDB0}"/>
              </a:ext>
            </a:extLst>
          </p:cNvPr>
          <p:cNvSpPr txBox="1"/>
          <p:nvPr/>
        </p:nvSpPr>
        <p:spPr>
          <a:xfrm>
            <a:off x="8128000" y="1879600"/>
            <a:ext cx="3429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Azure OpenAI GPT-4o</a:t>
            </a:r>
          </a:p>
        </p:txBody>
      </p:sp>
      <p:sp>
        <p:nvSpPr>
          <p:cNvPr id="13" name="TextBox 12">
            <a:extLst>
              <a:ext uri="{FF2B5EF4-FFF2-40B4-BE49-F238E27FC236}">
                <a16:creationId xmlns:a16="http://schemas.microsoft.com/office/drawing/2014/main" id="{10F9038E-E8EA-7A75-DC47-D8EF8C83E508}"/>
              </a:ext>
            </a:extLst>
          </p:cNvPr>
          <p:cNvSpPr txBox="1"/>
          <p:nvPr/>
        </p:nvSpPr>
        <p:spPr>
          <a:xfrm>
            <a:off x="698500" y="2286000"/>
            <a:ext cx="3810000" cy="184666"/>
          </a:xfrm>
          <a:prstGeom prst="rect">
            <a:avLst/>
          </a:prstGeom>
          <a:noFill/>
        </p:spPr>
        <p:txBody>
          <a:bodyPr vert="horz" wrap="square" lIns="0" tIns="0" rIns="0" bIns="0" rtlCol="0">
            <a:spAutoFit/>
          </a:bodyPr>
          <a:lstStyle/>
          <a:p>
            <a:r>
              <a:rPr lang="en-US" sz="1200" b="1">
                <a:solidFill>
                  <a:srgbClr val="222222"/>
                </a:solidFill>
                <a:latin typeface="Segoe UI" panose="020B0502040204020203" pitchFamily="34" charset="0"/>
              </a:rPr>
              <a:t>Grounding</a:t>
            </a:r>
          </a:p>
        </p:txBody>
      </p:sp>
      <p:sp>
        <p:nvSpPr>
          <p:cNvPr id="14" name="TextBox 13">
            <a:extLst>
              <a:ext uri="{FF2B5EF4-FFF2-40B4-BE49-F238E27FC236}">
                <a16:creationId xmlns:a16="http://schemas.microsoft.com/office/drawing/2014/main" id="{2ECB22F9-62F6-3E38-7950-7E38BAC4D501}"/>
              </a:ext>
            </a:extLst>
          </p:cNvPr>
          <p:cNvSpPr txBox="1"/>
          <p:nvPr/>
        </p:nvSpPr>
        <p:spPr>
          <a:xfrm>
            <a:off x="4572000" y="2286000"/>
            <a:ext cx="3429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Raw schema + FK walk</a:t>
            </a:r>
          </a:p>
        </p:txBody>
      </p:sp>
      <p:sp>
        <p:nvSpPr>
          <p:cNvPr id="15" name="TextBox 14">
            <a:extLst>
              <a:ext uri="{FF2B5EF4-FFF2-40B4-BE49-F238E27FC236}">
                <a16:creationId xmlns:a16="http://schemas.microsoft.com/office/drawing/2014/main" id="{F4AB5BB5-1F7F-FFEB-0C16-4C814E6E862C}"/>
              </a:ext>
            </a:extLst>
          </p:cNvPr>
          <p:cNvSpPr txBox="1"/>
          <p:nvPr/>
        </p:nvSpPr>
        <p:spPr>
          <a:xfrm>
            <a:off x="8128000" y="2286000"/>
            <a:ext cx="3429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Platinum semantic model + glossary</a:t>
            </a:r>
          </a:p>
        </p:txBody>
      </p:sp>
      <p:sp>
        <p:nvSpPr>
          <p:cNvPr id="16" name="Rectangle 15">
            <a:extLst>
              <a:ext uri="{FF2B5EF4-FFF2-40B4-BE49-F238E27FC236}">
                <a16:creationId xmlns:a16="http://schemas.microsoft.com/office/drawing/2014/main" id="{33ACBCE0-4ACE-8870-4FB9-629B4D3CBF63}"/>
              </a:ext>
            </a:extLst>
          </p:cNvPr>
          <p:cNvSpPr/>
          <p:nvPr/>
        </p:nvSpPr>
        <p:spPr>
          <a:xfrm>
            <a:off x="508000" y="2616200"/>
            <a:ext cx="11176000" cy="406400"/>
          </a:xfrm>
          <a:prstGeom prst="rect">
            <a:avLst/>
          </a:prstGeom>
          <a:solidFill>
            <a:srgbClr val="F5F3F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500E59F-3429-4F91-9388-64E1B735E099}"/>
              </a:ext>
            </a:extLst>
          </p:cNvPr>
          <p:cNvSpPr txBox="1"/>
          <p:nvPr/>
        </p:nvSpPr>
        <p:spPr>
          <a:xfrm>
            <a:off x="698500" y="2692400"/>
            <a:ext cx="3810000" cy="184666"/>
          </a:xfrm>
          <a:prstGeom prst="rect">
            <a:avLst/>
          </a:prstGeom>
          <a:noFill/>
        </p:spPr>
        <p:txBody>
          <a:bodyPr vert="horz" wrap="square" lIns="0" tIns="0" rIns="0" bIns="0" rtlCol="0">
            <a:spAutoFit/>
          </a:bodyPr>
          <a:lstStyle/>
          <a:p>
            <a:r>
              <a:rPr lang="en-US" sz="1200" b="1">
                <a:solidFill>
                  <a:srgbClr val="222222"/>
                </a:solidFill>
                <a:latin typeface="Segoe UI" panose="020B0502040204020203" pitchFamily="34" charset="0"/>
              </a:rPr>
              <a:t>Latency</a:t>
            </a:r>
          </a:p>
        </p:txBody>
      </p:sp>
      <p:sp>
        <p:nvSpPr>
          <p:cNvPr id="18" name="TextBox 17">
            <a:extLst>
              <a:ext uri="{FF2B5EF4-FFF2-40B4-BE49-F238E27FC236}">
                <a16:creationId xmlns:a16="http://schemas.microsoft.com/office/drawing/2014/main" id="{BD114E3C-6B62-21B4-C14D-1700959D3957}"/>
              </a:ext>
            </a:extLst>
          </p:cNvPr>
          <p:cNvSpPr txBox="1"/>
          <p:nvPr/>
        </p:nvSpPr>
        <p:spPr>
          <a:xfrm>
            <a:off x="4572000" y="2692400"/>
            <a:ext cx="3429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30-90 seconds</a:t>
            </a:r>
          </a:p>
        </p:txBody>
      </p:sp>
      <p:sp>
        <p:nvSpPr>
          <p:cNvPr id="19" name="TextBox 18">
            <a:extLst>
              <a:ext uri="{FF2B5EF4-FFF2-40B4-BE49-F238E27FC236}">
                <a16:creationId xmlns:a16="http://schemas.microsoft.com/office/drawing/2014/main" id="{7F10D4F9-A095-9DE9-F7E9-B1D6F8F0475E}"/>
              </a:ext>
            </a:extLst>
          </p:cNvPr>
          <p:cNvSpPr txBox="1"/>
          <p:nvPr/>
        </p:nvSpPr>
        <p:spPr>
          <a:xfrm>
            <a:off x="8128000" y="2692400"/>
            <a:ext cx="3429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2-4 seconds</a:t>
            </a:r>
          </a:p>
        </p:txBody>
      </p:sp>
      <p:sp>
        <p:nvSpPr>
          <p:cNvPr id="20" name="TextBox 19">
            <a:extLst>
              <a:ext uri="{FF2B5EF4-FFF2-40B4-BE49-F238E27FC236}">
                <a16:creationId xmlns:a16="http://schemas.microsoft.com/office/drawing/2014/main" id="{12C13FC3-4A77-58F7-69E3-E1C2457BDD2C}"/>
              </a:ext>
            </a:extLst>
          </p:cNvPr>
          <p:cNvSpPr txBox="1"/>
          <p:nvPr/>
        </p:nvSpPr>
        <p:spPr>
          <a:xfrm>
            <a:off x="698500" y="3098800"/>
            <a:ext cx="3810000" cy="184666"/>
          </a:xfrm>
          <a:prstGeom prst="rect">
            <a:avLst/>
          </a:prstGeom>
          <a:noFill/>
        </p:spPr>
        <p:txBody>
          <a:bodyPr vert="horz" wrap="square" lIns="0" tIns="0" rIns="0" bIns="0" rtlCol="0">
            <a:spAutoFit/>
          </a:bodyPr>
          <a:lstStyle/>
          <a:p>
            <a:r>
              <a:rPr lang="en-US" sz="1200" b="1">
                <a:solidFill>
                  <a:srgbClr val="222222"/>
                </a:solidFill>
                <a:latin typeface="Segoe UI" panose="020B0502040204020203" pitchFamily="34" charset="0"/>
              </a:rPr>
              <a:t>Security</a:t>
            </a:r>
          </a:p>
        </p:txBody>
      </p:sp>
      <p:sp>
        <p:nvSpPr>
          <p:cNvPr id="21" name="TextBox 20">
            <a:extLst>
              <a:ext uri="{FF2B5EF4-FFF2-40B4-BE49-F238E27FC236}">
                <a16:creationId xmlns:a16="http://schemas.microsoft.com/office/drawing/2014/main" id="{37E4C236-56E1-2549-9B8A-5FC93F3793A6}"/>
              </a:ext>
            </a:extLst>
          </p:cNvPr>
          <p:cNvSpPr txBox="1"/>
          <p:nvPr/>
        </p:nvSpPr>
        <p:spPr>
          <a:xfrm>
            <a:off x="4572000" y="3098800"/>
            <a:ext cx="3429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Connection-string user</a:t>
            </a:r>
          </a:p>
        </p:txBody>
      </p:sp>
      <p:sp>
        <p:nvSpPr>
          <p:cNvPr id="22" name="TextBox 21">
            <a:extLst>
              <a:ext uri="{FF2B5EF4-FFF2-40B4-BE49-F238E27FC236}">
                <a16:creationId xmlns:a16="http://schemas.microsoft.com/office/drawing/2014/main" id="{3031F7CC-3BD2-66CE-2732-5BD01CF3116A}"/>
              </a:ext>
            </a:extLst>
          </p:cNvPr>
          <p:cNvSpPr txBox="1"/>
          <p:nvPr/>
        </p:nvSpPr>
        <p:spPr>
          <a:xfrm>
            <a:off x="8128000" y="3098800"/>
            <a:ext cx="3429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Entra ID + RLS/OLS inherited</a:t>
            </a:r>
          </a:p>
        </p:txBody>
      </p:sp>
      <p:sp>
        <p:nvSpPr>
          <p:cNvPr id="23" name="Rectangle 22">
            <a:extLst>
              <a:ext uri="{FF2B5EF4-FFF2-40B4-BE49-F238E27FC236}">
                <a16:creationId xmlns:a16="http://schemas.microsoft.com/office/drawing/2014/main" id="{1906D6AC-F8F0-EE76-08CE-86A058BF2F64}"/>
              </a:ext>
            </a:extLst>
          </p:cNvPr>
          <p:cNvSpPr/>
          <p:nvPr/>
        </p:nvSpPr>
        <p:spPr>
          <a:xfrm>
            <a:off x="508000" y="3429000"/>
            <a:ext cx="11176000" cy="406400"/>
          </a:xfrm>
          <a:prstGeom prst="rect">
            <a:avLst/>
          </a:prstGeom>
          <a:solidFill>
            <a:srgbClr val="F5F3F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9C9411F-D329-EF71-AE7C-5BDF199924DE}"/>
              </a:ext>
            </a:extLst>
          </p:cNvPr>
          <p:cNvSpPr txBox="1"/>
          <p:nvPr/>
        </p:nvSpPr>
        <p:spPr>
          <a:xfrm>
            <a:off x="698500" y="3505200"/>
            <a:ext cx="3810000" cy="184666"/>
          </a:xfrm>
          <a:prstGeom prst="rect">
            <a:avLst/>
          </a:prstGeom>
          <a:noFill/>
        </p:spPr>
        <p:txBody>
          <a:bodyPr vert="horz" wrap="square" lIns="0" tIns="0" rIns="0" bIns="0" rtlCol="0">
            <a:spAutoFit/>
          </a:bodyPr>
          <a:lstStyle/>
          <a:p>
            <a:r>
              <a:rPr lang="en-US" sz="1200" b="1">
                <a:solidFill>
                  <a:srgbClr val="222222"/>
                </a:solidFill>
                <a:latin typeface="Segoe UI" panose="020B0502040204020203" pitchFamily="34" charset="0"/>
              </a:rPr>
              <a:t>Audit and lineage</a:t>
            </a:r>
          </a:p>
        </p:txBody>
      </p:sp>
      <p:sp>
        <p:nvSpPr>
          <p:cNvPr id="25" name="TextBox 24">
            <a:extLst>
              <a:ext uri="{FF2B5EF4-FFF2-40B4-BE49-F238E27FC236}">
                <a16:creationId xmlns:a16="http://schemas.microsoft.com/office/drawing/2014/main" id="{A464BBF7-79A7-8CFD-B7C7-3E7B8F1D8EC7}"/>
              </a:ext>
            </a:extLst>
          </p:cNvPr>
          <p:cNvSpPr txBox="1"/>
          <p:nvPr/>
        </p:nvSpPr>
        <p:spPr>
          <a:xfrm>
            <a:off x="4572000" y="3505200"/>
            <a:ext cx="3429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None</a:t>
            </a:r>
          </a:p>
        </p:txBody>
      </p:sp>
      <p:sp>
        <p:nvSpPr>
          <p:cNvPr id="26" name="TextBox 25">
            <a:extLst>
              <a:ext uri="{FF2B5EF4-FFF2-40B4-BE49-F238E27FC236}">
                <a16:creationId xmlns:a16="http://schemas.microsoft.com/office/drawing/2014/main" id="{E253D238-887C-68C1-2E56-D87673A85763}"/>
              </a:ext>
            </a:extLst>
          </p:cNvPr>
          <p:cNvSpPr txBox="1"/>
          <p:nvPr/>
        </p:nvSpPr>
        <p:spPr>
          <a:xfrm>
            <a:off x="8128000" y="3505200"/>
            <a:ext cx="3429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Purview, built-in</a:t>
            </a:r>
          </a:p>
        </p:txBody>
      </p:sp>
      <p:sp>
        <p:nvSpPr>
          <p:cNvPr id="27" name="TextBox 26">
            <a:extLst>
              <a:ext uri="{FF2B5EF4-FFF2-40B4-BE49-F238E27FC236}">
                <a16:creationId xmlns:a16="http://schemas.microsoft.com/office/drawing/2014/main" id="{DBD2667C-C15A-BE5E-59FC-90C004BA55F8}"/>
              </a:ext>
            </a:extLst>
          </p:cNvPr>
          <p:cNvSpPr txBox="1"/>
          <p:nvPr/>
        </p:nvSpPr>
        <p:spPr>
          <a:xfrm>
            <a:off x="698500" y="3911600"/>
            <a:ext cx="3810000" cy="184666"/>
          </a:xfrm>
          <a:prstGeom prst="rect">
            <a:avLst/>
          </a:prstGeom>
          <a:noFill/>
        </p:spPr>
        <p:txBody>
          <a:bodyPr vert="horz" wrap="square" lIns="0" tIns="0" rIns="0" bIns="0" rtlCol="0">
            <a:spAutoFit/>
          </a:bodyPr>
          <a:lstStyle/>
          <a:p>
            <a:r>
              <a:rPr lang="en-US" sz="1200" b="1">
                <a:solidFill>
                  <a:srgbClr val="222222"/>
                </a:solidFill>
                <a:latin typeface="Segoe UI" panose="020B0502040204020203" pitchFamily="34" charset="0"/>
              </a:rPr>
              <a:t>Hosting</a:t>
            </a:r>
          </a:p>
        </p:txBody>
      </p:sp>
      <p:sp>
        <p:nvSpPr>
          <p:cNvPr id="28" name="TextBox 27">
            <a:extLst>
              <a:ext uri="{FF2B5EF4-FFF2-40B4-BE49-F238E27FC236}">
                <a16:creationId xmlns:a16="http://schemas.microsoft.com/office/drawing/2014/main" id="{DC260E0E-DE0B-22B1-3DB1-3E7558FF4A85}"/>
              </a:ext>
            </a:extLst>
          </p:cNvPr>
          <p:cNvSpPr txBox="1"/>
          <p:nvPr/>
        </p:nvSpPr>
        <p:spPr>
          <a:xfrm>
            <a:off x="4572000" y="3911600"/>
            <a:ext cx="3429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Your workstation</a:t>
            </a:r>
          </a:p>
        </p:txBody>
      </p:sp>
      <p:sp>
        <p:nvSpPr>
          <p:cNvPr id="29" name="TextBox 28">
            <a:extLst>
              <a:ext uri="{FF2B5EF4-FFF2-40B4-BE49-F238E27FC236}">
                <a16:creationId xmlns:a16="http://schemas.microsoft.com/office/drawing/2014/main" id="{4861C617-8BAD-CF7E-D4EB-B902011E80F1}"/>
              </a:ext>
            </a:extLst>
          </p:cNvPr>
          <p:cNvSpPr txBox="1"/>
          <p:nvPr/>
        </p:nvSpPr>
        <p:spPr>
          <a:xfrm>
            <a:off x="8128000" y="3911600"/>
            <a:ext cx="3429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Microsoft-managed</a:t>
            </a:r>
          </a:p>
        </p:txBody>
      </p:sp>
      <p:sp>
        <p:nvSpPr>
          <p:cNvPr id="30" name="Rectangle 29">
            <a:extLst>
              <a:ext uri="{FF2B5EF4-FFF2-40B4-BE49-F238E27FC236}">
                <a16:creationId xmlns:a16="http://schemas.microsoft.com/office/drawing/2014/main" id="{5B17483D-4513-2E83-5856-4963B2692535}"/>
              </a:ext>
            </a:extLst>
          </p:cNvPr>
          <p:cNvSpPr/>
          <p:nvPr/>
        </p:nvSpPr>
        <p:spPr>
          <a:xfrm>
            <a:off x="508000" y="4241800"/>
            <a:ext cx="11176000" cy="406400"/>
          </a:xfrm>
          <a:prstGeom prst="rect">
            <a:avLst/>
          </a:prstGeom>
          <a:solidFill>
            <a:srgbClr val="F5F3F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C31D3A6-9DFA-C587-2212-7BE643870B66}"/>
              </a:ext>
            </a:extLst>
          </p:cNvPr>
          <p:cNvSpPr txBox="1"/>
          <p:nvPr/>
        </p:nvSpPr>
        <p:spPr>
          <a:xfrm>
            <a:off x="698500" y="4318000"/>
            <a:ext cx="3810000" cy="184666"/>
          </a:xfrm>
          <a:prstGeom prst="rect">
            <a:avLst/>
          </a:prstGeom>
          <a:noFill/>
        </p:spPr>
        <p:txBody>
          <a:bodyPr vert="horz" wrap="square" lIns="0" tIns="0" rIns="0" bIns="0" rtlCol="0">
            <a:spAutoFit/>
          </a:bodyPr>
          <a:lstStyle/>
          <a:p>
            <a:r>
              <a:rPr lang="en-US" sz="1200" b="1">
                <a:solidFill>
                  <a:srgbClr val="222222"/>
                </a:solidFill>
                <a:latin typeface="Segoe UI" panose="020B0502040204020203" pitchFamily="34" charset="0"/>
              </a:rPr>
              <a:t>Maintenance</a:t>
            </a:r>
          </a:p>
        </p:txBody>
      </p:sp>
      <p:sp>
        <p:nvSpPr>
          <p:cNvPr id="32" name="TextBox 31">
            <a:extLst>
              <a:ext uri="{FF2B5EF4-FFF2-40B4-BE49-F238E27FC236}">
                <a16:creationId xmlns:a16="http://schemas.microsoft.com/office/drawing/2014/main" id="{87B15AE1-4D5F-F510-94F5-7397B9A911EC}"/>
              </a:ext>
            </a:extLst>
          </p:cNvPr>
          <p:cNvSpPr txBox="1"/>
          <p:nvPr/>
        </p:nvSpPr>
        <p:spPr>
          <a:xfrm>
            <a:off x="4572000" y="4318000"/>
            <a:ext cx="3429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Me</a:t>
            </a:r>
          </a:p>
        </p:txBody>
      </p:sp>
      <p:sp>
        <p:nvSpPr>
          <p:cNvPr id="33" name="TextBox 32">
            <a:extLst>
              <a:ext uri="{FF2B5EF4-FFF2-40B4-BE49-F238E27FC236}">
                <a16:creationId xmlns:a16="http://schemas.microsoft.com/office/drawing/2014/main" id="{21D90F22-CF86-0094-D9FE-A2610D9EEDFE}"/>
              </a:ext>
            </a:extLst>
          </p:cNvPr>
          <p:cNvSpPr txBox="1"/>
          <p:nvPr/>
        </p:nvSpPr>
        <p:spPr>
          <a:xfrm>
            <a:off x="8128000" y="4318000"/>
            <a:ext cx="3429000" cy="184666"/>
          </a:xfrm>
          <a:prstGeom prst="rect">
            <a:avLst/>
          </a:prstGeom>
          <a:noFill/>
        </p:spPr>
        <p:txBody>
          <a:bodyPr vert="horz" wrap="square" lIns="0" tIns="0" rIns="0" bIns="0" rtlCol="0">
            <a:spAutoFit/>
          </a:bodyPr>
          <a:lstStyle/>
          <a:p>
            <a:r>
              <a:rPr lang="en-US" sz="1200">
                <a:solidFill>
                  <a:srgbClr val="222222"/>
                </a:solidFill>
                <a:latin typeface="Segoe UI" panose="020B0502040204020203" pitchFamily="34" charset="0"/>
              </a:rPr>
              <a:t>Near zero</a:t>
            </a:r>
          </a:p>
        </p:txBody>
      </p:sp>
      <p:sp>
        <p:nvSpPr>
          <p:cNvPr id="34" name="TextBox 33">
            <a:extLst>
              <a:ext uri="{FF2B5EF4-FFF2-40B4-BE49-F238E27FC236}">
                <a16:creationId xmlns:a16="http://schemas.microsoft.com/office/drawing/2014/main" id="{527A88FA-A9D2-3818-0559-7150D71775DA}"/>
              </a:ext>
            </a:extLst>
          </p:cNvPr>
          <p:cNvSpPr txBox="1"/>
          <p:nvPr/>
        </p:nvSpPr>
        <p:spPr>
          <a:xfrm>
            <a:off x="508000" y="4889500"/>
            <a:ext cx="11176000" cy="207749"/>
          </a:xfrm>
          <a:prstGeom prst="rect">
            <a:avLst/>
          </a:prstGeom>
          <a:noFill/>
        </p:spPr>
        <p:txBody>
          <a:bodyPr vert="horz" wrap="square" lIns="0" tIns="0" rIns="0" bIns="0" rtlCol="0">
            <a:spAutoFit/>
          </a:bodyPr>
          <a:lstStyle/>
          <a:p>
            <a:r>
              <a:rPr lang="en-US" sz="1300" b="1">
                <a:solidFill>
                  <a:srgbClr val="222222"/>
                </a:solidFill>
                <a:latin typeface="Segoe UI" panose="020B0502040204020203" pitchFamily="34" charset="0"/>
              </a:rPr>
              <a:t>Bottom line</a:t>
            </a:r>
          </a:p>
        </p:txBody>
      </p:sp>
      <p:sp>
        <p:nvSpPr>
          <p:cNvPr id="35" name="Rectangle 34">
            <a:extLst>
              <a:ext uri="{FF2B5EF4-FFF2-40B4-BE49-F238E27FC236}">
                <a16:creationId xmlns:a16="http://schemas.microsoft.com/office/drawing/2014/main" id="{F3CDD97F-746F-689B-9106-A8A83D7939DE}"/>
              </a:ext>
            </a:extLst>
          </p:cNvPr>
          <p:cNvSpPr/>
          <p:nvPr/>
        </p:nvSpPr>
        <p:spPr>
          <a:xfrm>
            <a:off x="508000" y="5181600"/>
            <a:ext cx="11176000" cy="12700"/>
          </a:xfrm>
          <a:prstGeom prst="rect">
            <a:avLst/>
          </a:prstGeom>
          <a:solidFill>
            <a:srgbClr val="88888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455DE79-CEB9-F1B4-71ED-E1F56C30438B}"/>
              </a:ext>
            </a:extLst>
          </p:cNvPr>
          <p:cNvSpPr txBox="1"/>
          <p:nvPr/>
        </p:nvSpPr>
        <p:spPr>
          <a:xfrm>
            <a:off x="508000" y="5308600"/>
            <a:ext cx="11176000" cy="415498"/>
          </a:xfrm>
          <a:prstGeom prst="rect">
            <a:avLst/>
          </a:prstGeom>
          <a:noFill/>
        </p:spPr>
        <p:txBody>
          <a:bodyPr vert="horz" wrap="square" lIns="0" tIns="0" rIns="0" bIns="0" rtlCol="0">
            <a:spAutoFit/>
          </a:bodyPr>
          <a:lstStyle/>
          <a:p>
            <a:r>
              <a:rPr lang="en-US" sz="1300">
                <a:solidFill>
                  <a:srgbClr val="666666"/>
                </a:solidFill>
                <a:latin typeface="Segoe UI" panose="020B0502040204020203" pitchFamily="34" charset="0"/>
              </a:rPr>
              <a:t>The POC answers 'is this possible?'  -  yes. Fabric answers 'is this supportable?'  -  also yes, and without any of the infrastructure we had to build by hand. Every bullet on the right is checked by Microsoft, not by us.</a:t>
            </a:r>
          </a:p>
        </p:txBody>
      </p:sp>
      <p:sp>
        <p:nvSpPr>
          <p:cNvPr id="37" name="Rectangle 36">
            <a:extLst>
              <a:ext uri="{FF2B5EF4-FFF2-40B4-BE49-F238E27FC236}">
                <a16:creationId xmlns:a16="http://schemas.microsoft.com/office/drawing/2014/main" id="{71C73D05-7F0E-CC8E-B693-F52823BDAF75}"/>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B354371F-E6E5-CF2C-BB77-ECF179465716}"/>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39" name="TextBox 38">
            <a:extLst>
              <a:ext uri="{FF2B5EF4-FFF2-40B4-BE49-F238E27FC236}">
                <a16:creationId xmlns:a16="http://schemas.microsoft.com/office/drawing/2014/main" id="{12B074EE-904E-D609-0FF7-8ED868697C88}"/>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12 / 14</a:t>
            </a:r>
          </a:p>
        </p:txBody>
      </p:sp>
    </p:spTree>
    <p:extLst>
      <p:ext uri="{BB962C8B-B14F-4D97-AF65-F5344CB8AC3E}">
        <p14:creationId xmlns:p14="http://schemas.microsoft.com/office/powerpoint/2010/main" val="4110689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7F495D-B406-40A8-75B2-8C3512CC9F5D}"/>
              </a:ext>
            </a:extLst>
          </p:cNvPr>
          <p:cNvSpPr/>
          <p:nvPr/>
        </p:nvSpPr>
        <p:spPr>
          <a:xfrm>
            <a:off x="0" y="0"/>
            <a:ext cx="12192000" cy="762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933F587-E5E5-0AA6-23C6-4EEEB987E555}"/>
              </a:ext>
            </a:extLst>
          </p:cNvPr>
          <p:cNvSpPr txBox="1"/>
          <p:nvPr/>
        </p:nvSpPr>
        <p:spPr>
          <a:xfrm>
            <a:off x="508000" y="381000"/>
            <a:ext cx="11176000" cy="369332"/>
          </a:xfrm>
          <a:prstGeom prst="rect">
            <a:avLst/>
          </a:prstGeom>
          <a:noFill/>
        </p:spPr>
        <p:txBody>
          <a:bodyPr vert="horz" wrap="square" lIns="0" tIns="0" rIns="0" bIns="0" rtlCol="0">
            <a:spAutoFit/>
          </a:bodyPr>
          <a:lstStyle/>
          <a:p>
            <a:r>
              <a:rPr lang="en-US" sz="2400" b="1">
                <a:solidFill>
                  <a:srgbClr val="222222"/>
                </a:solidFill>
                <a:latin typeface="Segoe UI" panose="020B0502040204020203" pitchFamily="34" charset="0"/>
              </a:rPr>
              <a:t>An honest note on MCP</a:t>
            </a:r>
          </a:p>
        </p:txBody>
      </p:sp>
      <p:sp>
        <p:nvSpPr>
          <p:cNvPr id="4" name="Rectangle 3">
            <a:extLst>
              <a:ext uri="{FF2B5EF4-FFF2-40B4-BE49-F238E27FC236}">
                <a16:creationId xmlns:a16="http://schemas.microsoft.com/office/drawing/2014/main" id="{9384CE2E-9F4A-F938-CB8C-C89B53FAD1EA}"/>
              </a:ext>
            </a:extLst>
          </p:cNvPr>
          <p:cNvSpPr/>
          <p:nvPr/>
        </p:nvSpPr>
        <p:spPr>
          <a:xfrm>
            <a:off x="508000" y="914400"/>
            <a:ext cx="1016000" cy="381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4EBE6AE-82EB-F346-D3BC-33B6CE223224}"/>
              </a:ext>
            </a:extLst>
          </p:cNvPr>
          <p:cNvSpPr txBox="1"/>
          <p:nvPr/>
        </p:nvSpPr>
        <p:spPr>
          <a:xfrm>
            <a:off x="508000" y="990600"/>
            <a:ext cx="11176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VSLive! sent me down a rabbit hole. Here is where I landed.</a:t>
            </a:r>
          </a:p>
        </p:txBody>
      </p:sp>
      <p:sp>
        <p:nvSpPr>
          <p:cNvPr id="6" name="TextBox 5">
            <a:extLst>
              <a:ext uri="{FF2B5EF4-FFF2-40B4-BE49-F238E27FC236}">
                <a16:creationId xmlns:a16="http://schemas.microsoft.com/office/drawing/2014/main" id="{947F8344-337A-A98E-6928-45182ED78EDC}"/>
              </a:ext>
            </a:extLst>
          </p:cNvPr>
          <p:cNvSpPr txBox="1"/>
          <p:nvPr/>
        </p:nvSpPr>
        <p:spPr>
          <a:xfrm>
            <a:off x="762000" y="1460500"/>
            <a:ext cx="11176000" cy="215444"/>
          </a:xfrm>
          <a:prstGeom prst="rect">
            <a:avLst/>
          </a:prstGeom>
          <a:noFill/>
        </p:spPr>
        <p:txBody>
          <a:bodyPr vert="horz" wrap="square" lIns="0" tIns="0" rIns="0" bIns="0" rtlCol="0">
            <a:spAutoFit/>
          </a:bodyPr>
          <a:lstStyle/>
          <a:p>
            <a:r>
              <a:rPr lang="en-US" sz="1400" b="1">
                <a:solidFill>
                  <a:srgbClr val="6B4990"/>
                </a:solidFill>
                <a:latin typeface="Segoe UI" panose="020B0502040204020203" pitchFamily="34" charset="0"/>
              </a:rPr>
              <a:t>What MCP actually is</a:t>
            </a:r>
          </a:p>
        </p:txBody>
      </p:sp>
      <p:sp>
        <p:nvSpPr>
          <p:cNvPr id="7" name="TextBox 6">
            <a:extLst>
              <a:ext uri="{FF2B5EF4-FFF2-40B4-BE49-F238E27FC236}">
                <a16:creationId xmlns:a16="http://schemas.microsoft.com/office/drawing/2014/main" id="{756080DE-0314-86AD-BCEB-7742A634075B}"/>
              </a:ext>
            </a:extLst>
          </p:cNvPr>
          <p:cNvSpPr txBox="1"/>
          <p:nvPr/>
        </p:nvSpPr>
        <p:spPr>
          <a:xfrm>
            <a:off x="762000" y="1778000"/>
            <a:ext cx="11176000" cy="338554"/>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A standard transport (JSON-RPC) that lets external LLM clients  -  Claude Desktop, VS Code Copilot, Cursor  -  invoke tools and read data from proprietary systems. The client is an AI assistant someone else built.</a:t>
            </a:r>
          </a:p>
        </p:txBody>
      </p:sp>
      <p:sp>
        <p:nvSpPr>
          <p:cNvPr id="8" name="TextBox 7">
            <a:extLst>
              <a:ext uri="{FF2B5EF4-FFF2-40B4-BE49-F238E27FC236}">
                <a16:creationId xmlns:a16="http://schemas.microsoft.com/office/drawing/2014/main" id="{EB687359-9266-6B2A-F1A5-7DB24CB5BFFD}"/>
              </a:ext>
            </a:extLst>
          </p:cNvPr>
          <p:cNvSpPr txBox="1"/>
          <p:nvPr/>
        </p:nvSpPr>
        <p:spPr>
          <a:xfrm>
            <a:off x="762000" y="2540000"/>
            <a:ext cx="11176000" cy="215444"/>
          </a:xfrm>
          <a:prstGeom prst="rect">
            <a:avLst/>
          </a:prstGeom>
          <a:noFill/>
        </p:spPr>
        <p:txBody>
          <a:bodyPr vert="horz" wrap="square" lIns="0" tIns="0" rIns="0" bIns="0" rtlCol="0">
            <a:spAutoFit/>
          </a:bodyPr>
          <a:lstStyle/>
          <a:p>
            <a:r>
              <a:rPr lang="en-US" sz="1400" b="1">
                <a:solidFill>
                  <a:srgbClr val="F68D2D"/>
                </a:solidFill>
                <a:latin typeface="Segoe UI" panose="020B0502040204020203" pitchFamily="34" charset="0"/>
              </a:rPr>
              <a:t>What I built</a:t>
            </a:r>
          </a:p>
        </p:txBody>
      </p:sp>
      <p:sp>
        <p:nvSpPr>
          <p:cNvPr id="9" name="TextBox 8">
            <a:extLst>
              <a:ext uri="{FF2B5EF4-FFF2-40B4-BE49-F238E27FC236}">
                <a16:creationId xmlns:a16="http://schemas.microsoft.com/office/drawing/2014/main" id="{7FE16904-57E3-C322-3841-E0884E9E0C78}"/>
              </a:ext>
            </a:extLst>
          </p:cNvPr>
          <p:cNvSpPr txBox="1"/>
          <p:nvPr/>
        </p:nvSpPr>
        <p:spPr>
          <a:xfrm>
            <a:off x="762000" y="2857500"/>
            <a:ext cx="11176000" cy="338554"/>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A REST service that uses a local LLM to translate questions into SQL. No external LLM client is involved. Nothing on the other side of the wire speaks MCP to us. The 'MCP' in the project name is vocabulary, not protocol.</a:t>
            </a:r>
          </a:p>
        </p:txBody>
      </p:sp>
      <p:sp>
        <p:nvSpPr>
          <p:cNvPr id="10" name="TextBox 9">
            <a:extLst>
              <a:ext uri="{FF2B5EF4-FFF2-40B4-BE49-F238E27FC236}">
                <a16:creationId xmlns:a16="http://schemas.microsoft.com/office/drawing/2014/main" id="{695F0BFB-1809-ECF5-4C23-BBF2F81B4702}"/>
              </a:ext>
            </a:extLst>
          </p:cNvPr>
          <p:cNvSpPr txBox="1"/>
          <p:nvPr/>
        </p:nvSpPr>
        <p:spPr>
          <a:xfrm>
            <a:off x="762000" y="3619500"/>
            <a:ext cx="11176000" cy="215444"/>
          </a:xfrm>
          <a:prstGeom prst="rect">
            <a:avLst/>
          </a:prstGeom>
          <a:noFill/>
        </p:spPr>
        <p:txBody>
          <a:bodyPr vert="horz" wrap="square" lIns="0" tIns="0" rIns="0" bIns="0" rtlCol="0">
            <a:spAutoFit/>
          </a:bodyPr>
          <a:lstStyle/>
          <a:p>
            <a:r>
              <a:rPr lang="en-US" sz="1400" b="1">
                <a:solidFill>
                  <a:srgbClr val="E32526"/>
                </a:solidFill>
                <a:latin typeface="Segoe UI" panose="020B0502040204020203" pitchFamily="34" charset="0"/>
              </a:rPr>
              <a:t>So do we need MCP for this? No.</a:t>
            </a:r>
          </a:p>
        </p:txBody>
      </p:sp>
      <p:sp>
        <p:nvSpPr>
          <p:cNvPr id="11" name="TextBox 10">
            <a:extLst>
              <a:ext uri="{FF2B5EF4-FFF2-40B4-BE49-F238E27FC236}">
                <a16:creationId xmlns:a16="http://schemas.microsoft.com/office/drawing/2014/main" id="{8C27F79B-D2A8-E34E-B83F-8EF89F94CEA6}"/>
              </a:ext>
            </a:extLst>
          </p:cNvPr>
          <p:cNvSpPr txBox="1"/>
          <p:nvPr/>
        </p:nvSpPr>
        <p:spPr>
          <a:xfrm>
            <a:off x="762000" y="3937000"/>
            <a:ext cx="11176000" cy="169277"/>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For business-user self-service BI, MCP is the wrong layer. The POC works; it just needs a rename  -  not a rewrite. See REFACTOR.md for the mechanical change set.</a:t>
            </a:r>
          </a:p>
        </p:txBody>
      </p:sp>
      <p:sp>
        <p:nvSpPr>
          <p:cNvPr id="12" name="TextBox 11">
            <a:extLst>
              <a:ext uri="{FF2B5EF4-FFF2-40B4-BE49-F238E27FC236}">
                <a16:creationId xmlns:a16="http://schemas.microsoft.com/office/drawing/2014/main" id="{8E2B40DB-CB66-BBF6-9D17-28B9BFB12017}"/>
              </a:ext>
            </a:extLst>
          </p:cNvPr>
          <p:cNvSpPr txBox="1"/>
          <p:nvPr/>
        </p:nvSpPr>
        <p:spPr>
          <a:xfrm>
            <a:off x="762000" y="4699000"/>
            <a:ext cx="11176000" cy="215444"/>
          </a:xfrm>
          <a:prstGeom prst="rect">
            <a:avLst/>
          </a:prstGeom>
          <a:noFill/>
        </p:spPr>
        <p:txBody>
          <a:bodyPr vert="horz" wrap="square" lIns="0" tIns="0" rIns="0" bIns="0" rtlCol="0">
            <a:spAutoFit/>
          </a:bodyPr>
          <a:lstStyle/>
          <a:p>
            <a:r>
              <a:rPr lang="en-US" sz="1400" b="1">
                <a:solidFill>
                  <a:srgbClr val="4C9E45"/>
                </a:solidFill>
                <a:latin typeface="Segoe UI" panose="020B0502040204020203" pitchFamily="34" charset="0"/>
              </a:rPr>
              <a:t>Where MCP would actually shine</a:t>
            </a:r>
          </a:p>
        </p:txBody>
      </p:sp>
      <p:sp>
        <p:nvSpPr>
          <p:cNvPr id="13" name="TextBox 12">
            <a:extLst>
              <a:ext uri="{FF2B5EF4-FFF2-40B4-BE49-F238E27FC236}">
                <a16:creationId xmlns:a16="http://schemas.microsoft.com/office/drawing/2014/main" id="{91FDAD5B-A5F2-BD36-8CC6-659580B22E30}"/>
              </a:ext>
            </a:extLst>
          </p:cNvPr>
          <p:cNvSpPr txBox="1"/>
          <p:nvPr/>
        </p:nvSpPr>
        <p:spPr>
          <a:xfrm>
            <a:off x="762000" y="5016500"/>
            <a:ext cx="11176000" cy="338554"/>
          </a:xfrm>
          <a:prstGeom prst="rect">
            <a:avLst/>
          </a:prstGeom>
          <a:noFill/>
        </p:spPr>
        <p:txBody>
          <a:bodyPr vert="horz" wrap="square" lIns="0" tIns="0" rIns="0" bIns="0" rtlCol="0">
            <a:spAutoFit/>
          </a:bodyPr>
          <a:lstStyle/>
          <a:p>
            <a:r>
              <a:rPr lang="en-US" sz="1100">
                <a:solidFill>
                  <a:srgbClr val="666666"/>
                </a:solidFill>
                <a:latin typeface="Segoe UI" panose="020B0502040204020203" pitchFamily="34" charset="0"/>
              </a:rPr>
              <a:t>If we wanted our EDW queryable from inside Claude, VS Code, or Cursor for developers and analysts  -  that is a real, legitimate MCP use case. Different audience than this project, but worth keeping on the roadmap.</a:t>
            </a:r>
          </a:p>
        </p:txBody>
      </p:sp>
      <p:sp>
        <p:nvSpPr>
          <p:cNvPr id="14" name="Rectangle 13">
            <a:extLst>
              <a:ext uri="{FF2B5EF4-FFF2-40B4-BE49-F238E27FC236}">
                <a16:creationId xmlns:a16="http://schemas.microsoft.com/office/drawing/2014/main" id="{0332FBFB-74ED-062F-99B8-F698789E8D5A}"/>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2D23A7C-1967-CA01-FD6C-1129E6269242}"/>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16" name="TextBox 15">
            <a:extLst>
              <a:ext uri="{FF2B5EF4-FFF2-40B4-BE49-F238E27FC236}">
                <a16:creationId xmlns:a16="http://schemas.microsoft.com/office/drawing/2014/main" id="{B2D3AE60-FF9F-A479-F3C7-57DF1CB303B5}"/>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13 / 14</a:t>
            </a:r>
          </a:p>
        </p:txBody>
      </p:sp>
    </p:spTree>
    <p:extLst>
      <p:ext uri="{BB962C8B-B14F-4D97-AF65-F5344CB8AC3E}">
        <p14:creationId xmlns:p14="http://schemas.microsoft.com/office/powerpoint/2010/main" val="4171306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006975-9573-5B43-654F-75028DF9B602}"/>
              </a:ext>
            </a:extLst>
          </p:cNvPr>
          <p:cNvSpPr/>
          <p:nvPr/>
        </p:nvSpPr>
        <p:spPr>
          <a:xfrm>
            <a:off x="0" y="0"/>
            <a:ext cx="12192000" cy="76200"/>
          </a:xfrm>
          <a:prstGeom prst="rect">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15BB78A-C069-C9C6-D841-C47F3F2E82FF}"/>
              </a:ext>
            </a:extLst>
          </p:cNvPr>
          <p:cNvSpPr txBox="1"/>
          <p:nvPr/>
        </p:nvSpPr>
        <p:spPr>
          <a:xfrm>
            <a:off x="508000" y="381000"/>
            <a:ext cx="11176000" cy="400110"/>
          </a:xfrm>
          <a:prstGeom prst="rect">
            <a:avLst/>
          </a:prstGeom>
          <a:noFill/>
        </p:spPr>
        <p:txBody>
          <a:bodyPr vert="horz" wrap="square" lIns="0" tIns="0" rIns="0" bIns="0" rtlCol="0">
            <a:spAutoFit/>
          </a:bodyPr>
          <a:lstStyle/>
          <a:p>
            <a:r>
              <a:rPr lang="en-US" sz="2600" b="1">
                <a:solidFill>
                  <a:srgbClr val="222222"/>
                </a:solidFill>
                <a:latin typeface="Segoe UI" panose="020B0502040204020203" pitchFamily="34" charset="0"/>
              </a:rPr>
              <a:t>What I want from you today</a:t>
            </a:r>
          </a:p>
        </p:txBody>
      </p:sp>
      <p:sp>
        <p:nvSpPr>
          <p:cNvPr id="4" name="Rectangle 3">
            <a:extLst>
              <a:ext uri="{FF2B5EF4-FFF2-40B4-BE49-F238E27FC236}">
                <a16:creationId xmlns:a16="http://schemas.microsoft.com/office/drawing/2014/main" id="{DE840B7E-8D9D-31D0-80F3-EAA0E8D952C8}"/>
              </a:ext>
            </a:extLst>
          </p:cNvPr>
          <p:cNvSpPr/>
          <p:nvPr/>
        </p:nvSpPr>
        <p:spPr>
          <a:xfrm>
            <a:off x="508000" y="914400"/>
            <a:ext cx="1016000" cy="38100"/>
          </a:xfrm>
          <a:prstGeom prst="rect">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7971333-D904-7546-1DD6-71AC09B9AC21}"/>
              </a:ext>
            </a:extLst>
          </p:cNvPr>
          <p:cNvSpPr txBox="1"/>
          <p:nvPr/>
        </p:nvSpPr>
        <p:spPr>
          <a:xfrm>
            <a:off x="508000" y="990600"/>
            <a:ext cx="11176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Not a go/no-go. A gut check and a direction.</a:t>
            </a:r>
          </a:p>
        </p:txBody>
      </p:sp>
      <p:sp>
        <p:nvSpPr>
          <p:cNvPr id="6" name="Rectangle: Rounded Corners 5">
            <a:extLst>
              <a:ext uri="{FF2B5EF4-FFF2-40B4-BE49-F238E27FC236}">
                <a16:creationId xmlns:a16="http://schemas.microsoft.com/office/drawing/2014/main" id="{EEB01FEE-181F-C168-30B9-E002DE4FF182}"/>
              </a:ext>
            </a:extLst>
          </p:cNvPr>
          <p:cNvSpPr/>
          <p:nvPr/>
        </p:nvSpPr>
        <p:spPr>
          <a:xfrm>
            <a:off x="508000" y="1460500"/>
            <a:ext cx="11176000" cy="1016000"/>
          </a:xfrm>
          <a:prstGeom prst="roundRect">
            <a:avLst>
              <a:gd name="adj" fmla="val 20000"/>
            </a:avLst>
          </a:prstGeom>
          <a:solidFill>
            <a:srgbClr val="FFFFFF"/>
          </a:solidFill>
          <a:ln w="19050">
            <a:solidFill>
              <a:srgbClr val="4C9E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30F8B57-7470-AE34-0D60-ADAA6456FC29}"/>
              </a:ext>
            </a:extLst>
          </p:cNvPr>
          <p:cNvSpPr/>
          <p:nvPr/>
        </p:nvSpPr>
        <p:spPr>
          <a:xfrm>
            <a:off x="508000" y="1460500"/>
            <a:ext cx="101600" cy="1016000"/>
          </a:xfrm>
          <a:prstGeom prst="rect">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9127FB8-3D1C-BACB-9D95-EE219DF2ED02}"/>
              </a:ext>
            </a:extLst>
          </p:cNvPr>
          <p:cNvSpPr txBox="1"/>
          <p:nvPr/>
        </p:nvSpPr>
        <p:spPr>
          <a:xfrm>
            <a:off x="825500" y="1587500"/>
            <a:ext cx="10414000" cy="215444"/>
          </a:xfrm>
          <a:prstGeom prst="rect">
            <a:avLst/>
          </a:prstGeom>
          <a:noFill/>
        </p:spPr>
        <p:txBody>
          <a:bodyPr vert="horz" wrap="square" lIns="0" tIns="0" rIns="0" bIns="0" rtlCol="0">
            <a:spAutoFit/>
          </a:bodyPr>
          <a:lstStyle/>
          <a:p>
            <a:r>
              <a:rPr lang="en-US" sz="1400" b="1">
                <a:solidFill>
                  <a:srgbClr val="4C9E45"/>
                </a:solidFill>
                <a:latin typeface="Segoe UI" panose="020B0502040204020203" pitchFamily="34" charset="0"/>
              </a:rPr>
              <a:t>Feedback</a:t>
            </a:r>
          </a:p>
        </p:txBody>
      </p:sp>
      <p:sp>
        <p:nvSpPr>
          <p:cNvPr id="9" name="TextBox 8">
            <a:extLst>
              <a:ext uri="{FF2B5EF4-FFF2-40B4-BE49-F238E27FC236}">
                <a16:creationId xmlns:a16="http://schemas.microsoft.com/office/drawing/2014/main" id="{2684371D-DD7D-5B85-4038-112308AC7FBF}"/>
              </a:ext>
            </a:extLst>
          </p:cNvPr>
          <p:cNvSpPr txBox="1"/>
          <p:nvPr/>
        </p:nvSpPr>
        <p:spPr>
          <a:xfrm>
            <a:off x="825500" y="1917700"/>
            <a:ext cx="10414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Does this look like something our users would actually use? Where does it feel fragile? What would you not trust?</a:t>
            </a:r>
          </a:p>
        </p:txBody>
      </p:sp>
      <p:sp>
        <p:nvSpPr>
          <p:cNvPr id="10" name="Rectangle: Rounded Corners 9">
            <a:extLst>
              <a:ext uri="{FF2B5EF4-FFF2-40B4-BE49-F238E27FC236}">
                <a16:creationId xmlns:a16="http://schemas.microsoft.com/office/drawing/2014/main" id="{B67308D5-B225-1EF6-692A-6ED8EFC5AB07}"/>
              </a:ext>
            </a:extLst>
          </p:cNvPr>
          <p:cNvSpPr/>
          <p:nvPr/>
        </p:nvSpPr>
        <p:spPr>
          <a:xfrm>
            <a:off x="508000" y="2603500"/>
            <a:ext cx="11176000" cy="1016000"/>
          </a:xfrm>
          <a:prstGeom prst="roundRect">
            <a:avLst>
              <a:gd name="adj" fmla="val 20000"/>
            </a:avLst>
          </a:prstGeom>
          <a:solidFill>
            <a:srgbClr val="FFFFFF"/>
          </a:solidFill>
          <a:ln w="19050">
            <a:solidFill>
              <a:srgbClr val="4C9E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CF8C355-9056-69ED-5B11-CD2D99224E37}"/>
              </a:ext>
            </a:extLst>
          </p:cNvPr>
          <p:cNvSpPr/>
          <p:nvPr/>
        </p:nvSpPr>
        <p:spPr>
          <a:xfrm>
            <a:off x="508000" y="2603500"/>
            <a:ext cx="101600" cy="1016000"/>
          </a:xfrm>
          <a:prstGeom prst="rect">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EA99FEB-942B-493F-D5B7-F16261128275}"/>
              </a:ext>
            </a:extLst>
          </p:cNvPr>
          <p:cNvSpPr txBox="1"/>
          <p:nvPr/>
        </p:nvSpPr>
        <p:spPr>
          <a:xfrm>
            <a:off x="825500" y="2730500"/>
            <a:ext cx="10414000" cy="215444"/>
          </a:xfrm>
          <a:prstGeom prst="rect">
            <a:avLst/>
          </a:prstGeom>
          <a:noFill/>
        </p:spPr>
        <p:txBody>
          <a:bodyPr vert="horz" wrap="square" lIns="0" tIns="0" rIns="0" bIns="0" rtlCol="0">
            <a:spAutoFit/>
          </a:bodyPr>
          <a:lstStyle/>
          <a:p>
            <a:r>
              <a:rPr lang="en-US" sz="1400" b="1">
                <a:solidFill>
                  <a:srgbClr val="4C9E45"/>
                </a:solidFill>
                <a:latin typeface="Segoe UI" panose="020B0502040204020203" pitchFamily="34" charset="0"/>
              </a:rPr>
              <a:t>Use cases</a:t>
            </a:r>
          </a:p>
        </p:txBody>
      </p:sp>
      <p:sp>
        <p:nvSpPr>
          <p:cNvPr id="13" name="TextBox 12">
            <a:extLst>
              <a:ext uri="{FF2B5EF4-FFF2-40B4-BE49-F238E27FC236}">
                <a16:creationId xmlns:a16="http://schemas.microsoft.com/office/drawing/2014/main" id="{68DD25AD-7F44-DD7A-A185-A2A5511DE604}"/>
              </a:ext>
            </a:extLst>
          </p:cNvPr>
          <p:cNvSpPr txBox="1"/>
          <p:nvPr/>
        </p:nvSpPr>
        <p:spPr>
          <a:xfrm>
            <a:off x="825500" y="3060700"/>
            <a:ext cx="10414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Which corners of our data model would benefit most? Where is the 2-year learning curve hurting us right now?</a:t>
            </a:r>
          </a:p>
        </p:txBody>
      </p:sp>
      <p:sp>
        <p:nvSpPr>
          <p:cNvPr id="14" name="Rectangle: Rounded Corners 13">
            <a:extLst>
              <a:ext uri="{FF2B5EF4-FFF2-40B4-BE49-F238E27FC236}">
                <a16:creationId xmlns:a16="http://schemas.microsoft.com/office/drawing/2014/main" id="{D760A680-C802-9C16-3D09-5B5BA817FF48}"/>
              </a:ext>
            </a:extLst>
          </p:cNvPr>
          <p:cNvSpPr/>
          <p:nvPr/>
        </p:nvSpPr>
        <p:spPr>
          <a:xfrm>
            <a:off x="508000" y="3746500"/>
            <a:ext cx="11176000" cy="1016000"/>
          </a:xfrm>
          <a:prstGeom prst="roundRect">
            <a:avLst>
              <a:gd name="adj" fmla="val 20000"/>
            </a:avLst>
          </a:prstGeom>
          <a:solidFill>
            <a:srgbClr val="FFFFFF"/>
          </a:solidFill>
          <a:ln w="19050">
            <a:solidFill>
              <a:srgbClr val="4C9E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3E246D2-7B85-2A0F-99A4-AE904CA21636}"/>
              </a:ext>
            </a:extLst>
          </p:cNvPr>
          <p:cNvSpPr/>
          <p:nvPr/>
        </p:nvSpPr>
        <p:spPr>
          <a:xfrm>
            <a:off x="508000" y="3746500"/>
            <a:ext cx="101600" cy="1016000"/>
          </a:xfrm>
          <a:prstGeom prst="rect">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E06A7CA-B2C3-1964-8384-E213D6463D6E}"/>
              </a:ext>
            </a:extLst>
          </p:cNvPr>
          <p:cNvSpPr txBox="1"/>
          <p:nvPr/>
        </p:nvSpPr>
        <p:spPr>
          <a:xfrm>
            <a:off x="825500" y="3873500"/>
            <a:ext cx="10414000" cy="215444"/>
          </a:xfrm>
          <a:prstGeom prst="rect">
            <a:avLst/>
          </a:prstGeom>
          <a:noFill/>
        </p:spPr>
        <p:txBody>
          <a:bodyPr vert="horz" wrap="square" lIns="0" tIns="0" rIns="0" bIns="0" rtlCol="0">
            <a:spAutoFit/>
          </a:bodyPr>
          <a:lstStyle/>
          <a:p>
            <a:r>
              <a:rPr lang="en-US" sz="1400" b="1">
                <a:solidFill>
                  <a:srgbClr val="4C9E45"/>
                </a:solidFill>
                <a:latin typeface="Segoe UI" panose="020B0502040204020203" pitchFamily="34" charset="0"/>
              </a:rPr>
              <a:t>The ask</a:t>
            </a:r>
          </a:p>
        </p:txBody>
      </p:sp>
      <p:sp>
        <p:nvSpPr>
          <p:cNvPr id="17" name="TextBox 16">
            <a:extLst>
              <a:ext uri="{FF2B5EF4-FFF2-40B4-BE49-F238E27FC236}">
                <a16:creationId xmlns:a16="http://schemas.microsoft.com/office/drawing/2014/main" id="{F35DE740-24E7-E9AF-69FF-E2F7B4FE9595}"/>
              </a:ext>
            </a:extLst>
          </p:cNvPr>
          <p:cNvSpPr txBox="1"/>
          <p:nvPr/>
        </p:nvSpPr>
        <p:spPr>
          <a:xfrm>
            <a:off x="825500" y="4203700"/>
            <a:ext cx="10414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Help me build the case for Fabric. If the AI story moves the needle for your stakeholders, say so  -  that is the argument I am missing.</a:t>
            </a:r>
          </a:p>
        </p:txBody>
      </p:sp>
      <p:sp>
        <p:nvSpPr>
          <p:cNvPr id="18" name="Rectangle: Rounded Corners 17">
            <a:extLst>
              <a:ext uri="{FF2B5EF4-FFF2-40B4-BE49-F238E27FC236}">
                <a16:creationId xmlns:a16="http://schemas.microsoft.com/office/drawing/2014/main" id="{32DAA03D-9016-B425-1E78-C6C196C0B62E}"/>
              </a:ext>
            </a:extLst>
          </p:cNvPr>
          <p:cNvSpPr/>
          <p:nvPr/>
        </p:nvSpPr>
        <p:spPr>
          <a:xfrm>
            <a:off x="508000" y="4889500"/>
            <a:ext cx="11176000" cy="1016000"/>
          </a:xfrm>
          <a:prstGeom prst="roundRect">
            <a:avLst>
              <a:gd name="adj" fmla="val 20000"/>
            </a:avLst>
          </a:prstGeom>
          <a:solidFill>
            <a:srgbClr val="FFFFFF"/>
          </a:solidFill>
          <a:ln w="19050">
            <a:solidFill>
              <a:srgbClr val="4C9E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1FC7596-A814-C262-0A29-203D5B30921E}"/>
              </a:ext>
            </a:extLst>
          </p:cNvPr>
          <p:cNvSpPr/>
          <p:nvPr/>
        </p:nvSpPr>
        <p:spPr>
          <a:xfrm>
            <a:off x="508000" y="4889500"/>
            <a:ext cx="101600" cy="1016000"/>
          </a:xfrm>
          <a:prstGeom prst="rect">
            <a:avLst/>
          </a:prstGeom>
          <a:solidFill>
            <a:srgbClr val="4C9E4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ACE0AD0-91F8-9E38-3A5F-13357B9C2253}"/>
              </a:ext>
            </a:extLst>
          </p:cNvPr>
          <p:cNvSpPr txBox="1"/>
          <p:nvPr/>
        </p:nvSpPr>
        <p:spPr>
          <a:xfrm>
            <a:off x="825500" y="5016500"/>
            <a:ext cx="10414000" cy="215444"/>
          </a:xfrm>
          <a:prstGeom prst="rect">
            <a:avLst/>
          </a:prstGeom>
          <a:noFill/>
        </p:spPr>
        <p:txBody>
          <a:bodyPr vert="horz" wrap="square" lIns="0" tIns="0" rIns="0" bIns="0" rtlCol="0">
            <a:spAutoFit/>
          </a:bodyPr>
          <a:lstStyle/>
          <a:p>
            <a:r>
              <a:rPr lang="en-US" sz="1400" b="1">
                <a:solidFill>
                  <a:srgbClr val="4C9E45"/>
                </a:solidFill>
                <a:latin typeface="Segoe UI" panose="020B0502040204020203" pitchFamily="34" charset="0"/>
              </a:rPr>
              <a:t>Clear lane</a:t>
            </a:r>
          </a:p>
        </p:txBody>
      </p:sp>
      <p:sp>
        <p:nvSpPr>
          <p:cNvPr id="21" name="TextBox 20">
            <a:extLst>
              <a:ext uri="{FF2B5EF4-FFF2-40B4-BE49-F238E27FC236}">
                <a16:creationId xmlns:a16="http://schemas.microsoft.com/office/drawing/2014/main" id="{BDBD5D20-7D06-AFF0-10D0-ADBF5F49257D}"/>
              </a:ext>
            </a:extLst>
          </p:cNvPr>
          <p:cNvSpPr txBox="1"/>
          <p:nvPr/>
        </p:nvSpPr>
        <p:spPr>
          <a:xfrm>
            <a:off x="825500" y="5346700"/>
            <a:ext cx="10414000" cy="184666"/>
          </a:xfrm>
          <a:prstGeom prst="rect">
            <a:avLst/>
          </a:prstGeom>
          <a:noFill/>
        </p:spPr>
        <p:txBody>
          <a:bodyPr vert="horz" wrap="square" lIns="0" tIns="0" rIns="0" bIns="0" rtlCol="0">
            <a:spAutoFit/>
          </a:bodyPr>
          <a:lstStyle/>
          <a:p>
            <a:r>
              <a:rPr lang="en-US" sz="1200">
                <a:solidFill>
                  <a:srgbClr val="666666"/>
                </a:solidFill>
                <a:latin typeface="Segoe UI" panose="020B0502040204020203" pitchFamily="34" charset="0"/>
              </a:rPr>
              <a:t>Agreement that this is a research/learning aid, not a replacement for governed reports. Decisions still come from reviewed BI.</a:t>
            </a:r>
          </a:p>
        </p:txBody>
      </p:sp>
      <p:sp>
        <p:nvSpPr>
          <p:cNvPr id="22" name="Rectangle 21">
            <a:extLst>
              <a:ext uri="{FF2B5EF4-FFF2-40B4-BE49-F238E27FC236}">
                <a16:creationId xmlns:a16="http://schemas.microsoft.com/office/drawing/2014/main" id="{58321D09-A154-F4D4-D6CF-619AE3844B0E}"/>
              </a:ext>
            </a:extLst>
          </p:cNvPr>
          <p:cNvSpPr/>
          <p:nvPr/>
        </p:nvSpPr>
        <p:spPr>
          <a:xfrm>
            <a:off x="508000" y="6159500"/>
            <a:ext cx="11176000" cy="254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090F4B0-A444-EA77-ADEB-BE0B9CA26AC4}"/>
              </a:ext>
            </a:extLst>
          </p:cNvPr>
          <p:cNvSpPr txBox="1"/>
          <p:nvPr/>
        </p:nvSpPr>
        <p:spPr>
          <a:xfrm>
            <a:off x="508000" y="6286500"/>
            <a:ext cx="11176000" cy="246221"/>
          </a:xfrm>
          <a:prstGeom prst="rect">
            <a:avLst/>
          </a:prstGeom>
          <a:noFill/>
        </p:spPr>
        <p:txBody>
          <a:bodyPr vert="horz" wrap="square" lIns="0" tIns="0" rIns="0" bIns="0" rtlCol="0">
            <a:spAutoFit/>
          </a:bodyPr>
          <a:lstStyle/>
          <a:p>
            <a:r>
              <a:rPr lang="en-US" sz="1600" b="1">
                <a:solidFill>
                  <a:srgbClr val="6B4990"/>
                </a:solidFill>
                <a:latin typeface="Segoe UI" panose="020B0502040204020203" pitchFamily="34" charset="0"/>
              </a:rPr>
              <a:t>Thank you  -  questions?</a:t>
            </a:r>
          </a:p>
        </p:txBody>
      </p:sp>
      <p:sp>
        <p:nvSpPr>
          <p:cNvPr id="24" name="Rectangle 23">
            <a:extLst>
              <a:ext uri="{FF2B5EF4-FFF2-40B4-BE49-F238E27FC236}">
                <a16:creationId xmlns:a16="http://schemas.microsoft.com/office/drawing/2014/main" id="{554B46EE-F105-E856-03C9-A64B571149F1}"/>
              </a:ext>
            </a:extLst>
          </p:cNvPr>
          <p:cNvSpPr/>
          <p:nvPr/>
        </p:nvSpPr>
        <p:spPr>
          <a:xfrm>
            <a:off x="0" y="6667500"/>
            <a:ext cx="12192000" cy="190500"/>
          </a:xfrm>
          <a:prstGeom prst="rect">
            <a:avLst/>
          </a:prstGeom>
          <a:solidFill>
            <a:srgbClr val="6B499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992863B-0E63-0819-D228-4E4CFF2B6DDB}"/>
              </a:ext>
            </a:extLst>
          </p:cNvPr>
          <p:cNvSpPr txBox="1"/>
          <p:nvPr/>
        </p:nvSpPr>
        <p:spPr>
          <a:xfrm>
            <a:off x="381000" y="6705600"/>
            <a:ext cx="7620000" cy="138499"/>
          </a:xfrm>
          <a:prstGeom prst="rect">
            <a:avLst/>
          </a:prstGeom>
          <a:noFill/>
        </p:spPr>
        <p:txBody>
          <a:bodyPr vert="horz" wrap="square" lIns="0" tIns="0" rIns="0" bIns="0" rtlCol="0">
            <a:spAutoFit/>
          </a:bodyPr>
          <a:lstStyle/>
          <a:p>
            <a:r>
              <a:rPr lang="en-US" sz="900">
                <a:solidFill>
                  <a:srgbClr val="FFFFFF"/>
                </a:solidFill>
                <a:latin typeface="Segoe UI" panose="020B0502040204020203" pitchFamily="34" charset="0"/>
              </a:rPr>
              <a:t>RSCS  -  EDW Natural-Language Query POC</a:t>
            </a:r>
          </a:p>
        </p:txBody>
      </p:sp>
      <p:sp>
        <p:nvSpPr>
          <p:cNvPr id="26" name="TextBox 25">
            <a:extLst>
              <a:ext uri="{FF2B5EF4-FFF2-40B4-BE49-F238E27FC236}">
                <a16:creationId xmlns:a16="http://schemas.microsoft.com/office/drawing/2014/main" id="{4A382610-AE57-A39B-2BE4-6E9CCE2C7377}"/>
              </a:ext>
            </a:extLst>
          </p:cNvPr>
          <p:cNvSpPr txBox="1"/>
          <p:nvPr/>
        </p:nvSpPr>
        <p:spPr>
          <a:xfrm>
            <a:off x="10922000" y="6705600"/>
            <a:ext cx="1016000" cy="138499"/>
          </a:xfrm>
          <a:prstGeom prst="rect">
            <a:avLst/>
          </a:prstGeom>
          <a:noFill/>
        </p:spPr>
        <p:txBody>
          <a:bodyPr vert="horz" wrap="square" lIns="0" tIns="0" rIns="0" bIns="0" rtlCol="0">
            <a:spAutoFit/>
          </a:bodyPr>
          <a:lstStyle/>
          <a:p>
            <a:pPr algn="r"/>
            <a:r>
              <a:rPr lang="en-US" sz="900">
                <a:solidFill>
                  <a:srgbClr val="FFFFFF"/>
                </a:solidFill>
                <a:latin typeface="Segoe UI" panose="020B0502040204020203" pitchFamily="34" charset="0"/>
              </a:rPr>
              <a:t>14 / 14</a:t>
            </a:r>
          </a:p>
        </p:txBody>
      </p:sp>
    </p:spTree>
    <p:extLst>
      <p:ext uri="{BB962C8B-B14F-4D97-AF65-F5344CB8AC3E}">
        <p14:creationId xmlns:p14="http://schemas.microsoft.com/office/powerpoint/2010/main" val="83954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1522</Words>
  <Application>Microsoft Office PowerPoint</Application>
  <PresentationFormat>On-screen Show (16:9)</PresentationFormat>
  <Paragraphs>197</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Peregrine Tempus</dc:creator>
  <cp:lastModifiedBy>Peregrine Tempus</cp:lastModifiedBy>
  <cp:revision>1</cp:revision>
  <dcterms:created xsi:type="dcterms:W3CDTF">2026-04-13T23:25:30Z</dcterms:created>
  <dcterms:modified xsi:type="dcterms:W3CDTF">2026-04-13T23:31:35Z</dcterms:modified>
</cp:coreProperties>
</file>