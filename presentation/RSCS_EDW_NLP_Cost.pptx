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454A-A429-4573-72D4-7A9FDFCB8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2E9F3-B4AC-1EA8-DB9A-AF656F157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68881-BA41-F3EC-266F-9687B7CD4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B4C21-C310-A43B-DCCE-5C197A648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D3374-F398-8185-D2CC-DE2657EFE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0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2CFEF-8EBD-0B17-0B11-5EB18ED4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0A809-556E-C585-C5BB-CED68BC14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60806-4BA7-04AD-9F6F-61A002D04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6A22B-AE8B-3AD2-0708-CFB2EADA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252D1-717D-F837-CD09-73E8B47C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8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8BA24-A626-D456-0D88-27E8A9BEE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5663A-F1E4-4229-EB1D-B04FEEF59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49899-81A7-46D7-E42D-0F3655C0E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9AFD4-9748-87CA-AD22-57A6545AC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740E4-2958-DAFF-4D54-B54AED7EE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10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FDF8-0631-D46D-8D37-77DF12C2E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FFC0D-2221-AC75-748D-10E11D94A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D6BB-1496-3AE3-41CF-515B57752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AE4F4-474A-17CC-28DB-071D8E853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C8A8A-B083-75A8-BDD7-4C7A41B70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9E76B-FA08-3C6A-95DF-E4ED1799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43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8F23-A42B-CB9E-7CD8-8EEAA1AF6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65EDF-DFE3-8C6F-A21D-3C79F2CC5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68CD1-F3EC-E555-A179-308239540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E4242-BBD2-60C4-307F-8A5B0BB64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D439D-F4E0-E10E-8DA7-5D399743B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7B291-DC19-D166-FED3-1C6AD496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15B129-520F-7C36-6311-352D48FC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EB4E9-E706-9B89-93F1-48172AA6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C5252-BDCE-DFB6-293C-668469819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6E307-1A21-C7B1-66B1-57DEECCDA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6B9172-5CA0-06FF-C742-CF45351D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1A7B4-E4C8-878D-392C-7245C60C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6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9D973A-81D4-9E9A-3847-DE16C9ECB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BDD0F7-9687-71D4-62E5-B9F566E8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22464-C694-66E1-FDA3-78D5EB49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18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E389-91B1-F2C0-84F9-528EBD73D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C5EC9-37F2-10DD-7FEE-1AF4DD70D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57B3E-8899-81B6-BA4F-6DB5AFAA7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E6CC8-9989-2877-8570-1A039070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07C01-D7C9-ACD2-82F9-C0BC1CE6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6B395-A9A0-C9FD-A86C-5AD687C9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4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AB08-F1E6-4A2B-162B-9B70E1E9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36BB5-E531-A844-2E3F-ABA48CE42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6FBB5-FD41-4E05-109E-8733EB6BA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F3B74-CA45-CB60-7C68-3F65197E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9CC1-89DA-E9E7-AC85-33B1C7F1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B1892-E982-78DD-D427-56D8D715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1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DB6A5-31CC-ECD3-F24C-C6BD2888B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572A2-CD1A-D34D-132B-03669A3FF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0F779-0BCB-4FEC-1C16-C6DB9D71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73861-A573-B9BA-B18F-423ADBE00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70D6C-DFB6-FDFC-46C4-1427DE28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11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48532-57F7-E9A1-4983-985F6C011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E836D-46DB-A920-0659-BDCD956BD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5CA15-2EAD-08B5-1A96-66EBA30F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32884-63C6-F156-E83E-82A97E75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AB2E2-93B3-B130-0E94-B70AB304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15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03836B-7FC0-9BB6-4F6E-998B40A15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362EB-4DC3-F8FE-2064-725D35913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4D87B-9AE8-AC64-3F53-99DD0FFFEC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B7FCB-9397-48A3-B820-2CDC5286F7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E2CCB-7CB4-F834-1704-98269074B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78808-5EA9-035C-ED6D-78206D5C1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0CF42-1578-4CD4-B93B-8E010F06C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2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F35B5E-33C9-9B4F-CF72-B3F772349F0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6B499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F0CB4-8AFD-3A64-0146-27BA235DF265}"/>
              </a:ext>
            </a:extLst>
          </p:cNvPr>
          <p:cNvSpPr txBox="1"/>
          <p:nvPr/>
        </p:nvSpPr>
        <p:spPr>
          <a:xfrm>
            <a:off x="508000" y="381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222222"/>
                </a:solidFill>
                <a:latin typeface="Segoe UI" panose="020B0502040204020203" pitchFamily="34" charset="0"/>
              </a:rPr>
              <a:t>Cost model  -  how the NLP layer is billed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41FA0C-F08A-E20E-831F-93C089A54AF6}"/>
              </a:ext>
            </a:extLst>
          </p:cNvPr>
          <p:cNvSpPr/>
          <p:nvPr/>
        </p:nvSpPr>
        <p:spPr>
          <a:xfrm>
            <a:off x="508000" y="914400"/>
            <a:ext cx="1016000" cy="38100"/>
          </a:xfrm>
          <a:prstGeom prst="rect">
            <a:avLst/>
          </a:prstGeom>
          <a:solidFill>
            <a:srgbClr val="6B499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32C32D-F36C-0A81-F0F5-44F3F14EB627}"/>
              </a:ext>
            </a:extLst>
          </p:cNvPr>
          <p:cNvSpPr txBox="1"/>
          <p:nvPr/>
        </p:nvSpPr>
        <p:spPr>
          <a:xfrm>
            <a:off x="508000" y="990600"/>
            <a:ext cx="1117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66666"/>
                </a:solidFill>
                <a:latin typeface="Segoe UI" panose="020B0502040204020203" pitchFamily="34" charset="0"/>
              </a:rPr>
              <a:t>You already paid for the runway. The NLP layer just taxis on it.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FA2280-2F7F-A492-D6D5-FD604B4B8D6B}"/>
              </a:ext>
            </a:extLst>
          </p:cNvPr>
          <p:cNvSpPr/>
          <p:nvPr/>
        </p:nvSpPr>
        <p:spPr>
          <a:xfrm>
            <a:off x="508000" y="1460500"/>
            <a:ext cx="111760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6B4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AD397F-1728-309C-ECEC-17501E59B932}"/>
              </a:ext>
            </a:extLst>
          </p:cNvPr>
          <p:cNvSpPr/>
          <p:nvPr/>
        </p:nvSpPr>
        <p:spPr>
          <a:xfrm>
            <a:off x="508000" y="1460500"/>
            <a:ext cx="127000" cy="1333500"/>
          </a:xfrm>
          <a:prstGeom prst="rect">
            <a:avLst/>
          </a:prstGeom>
          <a:solidFill>
            <a:srgbClr val="6B499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37C57-CBF2-86FD-5661-E5F6F7935D85}"/>
              </a:ext>
            </a:extLst>
          </p:cNvPr>
          <p:cNvSpPr txBox="1"/>
          <p:nvPr/>
        </p:nvSpPr>
        <p:spPr>
          <a:xfrm>
            <a:off x="825500" y="15875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6B4990"/>
                </a:solidFill>
                <a:latin typeface="Segoe UI" panose="020B0502040204020203" pitchFamily="34" charset="0"/>
              </a:rPr>
              <a:t>1. NL understanding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EDE8F-9ED4-3EAC-0FFB-F30D3E725352}"/>
              </a:ext>
            </a:extLst>
          </p:cNvPr>
          <p:cNvSpPr txBox="1"/>
          <p:nvPr/>
        </p:nvSpPr>
        <p:spPr>
          <a:xfrm>
            <a:off x="825500" y="19431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Segoe UI" panose="020B0502040204020203" pitchFamily="34" charset="0"/>
              </a:rPr>
              <a:t>Fabric Data Agent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9A271-F9CC-196C-A96E-74DB3565B049}"/>
              </a:ext>
            </a:extLst>
          </p:cNvPr>
          <p:cNvSpPr txBox="1"/>
          <p:nvPr/>
        </p:nvSpPr>
        <p:spPr>
          <a:xfrm>
            <a:off x="825500" y="2222500"/>
            <a:ext cx="381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Capacity Units (CUs) on your existing F-SKU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F8FC34-DE7F-42A8-BF83-9BC16288EAD5}"/>
              </a:ext>
            </a:extLst>
          </p:cNvPr>
          <p:cNvSpPr txBox="1"/>
          <p:nvPr/>
        </p:nvSpPr>
        <p:spPr>
          <a:xfrm>
            <a:off x="4953000" y="1638300"/>
            <a:ext cx="660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Segoe UI" panose="020B0502040204020203" pitchFamily="34" charset="0"/>
              </a:rPr>
              <a:t>Input:  100 CU-sec / 1K tokens
Output: 400 CU-sec / 1K tokens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DD0D5C-C704-B640-4AA6-EEDA301B66BC}"/>
              </a:ext>
            </a:extLst>
          </p:cNvPr>
          <p:cNvSpPr/>
          <p:nvPr/>
        </p:nvSpPr>
        <p:spPr>
          <a:xfrm>
            <a:off x="508000" y="2921000"/>
            <a:ext cx="111760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C9E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05832C-C8F5-1F8B-F23B-368770161D72}"/>
              </a:ext>
            </a:extLst>
          </p:cNvPr>
          <p:cNvSpPr/>
          <p:nvPr/>
        </p:nvSpPr>
        <p:spPr>
          <a:xfrm>
            <a:off x="508000" y="2921000"/>
            <a:ext cx="127000" cy="1333500"/>
          </a:xfrm>
          <a:prstGeom prst="rect">
            <a:avLst/>
          </a:prstGeom>
          <a:solidFill>
            <a:srgbClr val="4C9E4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7B7B79-1A2C-3BB5-EEBA-97AA3A610109}"/>
              </a:ext>
            </a:extLst>
          </p:cNvPr>
          <p:cNvSpPr txBox="1"/>
          <p:nvPr/>
        </p:nvSpPr>
        <p:spPr>
          <a:xfrm>
            <a:off x="825500" y="30480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4C9E45"/>
                </a:solidFill>
                <a:latin typeface="Segoe UI" panose="020B0502040204020203" pitchFamily="34" charset="0"/>
              </a:rPr>
              <a:t>2. Query execution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37DB45-6D6C-1A60-D0DA-9336D51F31A2}"/>
              </a:ext>
            </a:extLst>
          </p:cNvPr>
          <p:cNvSpPr txBox="1"/>
          <p:nvPr/>
        </p:nvSpPr>
        <p:spPr>
          <a:xfrm>
            <a:off x="825500" y="34036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Segoe UI" panose="020B0502040204020203" pitchFamily="34" charset="0"/>
              </a:rPr>
              <a:t>Warehouse / Semantic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C1A8D8-A307-1E95-7AE3-0265DD0CC481}"/>
              </a:ext>
            </a:extLst>
          </p:cNvPr>
          <p:cNvSpPr txBox="1"/>
          <p:nvPr/>
        </p:nvSpPr>
        <p:spPr>
          <a:xfrm>
            <a:off x="825500" y="3683000"/>
            <a:ext cx="381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Same CU pool, different line item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34DC62-C5BA-C8AF-C940-9DACBC03085E}"/>
              </a:ext>
            </a:extLst>
          </p:cNvPr>
          <p:cNvSpPr txBox="1"/>
          <p:nvPr/>
        </p:nvSpPr>
        <p:spPr>
          <a:xfrm>
            <a:off x="4953000" y="3098800"/>
            <a:ext cx="660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Segoe UI" panose="020B0502040204020203" pitchFamily="34" charset="0"/>
              </a:rPr>
              <a:t>Billed as SQL Query or
Semantic Model Query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466D40F-A1DF-1299-EF15-0363A6DC896A}"/>
              </a:ext>
            </a:extLst>
          </p:cNvPr>
          <p:cNvSpPr/>
          <p:nvPr/>
        </p:nvSpPr>
        <p:spPr>
          <a:xfrm>
            <a:off x="508000" y="4381500"/>
            <a:ext cx="1117600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68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AB4F26-70C8-CDD8-E9DA-ECCEF1D67731}"/>
              </a:ext>
            </a:extLst>
          </p:cNvPr>
          <p:cNvSpPr/>
          <p:nvPr/>
        </p:nvSpPr>
        <p:spPr>
          <a:xfrm>
            <a:off x="508000" y="4381500"/>
            <a:ext cx="127000" cy="1333500"/>
          </a:xfrm>
          <a:prstGeom prst="rect">
            <a:avLst/>
          </a:prstGeom>
          <a:solidFill>
            <a:srgbClr val="F68D2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A6D0B-F484-C4AC-9002-2888043D010A}"/>
              </a:ext>
            </a:extLst>
          </p:cNvPr>
          <p:cNvSpPr txBox="1"/>
          <p:nvPr/>
        </p:nvSpPr>
        <p:spPr>
          <a:xfrm>
            <a:off x="825500" y="4508500"/>
            <a:ext cx="381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F68D2D"/>
                </a:solidFill>
                <a:latin typeface="Segoe UI" panose="020B0502040204020203" pitchFamily="34" charset="0"/>
              </a:rPr>
              <a:t>3. Surface layer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E1500A-CD42-E62B-9CDD-621979C26210}"/>
              </a:ext>
            </a:extLst>
          </p:cNvPr>
          <p:cNvSpPr txBox="1"/>
          <p:nvPr/>
        </p:nvSpPr>
        <p:spPr>
          <a:xfrm>
            <a:off x="825500" y="48641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222222"/>
                </a:solidFill>
                <a:latin typeface="Segoe UI" panose="020B0502040204020203" pitchFamily="34" charset="0"/>
              </a:rPr>
              <a:t>Power BI / Teams / REST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F79703-0096-BE07-2AE8-22C929FF26EF}"/>
              </a:ext>
            </a:extLst>
          </p:cNvPr>
          <p:cNvSpPr txBox="1"/>
          <p:nvPr/>
        </p:nvSpPr>
        <p:spPr>
          <a:xfrm>
            <a:off x="825500" y="5143500"/>
            <a:ext cx="381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Included in existing Fabric + Power BI entitlements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89CA22-ED1A-12C2-BF14-58DDABB10164}"/>
              </a:ext>
            </a:extLst>
          </p:cNvPr>
          <p:cNvSpPr txBox="1"/>
          <p:nvPr/>
        </p:nvSpPr>
        <p:spPr>
          <a:xfrm>
            <a:off x="4953000" y="4559300"/>
            <a:ext cx="660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Segoe UI" panose="020B0502040204020203" pitchFamily="34" charset="0"/>
              </a:rPr>
              <a:t>$0 marginal
(Copilot Studio external = separate)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DD0DC3-FA09-5A8A-A06E-319106C19A3D}"/>
              </a:ext>
            </a:extLst>
          </p:cNvPr>
          <p:cNvSpPr/>
          <p:nvPr/>
        </p:nvSpPr>
        <p:spPr>
          <a:xfrm>
            <a:off x="508000" y="6007100"/>
            <a:ext cx="11176000" cy="25400"/>
          </a:xfrm>
          <a:prstGeom prst="rect">
            <a:avLst/>
          </a:prstGeom>
          <a:solidFill>
            <a:srgbClr val="E3252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8CDB71-C9FD-32A5-ED8F-9DA571893B0D}"/>
              </a:ext>
            </a:extLst>
          </p:cNvPr>
          <p:cNvSpPr txBox="1"/>
          <p:nvPr/>
        </p:nvSpPr>
        <p:spPr>
          <a:xfrm>
            <a:off x="508000" y="6121400"/>
            <a:ext cx="1117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Watch-out: the thing that will blow up the bill is not AI. It is bad SQL generated by AI, scanning big unfiltered fact tables.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1F691E-51CF-6A54-9B52-170820515B85}"/>
              </a:ext>
            </a:extLst>
          </p:cNvPr>
          <p:cNvSpPr txBox="1"/>
          <p:nvPr/>
        </p:nvSpPr>
        <p:spPr>
          <a:xfrm>
            <a:off x="508000" y="6375400"/>
            <a:ext cx="1117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Mitigation: row limits, query timeouts, and semantic model aggregations (all native to Fabric).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8C03FA-E91A-FDB3-6F5B-97604B7CB6D9}"/>
              </a:ext>
            </a:extLst>
          </p:cNvPr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B499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5B6BC4-69B0-B6B5-5285-C1B153B13D2A}"/>
              </a:ext>
            </a:extLst>
          </p:cNvPr>
          <p:cNvSpPr txBox="1"/>
          <p:nvPr/>
        </p:nvSpPr>
        <p:spPr>
          <a:xfrm>
            <a:off x="381000" y="6705600"/>
            <a:ext cx="762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Segoe UI" panose="020B0502040204020203" pitchFamily="34" charset="0"/>
              </a:rPr>
              <a:t>RSCS  -  EDW NLP  -  Cost Model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45F956-677C-30A0-FF80-1F0A4CBFB01B}"/>
              </a:ext>
            </a:extLst>
          </p:cNvPr>
          <p:cNvSpPr txBox="1"/>
          <p:nvPr/>
        </p:nvSpPr>
        <p:spPr>
          <a:xfrm>
            <a:off x="10922000" y="6705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FFFFFF"/>
                </a:solidFill>
                <a:latin typeface="Segoe UI" panose="020B0502040204020203" pitchFamily="34" charset="0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997380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62793A-5EA8-9488-D8F1-805C8523B9F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C9E4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93E99-9787-0144-A459-FCD41111CE06}"/>
              </a:ext>
            </a:extLst>
          </p:cNvPr>
          <p:cNvSpPr txBox="1"/>
          <p:nvPr/>
        </p:nvSpPr>
        <p:spPr>
          <a:xfrm>
            <a:off x="508000" y="381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222222"/>
                </a:solidFill>
                <a:latin typeface="Segoe UI" panose="020B0502040204020203" pitchFamily="34" charset="0"/>
              </a:rPr>
              <a:t>Cost model  -  what it will actually cost 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F1313-A14F-7C99-CD5D-0ACD1E5201DF}"/>
              </a:ext>
            </a:extLst>
          </p:cNvPr>
          <p:cNvSpPr/>
          <p:nvPr/>
        </p:nvSpPr>
        <p:spPr>
          <a:xfrm>
            <a:off x="508000" y="914400"/>
            <a:ext cx="1016000" cy="38100"/>
          </a:xfrm>
          <a:prstGeom prst="rect">
            <a:avLst/>
          </a:prstGeom>
          <a:solidFill>
            <a:srgbClr val="4C9E4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943F5-2001-28EE-2C86-3A2F15590D4B}"/>
              </a:ext>
            </a:extLst>
          </p:cNvPr>
          <p:cNvSpPr txBox="1"/>
          <p:nvPr/>
        </p:nvSpPr>
        <p:spPr>
          <a:xfrm>
            <a:off x="508000" y="990600"/>
            <a:ext cx="1117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66666"/>
                </a:solidFill>
                <a:latin typeface="Segoe UI" panose="020B0502040204020203" pitchFamily="34" charset="0"/>
              </a:rPr>
              <a:t>Marginal cost of adding NLP on top of an existing Fabric capacity.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BA34F-29C4-95E3-9201-667E613E68D7}"/>
              </a:ext>
            </a:extLst>
          </p:cNvPr>
          <p:cNvSpPr txBox="1"/>
          <p:nvPr/>
        </p:nvSpPr>
        <p:spPr>
          <a:xfrm>
            <a:off x="508000" y="1371600"/>
            <a:ext cx="5588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Segoe UI" panose="020B0502040204020203" pitchFamily="34" charset="0"/>
              </a:rPr>
              <a:t>Per-question math (Microsoft's own example)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E4905E-D4E8-636C-46EA-AAEE077CEDF8}"/>
              </a:ext>
            </a:extLst>
          </p:cNvPr>
          <p:cNvSpPr/>
          <p:nvPr/>
        </p:nvSpPr>
        <p:spPr>
          <a:xfrm>
            <a:off x="508000" y="1676400"/>
            <a:ext cx="5588000" cy="12700"/>
          </a:xfrm>
          <a:prstGeom prst="rect">
            <a:avLst/>
          </a:prstGeom>
          <a:solidFill>
            <a:srgbClr val="88888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29FDD-6E7A-0851-53B2-54AAAE89100B}"/>
              </a:ext>
            </a:extLst>
          </p:cNvPr>
          <p:cNvSpPr txBox="1"/>
          <p:nvPr/>
        </p:nvSpPr>
        <p:spPr>
          <a:xfrm>
            <a:off x="635000" y="17780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Input tokens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4F278E-04A7-72AC-4C1B-2ADC54D16373}"/>
              </a:ext>
            </a:extLst>
          </p:cNvPr>
          <p:cNvSpPr txBox="1"/>
          <p:nvPr/>
        </p:nvSpPr>
        <p:spPr>
          <a:xfrm>
            <a:off x="2984500" y="1778000"/>
            <a:ext cx="311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2,000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8E426E-0D4D-5EA5-A6F0-41A7F08702EE}"/>
              </a:ext>
            </a:extLst>
          </p:cNvPr>
          <p:cNvSpPr txBox="1"/>
          <p:nvPr/>
        </p:nvSpPr>
        <p:spPr>
          <a:xfrm>
            <a:off x="635000" y="20574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Output tokens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65FC8-C897-AEF4-82C4-7B625C036B99}"/>
              </a:ext>
            </a:extLst>
          </p:cNvPr>
          <p:cNvSpPr txBox="1"/>
          <p:nvPr/>
        </p:nvSpPr>
        <p:spPr>
          <a:xfrm>
            <a:off x="2984500" y="2057400"/>
            <a:ext cx="311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500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DEF90B-1492-3985-26B4-D78DFDAEE714}"/>
              </a:ext>
            </a:extLst>
          </p:cNvPr>
          <p:cNvSpPr txBox="1"/>
          <p:nvPr/>
        </p:nvSpPr>
        <p:spPr>
          <a:xfrm>
            <a:off x="635000" y="23368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Formula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E3FB6-17FD-5765-999B-A347015552BB}"/>
              </a:ext>
            </a:extLst>
          </p:cNvPr>
          <p:cNvSpPr txBox="1"/>
          <p:nvPr/>
        </p:nvSpPr>
        <p:spPr>
          <a:xfrm>
            <a:off x="2984500" y="2336800"/>
            <a:ext cx="311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(2,000 x 100 + 500 x 400) / 1,000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876D2D-B1AD-1B1D-FAE3-9410C29BFA11}"/>
              </a:ext>
            </a:extLst>
          </p:cNvPr>
          <p:cNvSpPr txBox="1"/>
          <p:nvPr/>
        </p:nvSpPr>
        <p:spPr>
          <a:xfrm>
            <a:off x="635000" y="26162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Per-request cost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5C11CB-6146-5ADC-291A-9117EE0D35ED}"/>
              </a:ext>
            </a:extLst>
          </p:cNvPr>
          <p:cNvSpPr txBox="1"/>
          <p:nvPr/>
        </p:nvSpPr>
        <p:spPr>
          <a:xfrm>
            <a:off x="2984500" y="2616200"/>
            <a:ext cx="311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400 CU-seconds  =  6.67 CU-minutes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FE28FF-F028-F5B2-FFBE-C028CBDE0295}"/>
              </a:ext>
            </a:extLst>
          </p:cNvPr>
          <p:cNvSpPr txBox="1"/>
          <p:nvPr/>
        </p:nvSpPr>
        <p:spPr>
          <a:xfrm>
            <a:off x="635000" y="28956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F64 daily budget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F4E33F-22FE-A1E9-3C21-E6B2D0995299}"/>
              </a:ext>
            </a:extLst>
          </p:cNvPr>
          <p:cNvSpPr txBox="1"/>
          <p:nvPr/>
        </p:nvSpPr>
        <p:spPr>
          <a:xfrm>
            <a:off x="2984500" y="2895600"/>
            <a:ext cx="311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1,536 CU-hours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440AAD-192F-EB6C-2E2D-E6BEB7AAB502}"/>
              </a:ext>
            </a:extLst>
          </p:cNvPr>
          <p:cNvSpPr txBox="1"/>
          <p:nvPr/>
        </p:nvSpPr>
        <p:spPr>
          <a:xfrm>
            <a:off x="635000" y="31750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Requests per day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29ACED-2E26-448A-85BC-E13C5A732B57}"/>
              </a:ext>
            </a:extLst>
          </p:cNvPr>
          <p:cNvSpPr txBox="1"/>
          <p:nvPr/>
        </p:nvSpPr>
        <p:spPr>
          <a:xfrm>
            <a:off x="2984500" y="3175000"/>
            <a:ext cx="311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~13,800 before capacity exhausted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C1DFD7-D01A-EC93-64F7-3496B8B5C0D4}"/>
              </a:ext>
            </a:extLst>
          </p:cNvPr>
          <p:cNvSpPr txBox="1"/>
          <p:nvPr/>
        </p:nvSpPr>
        <p:spPr>
          <a:xfrm>
            <a:off x="508000" y="3530600"/>
            <a:ext cx="558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888888"/>
                </a:solidFill>
                <a:latin typeface="Segoe UI" panose="020B0502040204020203" pitchFamily="34" charset="0"/>
              </a:rPr>
              <a:t>Real questions land 3K-8K input tokens once schema context is injected.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D458A0-3B9F-1837-46B4-47B5EE32FBA1}"/>
              </a:ext>
            </a:extLst>
          </p:cNvPr>
          <p:cNvSpPr txBox="1"/>
          <p:nvPr/>
        </p:nvSpPr>
        <p:spPr>
          <a:xfrm>
            <a:off x="508000" y="3721100"/>
            <a:ext cx="558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888888"/>
                </a:solidFill>
                <a:latin typeface="Segoe UI" panose="020B0502040204020203" pitchFamily="34" charset="0"/>
              </a:rPr>
              <a:t>Still negligible on any SKU &gt;= F8.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6C16F7-3E8A-78CC-A458-3B72FE22699F}"/>
              </a:ext>
            </a:extLst>
          </p:cNvPr>
          <p:cNvSpPr txBox="1"/>
          <p:nvPr/>
        </p:nvSpPr>
        <p:spPr>
          <a:xfrm>
            <a:off x="6350000" y="1371600"/>
            <a:ext cx="5334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Segoe UI" panose="020B0502040204020203" pitchFamily="34" charset="0"/>
              </a:rPr>
              <a:t>Scenario estimates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4C5C4E-0288-C714-A823-59B14F5260D5}"/>
              </a:ext>
            </a:extLst>
          </p:cNvPr>
          <p:cNvSpPr/>
          <p:nvPr/>
        </p:nvSpPr>
        <p:spPr>
          <a:xfrm>
            <a:off x="6350000" y="1676400"/>
            <a:ext cx="5334000" cy="12700"/>
          </a:xfrm>
          <a:prstGeom prst="rect">
            <a:avLst/>
          </a:prstGeom>
          <a:solidFill>
            <a:srgbClr val="88888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640534-7DF1-E9C8-6DBE-0F7DCA190BE6}"/>
              </a:ext>
            </a:extLst>
          </p:cNvPr>
          <p:cNvSpPr/>
          <p:nvPr/>
        </p:nvSpPr>
        <p:spPr>
          <a:xfrm>
            <a:off x="6350000" y="1778000"/>
            <a:ext cx="76200" cy="571500"/>
          </a:xfrm>
          <a:prstGeom prst="rect">
            <a:avLst/>
          </a:prstGeom>
          <a:solidFill>
            <a:srgbClr val="4C9E4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6669C0-83A4-2203-AEA8-5D0195BCBACA}"/>
              </a:ext>
            </a:extLst>
          </p:cNvPr>
          <p:cNvSpPr txBox="1"/>
          <p:nvPr/>
        </p:nvSpPr>
        <p:spPr>
          <a:xfrm>
            <a:off x="6540500" y="17780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22222"/>
                </a:solidFill>
                <a:latin typeface="Segoe UI" panose="020B0502040204020203" pitchFamily="34" charset="0"/>
              </a:rPr>
              <a:t>Light pilot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B1A7FE-F315-D820-788F-B422426C3A37}"/>
              </a:ext>
            </a:extLst>
          </p:cNvPr>
          <p:cNvSpPr txBox="1"/>
          <p:nvPr/>
        </p:nvSpPr>
        <p:spPr>
          <a:xfrm>
            <a:off x="6540500" y="20574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Segoe UI" panose="020B0502040204020203" pitchFamily="34" charset="0"/>
              </a:rPr>
              <a:t>5 users x 10 q/day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76EC3C-5B18-B9A9-6306-C4930754B1E2}"/>
              </a:ext>
            </a:extLst>
          </p:cNvPr>
          <p:cNvSpPr txBox="1"/>
          <p:nvPr/>
        </p:nvSpPr>
        <p:spPr>
          <a:xfrm>
            <a:off x="9144000" y="17780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4C9E45"/>
                </a:solidFill>
                <a:latin typeface="Segoe UI" panose="020B0502040204020203" pitchFamily="34" charset="0"/>
              </a:rPr>
              <a:t>~ marginal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BDF8BB-4162-71FA-F0A6-E71C3506FBEE}"/>
              </a:ext>
            </a:extLst>
          </p:cNvPr>
          <p:cNvSpPr/>
          <p:nvPr/>
        </p:nvSpPr>
        <p:spPr>
          <a:xfrm>
            <a:off x="6350000" y="2438400"/>
            <a:ext cx="76200" cy="571500"/>
          </a:xfrm>
          <a:prstGeom prst="rect">
            <a:avLst/>
          </a:prstGeom>
          <a:solidFill>
            <a:srgbClr val="4C9E4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BDB74F-4C83-94F4-C67B-7E4CD2DD04FC}"/>
              </a:ext>
            </a:extLst>
          </p:cNvPr>
          <p:cNvSpPr txBox="1"/>
          <p:nvPr/>
        </p:nvSpPr>
        <p:spPr>
          <a:xfrm>
            <a:off x="6540500" y="24384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22222"/>
                </a:solidFill>
                <a:latin typeface="Segoe UI" panose="020B0502040204020203" pitchFamily="34" charset="0"/>
              </a:rPr>
              <a:t>Moderate adoption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CB8AC7-3848-5F31-FC47-FAC5AC423BAE}"/>
              </a:ext>
            </a:extLst>
          </p:cNvPr>
          <p:cNvSpPr txBox="1"/>
          <p:nvPr/>
        </p:nvSpPr>
        <p:spPr>
          <a:xfrm>
            <a:off x="6540500" y="27178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Segoe UI" panose="020B0502040204020203" pitchFamily="34" charset="0"/>
              </a:rPr>
              <a:t>50 users x 20 q/day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F0562A-CEE1-9C21-C8EF-C507A1FF3532}"/>
              </a:ext>
            </a:extLst>
          </p:cNvPr>
          <p:cNvSpPr txBox="1"/>
          <p:nvPr/>
        </p:nvSpPr>
        <p:spPr>
          <a:xfrm>
            <a:off x="9144000" y="24384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4C9E45"/>
                </a:solidFill>
                <a:latin typeface="Segoe UI" panose="020B0502040204020203" pitchFamily="34" charset="0"/>
              </a:rPr>
              <a:t>~ marginal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B2A364-9448-BE5B-8BD4-034DF05EA428}"/>
              </a:ext>
            </a:extLst>
          </p:cNvPr>
          <p:cNvSpPr/>
          <p:nvPr/>
        </p:nvSpPr>
        <p:spPr>
          <a:xfrm>
            <a:off x="6350000" y="3098800"/>
            <a:ext cx="76200" cy="571500"/>
          </a:xfrm>
          <a:prstGeom prst="rect">
            <a:avLst/>
          </a:prstGeom>
          <a:solidFill>
            <a:srgbClr val="F68D2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9AD7BD-849C-6AF7-5DB2-7763D6F25070}"/>
              </a:ext>
            </a:extLst>
          </p:cNvPr>
          <p:cNvSpPr txBox="1"/>
          <p:nvPr/>
        </p:nvSpPr>
        <p:spPr>
          <a:xfrm>
            <a:off x="6540500" y="30988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222222"/>
                </a:solidFill>
                <a:latin typeface="Segoe UI" panose="020B0502040204020203" pitchFamily="34" charset="0"/>
              </a:rPr>
              <a:t>Heavy adoption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880C27-FDF9-8F00-1D71-9B899A89F8E6}"/>
              </a:ext>
            </a:extLst>
          </p:cNvPr>
          <p:cNvSpPr txBox="1"/>
          <p:nvPr/>
        </p:nvSpPr>
        <p:spPr>
          <a:xfrm>
            <a:off x="6540500" y="3378200"/>
            <a:ext cx="254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Segoe UI" panose="020B0502040204020203" pitchFamily="34" charset="0"/>
              </a:rPr>
              <a:t>500 users self-serve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7CE5B6-86F6-856F-6352-EF5D01E1DCAF}"/>
              </a:ext>
            </a:extLst>
          </p:cNvPr>
          <p:cNvSpPr txBox="1"/>
          <p:nvPr/>
        </p:nvSpPr>
        <p:spPr>
          <a:xfrm>
            <a:off x="9144000" y="30988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68D2D"/>
                </a:solidFill>
                <a:latin typeface="Segoe UI" panose="020B0502040204020203" pitchFamily="34" charset="0"/>
              </a:rPr>
              <a:t>+1 SKU step
+$1.5K-3K/mo reserved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43F895-34EE-264D-810E-715D549996CB}"/>
              </a:ext>
            </a:extLst>
          </p:cNvPr>
          <p:cNvSpPr txBox="1"/>
          <p:nvPr/>
        </p:nvSpPr>
        <p:spPr>
          <a:xfrm>
            <a:off x="508000" y="4127500"/>
            <a:ext cx="1117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222222"/>
                </a:solidFill>
                <a:latin typeface="Segoe UI" panose="020B0502040204020203" pitchFamily="34" charset="0"/>
              </a:rPr>
              <a:t>Fabric F-SKU anchors (PAYG, ~EU pricing)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2A7F85-6501-466F-9A08-DEA121D162A3}"/>
              </a:ext>
            </a:extLst>
          </p:cNvPr>
          <p:cNvSpPr/>
          <p:nvPr/>
        </p:nvSpPr>
        <p:spPr>
          <a:xfrm>
            <a:off x="508000" y="4432300"/>
            <a:ext cx="11176000" cy="12700"/>
          </a:xfrm>
          <a:prstGeom prst="rect">
            <a:avLst/>
          </a:prstGeom>
          <a:solidFill>
            <a:srgbClr val="88888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045A0B-1653-6610-FFDF-6DEB62EE1317}"/>
              </a:ext>
            </a:extLst>
          </p:cNvPr>
          <p:cNvSpPr/>
          <p:nvPr/>
        </p:nvSpPr>
        <p:spPr>
          <a:xfrm>
            <a:off x="508000" y="4546600"/>
            <a:ext cx="11176000" cy="330200"/>
          </a:xfrm>
          <a:prstGeom prst="rect">
            <a:avLst/>
          </a:prstGeom>
          <a:solidFill>
            <a:srgbClr val="6B499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A05595-9F6A-6AD4-0E94-E10812C7A91D}"/>
              </a:ext>
            </a:extLst>
          </p:cNvPr>
          <p:cNvSpPr txBox="1"/>
          <p:nvPr/>
        </p:nvSpPr>
        <p:spPr>
          <a:xfrm>
            <a:off x="698500" y="45974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SKU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A79DC9-76F9-80B0-174C-1DFB51220CD3}"/>
              </a:ext>
            </a:extLst>
          </p:cNvPr>
          <p:cNvSpPr txBox="1"/>
          <p:nvPr/>
        </p:nvSpPr>
        <p:spPr>
          <a:xfrm>
            <a:off x="2222500" y="4597400"/>
            <a:ext cx="190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Hourly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B2A9CE-1AFC-A0C7-32DD-D295F0208D27}"/>
              </a:ext>
            </a:extLst>
          </p:cNvPr>
          <p:cNvSpPr txBox="1"/>
          <p:nvPr/>
        </p:nvSpPr>
        <p:spPr>
          <a:xfrm>
            <a:off x="4381500" y="45974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Monthly PAYG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6A24A0-5347-AEAA-49BB-F31B28536019}"/>
              </a:ext>
            </a:extLst>
          </p:cNvPr>
          <p:cNvSpPr txBox="1"/>
          <p:nvPr/>
        </p:nvSpPr>
        <p:spPr>
          <a:xfrm>
            <a:off x="6858000" y="45974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Typical fit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EE81998-D64D-69D2-3A8E-20402C898D34}"/>
              </a:ext>
            </a:extLst>
          </p:cNvPr>
          <p:cNvSpPr/>
          <p:nvPr/>
        </p:nvSpPr>
        <p:spPr>
          <a:xfrm>
            <a:off x="508000" y="4876800"/>
            <a:ext cx="11176000" cy="304800"/>
          </a:xfrm>
          <a:prstGeom prst="rect">
            <a:avLst/>
          </a:prstGeom>
          <a:solidFill>
            <a:srgbClr val="F5F3F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8BE3A6-FD4F-D296-D9E6-D3C516B1A12C}"/>
              </a:ext>
            </a:extLst>
          </p:cNvPr>
          <p:cNvSpPr txBox="1"/>
          <p:nvPr/>
        </p:nvSpPr>
        <p:spPr>
          <a:xfrm>
            <a:off x="698500" y="49022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F2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07C7A8-BB3C-BDBA-0F95-84C7ED816DD0}"/>
              </a:ext>
            </a:extLst>
          </p:cNvPr>
          <p:cNvSpPr txBox="1"/>
          <p:nvPr/>
        </p:nvSpPr>
        <p:spPr>
          <a:xfrm>
            <a:off x="2222500" y="4902200"/>
            <a:ext cx="190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Segoe UI" panose="020B0502040204020203" pitchFamily="34" charset="0"/>
              </a:rPr>
              <a:t>~EU0.42/hr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4774FB-646A-F707-6AC4-7973F5DDBBD4}"/>
              </a:ext>
            </a:extLst>
          </p:cNvPr>
          <p:cNvSpPr txBox="1"/>
          <p:nvPr/>
        </p:nvSpPr>
        <p:spPr>
          <a:xfrm>
            <a:off x="4381500" y="49022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Segoe UI" panose="020B0502040204020203" pitchFamily="34" charset="0"/>
              </a:rPr>
              <a:t>~EU300/mo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EED8A9-22C1-5EDF-A656-5CA1A740B0DF}"/>
              </a:ext>
            </a:extLst>
          </p:cNvPr>
          <p:cNvSpPr txBox="1"/>
          <p:nvPr/>
        </p:nvSpPr>
        <p:spPr>
          <a:xfrm>
            <a:off x="6858000" y="49022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Dev / test only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C15BBB-A950-CCA9-B6B1-90158734AEE3}"/>
              </a:ext>
            </a:extLst>
          </p:cNvPr>
          <p:cNvSpPr txBox="1"/>
          <p:nvPr/>
        </p:nvSpPr>
        <p:spPr>
          <a:xfrm>
            <a:off x="698500" y="52070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F8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58E4FD-1F03-0C4C-B403-E1BBD487C6E7}"/>
              </a:ext>
            </a:extLst>
          </p:cNvPr>
          <p:cNvSpPr txBox="1"/>
          <p:nvPr/>
        </p:nvSpPr>
        <p:spPr>
          <a:xfrm>
            <a:off x="2222500" y="5207000"/>
            <a:ext cx="190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Segoe UI" panose="020B0502040204020203" pitchFamily="34" charset="0"/>
              </a:rPr>
              <a:t>~EU1.70/hr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4CA21E-BAE9-FC9D-F2FF-00A1A5B7F7C0}"/>
              </a:ext>
            </a:extLst>
          </p:cNvPr>
          <p:cNvSpPr txBox="1"/>
          <p:nvPr/>
        </p:nvSpPr>
        <p:spPr>
          <a:xfrm>
            <a:off x="4381500" y="52070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Segoe UI" panose="020B0502040204020203" pitchFamily="34" charset="0"/>
              </a:rPr>
              <a:t>~EU1,200/mo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BBE8D8C-CC4B-B9AE-BEB8-D213B5695956}"/>
              </a:ext>
            </a:extLst>
          </p:cNvPr>
          <p:cNvSpPr txBox="1"/>
          <p:nvPr/>
        </p:nvSpPr>
        <p:spPr>
          <a:xfrm>
            <a:off x="6858000" y="52070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Small team pilot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5AAF374-E6BF-20C6-5206-4E3852716A50}"/>
              </a:ext>
            </a:extLst>
          </p:cNvPr>
          <p:cNvSpPr/>
          <p:nvPr/>
        </p:nvSpPr>
        <p:spPr>
          <a:xfrm>
            <a:off x="508000" y="5486400"/>
            <a:ext cx="11176000" cy="304800"/>
          </a:xfrm>
          <a:prstGeom prst="rect">
            <a:avLst/>
          </a:prstGeom>
          <a:solidFill>
            <a:srgbClr val="F5F3F8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043A99-1A9D-BF08-6379-A94764834E5F}"/>
              </a:ext>
            </a:extLst>
          </p:cNvPr>
          <p:cNvSpPr txBox="1"/>
          <p:nvPr/>
        </p:nvSpPr>
        <p:spPr>
          <a:xfrm>
            <a:off x="698500" y="55118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F64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302898-EB35-359B-C6B5-4C22D91471E8}"/>
              </a:ext>
            </a:extLst>
          </p:cNvPr>
          <p:cNvSpPr txBox="1"/>
          <p:nvPr/>
        </p:nvSpPr>
        <p:spPr>
          <a:xfrm>
            <a:off x="2222500" y="5511800"/>
            <a:ext cx="190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Segoe UI" panose="020B0502040204020203" pitchFamily="34" charset="0"/>
              </a:rPr>
              <a:t>~EU13.50/hr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5956A6-2143-2E20-A741-865A852433B3}"/>
              </a:ext>
            </a:extLst>
          </p:cNvPr>
          <p:cNvSpPr txBox="1"/>
          <p:nvPr/>
        </p:nvSpPr>
        <p:spPr>
          <a:xfrm>
            <a:off x="4381500" y="5511800"/>
            <a:ext cx="228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222222"/>
                </a:solidFill>
                <a:latin typeface="Segoe UI" panose="020B0502040204020203" pitchFamily="34" charset="0"/>
              </a:rPr>
              <a:t>~EU9,700/mo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4FD32D-5F6B-CEA2-A930-637B4FBB5909}"/>
              </a:ext>
            </a:extLst>
          </p:cNvPr>
          <p:cNvSpPr txBox="1"/>
          <p:nvPr/>
        </p:nvSpPr>
        <p:spPr>
          <a:xfrm>
            <a:off x="6858000" y="5511800"/>
            <a:ext cx="457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Production - includes Power BI Pro for viewers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77D1E50-17AD-45AC-C4FB-3A064E55D6D6}"/>
              </a:ext>
            </a:extLst>
          </p:cNvPr>
          <p:cNvSpPr/>
          <p:nvPr/>
        </p:nvSpPr>
        <p:spPr>
          <a:xfrm>
            <a:off x="508000" y="5943600"/>
            <a:ext cx="11176000" cy="25400"/>
          </a:xfrm>
          <a:prstGeom prst="rect">
            <a:avLst/>
          </a:prstGeom>
          <a:solidFill>
            <a:srgbClr val="6B499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4226F6-FA8C-B0B5-8B82-D2904902277E}"/>
              </a:ext>
            </a:extLst>
          </p:cNvPr>
          <p:cNvSpPr txBox="1"/>
          <p:nvPr/>
        </p:nvSpPr>
        <p:spPr>
          <a:xfrm>
            <a:off x="508000" y="6045200"/>
            <a:ext cx="1117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1-year reservation: approximately 41% off PAYG. F64 reserved drops to approximately EU5,700/mo.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A3C7E2-4BFA-D3D4-2992-32DC2A4239C0}"/>
              </a:ext>
            </a:extLst>
          </p:cNvPr>
          <p:cNvSpPr txBox="1"/>
          <p:nvPr/>
        </p:nvSpPr>
        <p:spPr>
          <a:xfrm>
            <a:off x="508000" y="6299200"/>
            <a:ext cx="1117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Capacity can be paused. For a pilot, run only during business hours - halves the bill.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1ABBCFE-DB29-8907-E554-9B6D187F0C6C}"/>
              </a:ext>
            </a:extLst>
          </p:cNvPr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B499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195808-2C7C-D221-3A3E-5C55BFCA918E}"/>
              </a:ext>
            </a:extLst>
          </p:cNvPr>
          <p:cNvSpPr txBox="1"/>
          <p:nvPr/>
        </p:nvSpPr>
        <p:spPr>
          <a:xfrm>
            <a:off x="381000" y="6705600"/>
            <a:ext cx="762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Segoe UI" panose="020B0502040204020203" pitchFamily="34" charset="0"/>
              </a:rPr>
              <a:t>RSCS  -  EDW NLP  -  Cost Model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67BCFA9-687E-5AE5-CBE6-D7C6A54E9E2A}"/>
              </a:ext>
            </a:extLst>
          </p:cNvPr>
          <p:cNvSpPr txBox="1"/>
          <p:nvPr/>
        </p:nvSpPr>
        <p:spPr>
          <a:xfrm>
            <a:off x="10922000" y="6705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FFFFFF"/>
                </a:solidFill>
                <a:latin typeface="Segoe UI" panose="020B0502040204020203" pitchFamily="34" charset="0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622492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4CC64F-B5E8-6247-D0E5-286127376F1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F68D2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84867-EDB8-60F4-0243-59469611F9FB}"/>
              </a:ext>
            </a:extLst>
          </p:cNvPr>
          <p:cNvSpPr txBox="1"/>
          <p:nvPr/>
        </p:nvSpPr>
        <p:spPr>
          <a:xfrm>
            <a:off x="508000" y="381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222222"/>
                </a:solidFill>
                <a:latin typeface="Segoe UI" panose="020B0502040204020203" pitchFamily="34" charset="0"/>
              </a:rPr>
              <a:t>Cost model  -  things you should know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32F78-83BB-487A-0E66-9FE711AD9C91}"/>
              </a:ext>
            </a:extLst>
          </p:cNvPr>
          <p:cNvSpPr/>
          <p:nvPr/>
        </p:nvSpPr>
        <p:spPr>
          <a:xfrm>
            <a:off x="508000" y="914400"/>
            <a:ext cx="1016000" cy="38100"/>
          </a:xfrm>
          <a:prstGeom prst="rect">
            <a:avLst/>
          </a:prstGeom>
          <a:solidFill>
            <a:srgbClr val="F68D2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39EF12-2E3B-E079-3054-783C2C82222E}"/>
              </a:ext>
            </a:extLst>
          </p:cNvPr>
          <p:cNvSpPr txBox="1"/>
          <p:nvPr/>
        </p:nvSpPr>
        <p:spPr>
          <a:xfrm>
            <a:off x="508000" y="990600"/>
            <a:ext cx="1117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666666"/>
                </a:solidFill>
                <a:latin typeface="Segoe UI" panose="020B0502040204020203" pitchFamily="34" charset="0"/>
              </a:rPr>
              <a:t>Six points worth raising out loud before anyone asks.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BBB804-AE20-6D73-BD65-A7C80EE7CA21}"/>
              </a:ext>
            </a:extLst>
          </p:cNvPr>
          <p:cNvSpPr/>
          <p:nvPr/>
        </p:nvSpPr>
        <p:spPr>
          <a:xfrm>
            <a:off x="508000" y="1460500"/>
            <a:ext cx="11176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C9E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C6271B-21E7-E5F3-6E41-96B865ABDC64}"/>
              </a:ext>
            </a:extLst>
          </p:cNvPr>
          <p:cNvSpPr/>
          <p:nvPr/>
        </p:nvSpPr>
        <p:spPr>
          <a:xfrm>
            <a:off x="508000" y="1460500"/>
            <a:ext cx="101600" cy="762000"/>
          </a:xfrm>
          <a:prstGeom prst="rect">
            <a:avLst/>
          </a:prstGeom>
          <a:solidFill>
            <a:srgbClr val="4C9E4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E6AC4-A66B-5A31-F6AF-BF41FF99BD3B}"/>
              </a:ext>
            </a:extLst>
          </p:cNvPr>
          <p:cNvSpPr txBox="1"/>
          <p:nvPr/>
        </p:nvSpPr>
        <p:spPr>
          <a:xfrm>
            <a:off x="825500" y="1562100"/>
            <a:ext cx="10414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4C9E45"/>
                </a:solidFill>
                <a:latin typeface="Segoe UI" panose="020B0502040204020203" pitchFamily="34" charset="0"/>
              </a:rPr>
              <a:t>No per-seat license for Data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313E05-FCAD-5FA9-3006-7DE855072095}"/>
              </a:ext>
            </a:extLst>
          </p:cNvPr>
          <p:cNvSpPr txBox="1"/>
          <p:nvPr/>
        </p:nvSpPr>
        <p:spPr>
          <a:xfrm>
            <a:off x="825500" y="18415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Users consume via existing Power BI / Fabric entitlements. No $30/user/month Copilot seat trap.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164656-CE55-7536-5156-59A5C9532B3A}"/>
              </a:ext>
            </a:extLst>
          </p:cNvPr>
          <p:cNvSpPr/>
          <p:nvPr/>
        </p:nvSpPr>
        <p:spPr>
          <a:xfrm>
            <a:off x="508000" y="2324100"/>
            <a:ext cx="11176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C9E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3DA703-DDCE-BF70-4A47-63F875A44B12}"/>
              </a:ext>
            </a:extLst>
          </p:cNvPr>
          <p:cNvSpPr/>
          <p:nvPr/>
        </p:nvSpPr>
        <p:spPr>
          <a:xfrm>
            <a:off x="508000" y="2324100"/>
            <a:ext cx="101600" cy="762000"/>
          </a:xfrm>
          <a:prstGeom prst="rect">
            <a:avLst/>
          </a:prstGeom>
          <a:solidFill>
            <a:srgbClr val="4C9E4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E2B4FC-724A-C5F4-2419-CFB92EC375AD}"/>
              </a:ext>
            </a:extLst>
          </p:cNvPr>
          <p:cNvSpPr txBox="1"/>
          <p:nvPr/>
        </p:nvSpPr>
        <p:spPr>
          <a:xfrm>
            <a:off x="825500" y="2425700"/>
            <a:ext cx="10414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4C9E45"/>
                </a:solidFill>
                <a:latin typeface="Segoe UI" panose="020B0502040204020203" pitchFamily="34" charset="0"/>
              </a:rPr>
              <a:t>Scales with usage, not headcount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855224-6C1B-D270-A383-D73F233BA61C}"/>
              </a:ext>
            </a:extLst>
          </p:cNvPr>
          <p:cNvSpPr txBox="1"/>
          <p:nvPr/>
        </p:nvSpPr>
        <p:spPr>
          <a:xfrm>
            <a:off x="825500" y="27051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1,000-person org where 20 use it costs the same as a 20-person org where all 20 use it.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2D53E5-A963-B325-543B-DB55C0E26877}"/>
              </a:ext>
            </a:extLst>
          </p:cNvPr>
          <p:cNvSpPr/>
          <p:nvPr/>
        </p:nvSpPr>
        <p:spPr>
          <a:xfrm>
            <a:off x="508000" y="3187700"/>
            <a:ext cx="11176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6B4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CE5B41-B80E-4762-2952-0B25CC4A2A40}"/>
              </a:ext>
            </a:extLst>
          </p:cNvPr>
          <p:cNvSpPr/>
          <p:nvPr/>
        </p:nvSpPr>
        <p:spPr>
          <a:xfrm>
            <a:off x="508000" y="3187700"/>
            <a:ext cx="101600" cy="762000"/>
          </a:xfrm>
          <a:prstGeom prst="rect">
            <a:avLst/>
          </a:prstGeom>
          <a:solidFill>
            <a:srgbClr val="6B499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CAC20E-A98A-83EA-4ABD-6C213F44B37B}"/>
              </a:ext>
            </a:extLst>
          </p:cNvPr>
          <p:cNvSpPr txBox="1"/>
          <p:nvPr/>
        </p:nvSpPr>
        <p:spPr>
          <a:xfrm>
            <a:off x="825500" y="3289300"/>
            <a:ext cx="10414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6B4990"/>
                </a:solidFill>
                <a:latin typeface="Segoe UI" panose="020B0502040204020203" pitchFamily="34" charset="0"/>
              </a:rPr>
              <a:t>Two line items to monitor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A3B407-13C2-6617-0585-D27A8F97D57D}"/>
              </a:ext>
            </a:extLst>
          </p:cNvPr>
          <p:cNvSpPr txBox="1"/>
          <p:nvPr/>
        </p:nvSpPr>
        <p:spPr>
          <a:xfrm>
            <a:off x="825500" y="35687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AI Query (tokens) and SQL / Semantic Model Query (execution). Both visible in the Fabric Capacity Metrics App.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250D1F-DA8E-7254-9E79-DE197BE10696}"/>
              </a:ext>
            </a:extLst>
          </p:cNvPr>
          <p:cNvSpPr/>
          <p:nvPr/>
        </p:nvSpPr>
        <p:spPr>
          <a:xfrm>
            <a:off x="508000" y="4051300"/>
            <a:ext cx="11176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6B49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115EE9-E81B-7A3B-E43E-FD1E69CA03D9}"/>
              </a:ext>
            </a:extLst>
          </p:cNvPr>
          <p:cNvSpPr/>
          <p:nvPr/>
        </p:nvSpPr>
        <p:spPr>
          <a:xfrm>
            <a:off x="508000" y="4051300"/>
            <a:ext cx="101600" cy="762000"/>
          </a:xfrm>
          <a:prstGeom prst="rect">
            <a:avLst/>
          </a:prstGeom>
          <a:solidFill>
            <a:srgbClr val="6B499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2CD159-4E28-66DE-4657-1B6D71593C3A}"/>
              </a:ext>
            </a:extLst>
          </p:cNvPr>
          <p:cNvSpPr txBox="1"/>
          <p:nvPr/>
        </p:nvSpPr>
        <p:spPr>
          <a:xfrm>
            <a:off x="825500" y="4152900"/>
            <a:ext cx="10414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6B4990"/>
                </a:solidFill>
                <a:latin typeface="Segoe UI" panose="020B0502040204020203" pitchFamily="34" charset="0"/>
              </a:rPr>
              <a:t>Capacity is pausable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97D77C-9EE5-7905-3E34-D8355A1A86EC}"/>
              </a:ext>
            </a:extLst>
          </p:cNvPr>
          <p:cNvSpPr txBox="1"/>
          <p:nvPr/>
        </p:nvSpPr>
        <p:spPr>
          <a:xfrm>
            <a:off x="825500" y="44323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Pause outside business hours for pilots. Instant ~50% cut. No code changes needed.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D72F0F5-197A-8FE4-94D1-EAD197C207F8}"/>
              </a:ext>
            </a:extLst>
          </p:cNvPr>
          <p:cNvSpPr/>
          <p:nvPr/>
        </p:nvSpPr>
        <p:spPr>
          <a:xfrm>
            <a:off x="508000" y="4914900"/>
            <a:ext cx="11176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68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8F065B-28DE-CFD7-3D7C-04A68D74A4D6}"/>
              </a:ext>
            </a:extLst>
          </p:cNvPr>
          <p:cNvSpPr/>
          <p:nvPr/>
        </p:nvSpPr>
        <p:spPr>
          <a:xfrm>
            <a:off x="508000" y="4914900"/>
            <a:ext cx="101600" cy="762000"/>
          </a:xfrm>
          <a:prstGeom prst="rect">
            <a:avLst/>
          </a:prstGeom>
          <a:solidFill>
            <a:srgbClr val="F68D2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872D44-8028-972F-D857-0A0D9F5B278C}"/>
              </a:ext>
            </a:extLst>
          </p:cNvPr>
          <p:cNvSpPr txBox="1"/>
          <p:nvPr/>
        </p:nvSpPr>
        <p:spPr>
          <a:xfrm>
            <a:off x="825500" y="5016500"/>
            <a:ext cx="10414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F68D2D"/>
                </a:solidFill>
                <a:latin typeface="Segoe UI" panose="020B0502040204020203" pitchFamily="34" charset="0"/>
              </a:rPr>
              <a:t>Reservation math matters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B5C9CC-70EB-64E9-F6BE-AFC1F6E245DA}"/>
              </a:ext>
            </a:extLst>
          </p:cNvPr>
          <p:cNvSpPr txBox="1"/>
          <p:nvPr/>
        </p:nvSpPr>
        <p:spPr>
          <a:xfrm>
            <a:off x="825500" y="52959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At production scale, 1-year reserved is approximately 41% cheaper than PAYG. Factor in before comparing to DIY.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8BD69F9-0383-15E5-1ED0-24BC14757AB2}"/>
              </a:ext>
            </a:extLst>
          </p:cNvPr>
          <p:cNvSpPr/>
          <p:nvPr/>
        </p:nvSpPr>
        <p:spPr>
          <a:xfrm>
            <a:off x="508000" y="5778500"/>
            <a:ext cx="11176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E325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07C467-EF2A-4FCD-DF00-9F13736C431E}"/>
              </a:ext>
            </a:extLst>
          </p:cNvPr>
          <p:cNvSpPr/>
          <p:nvPr/>
        </p:nvSpPr>
        <p:spPr>
          <a:xfrm>
            <a:off x="508000" y="5778500"/>
            <a:ext cx="101600" cy="762000"/>
          </a:xfrm>
          <a:prstGeom prst="rect">
            <a:avLst/>
          </a:prstGeom>
          <a:solidFill>
            <a:srgbClr val="E32526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147072-384B-C6DC-83B7-E0CFABE40FAA}"/>
              </a:ext>
            </a:extLst>
          </p:cNvPr>
          <p:cNvSpPr txBox="1"/>
          <p:nvPr/>
        </p:nvSpPr>
        <p:spPr>
          <a:xfrm>
            <a:off x="825500" y="5880100"/>
            <a:ext cx="10414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E32526"/>
                </a:solidFill>
                <a:latin typeface="Segoe UI" panose="020B0502040204020203" pitchFamily="34" charset="0"/>
              </a:rPr>
              <a:t>vs. DIY Azure OpenAI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3D56EE-F7E7-BC5C-C911-E0CE4FAA996B}"/>
              </a:ext>
            </a:extLst>
          </p:cNvPr>
          <p:cNvSpPr txBox="1"/>
          <p:nvPr/>
        </p:nvSpPr>
        <p:spPr>
          <a:xfrm>
            <a:off x="825500" y="61595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Segoe UI" panose="020B0502040204020203" pitchFamily="34" charset="0"/>
              </a:rPr>
              <a:t>GPT-4o direct: $2.50 in / $10 out per 1M tokens. Cheaper per token - but you own grounding, security, prompt mgmt, ops. Fabric bundles all of it.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88C9AC-90E7-C043-E74A-90C68D59298A}"/>
              </a:ext>
            </a:extLst>
          </p:cNvPr>
          <p:cNvSpPr/>
          <p:nvPr/>
        </p:nvSpPr>
        <p:spPr>
          <a:xfrm>
            <a:off x="508000" y="6261100"/>
            <a:ext cx="11176000" cy="25400"/>
          </a:xfrm>
          <a:prstGeom prst="rect">
            <a:avLst/>
          </a:prstGeom>
          <a:solidFill>
            <a:srgbClr val="6B499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51A5B2-48C0-F1F9-D1BA-E9E2182D63F6}"/>
              </a:ext>
            </a:extLst>
          </p:cNvPr>
          <p:cNvSpPr txBox="1"/>
          <p:nvPr/>
        </p:nvSpPr>
        <p:spPr>
          <a:xfrm>
            <a:off x="508000" y="6350000"/>
            <a:ext cx="11176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222222"/>
                </a:solidFill>
                <a:latin typeface="Segoe UI" panose="020B0502040204020203" pitchFamily="34" charset="0"/>
              </a:rPr>
              <a:t>To verify before the meeting: exact F-SKU price in your Azure region, and current CU headroom (Fabric Capacity Metrics App, last 30 days).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4D31B3-B676-40A4-3C80-A944C45EF71A}"/>
              </a:ext>
            </a:extLst>
          </p:cNvPr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6B499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F47B4F-3895-CB3F-4791-3F52B7EBC12F}"/>
              </a:ext>
            </a:extLst>
          </p:cNvPr>
          <p:cNvSpPr txBox="1"/>
          <p:nvPr/>
        </p:nvSpPr>
        <p:spPr>
          <a:xfrm>
            <a:off x="381000" y="6705600"/>
            <a:ext cx="762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  <a:latin typeface="Segoe UI" panose="020B0502040204020203" pitchFamily="34" charset="0"/>
              </a:rPr>
              <a:t>RSCS  -  EDW NLP  -  Cost Model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74CD03-BDFC-50DF-67A2-5D3D10FB7963}"/>
              </a:ext>
            </a:extLst>
          </p:cNvPr>
          <p:cNvSpPr txBox="1"/>
          <p:nvPr/>
        </p:nvSpPr>
        <p:spPr>
          <a:xfrm>
            <a:off x="10922000" y="6705600"/>
            <a:ext cx="101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900">
                <a:solidFill>
                  <a:srgbClr val="FFFFFF"/>
                </a:solidFill>
                <a:latin typeface="Segoe UI" panose="020B0502040204020203" pitchFamily="34" charset="0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4230979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Microsoft Office PowerPoint</Application>
  <PresentationFormat>On-screen Show (16:9)</PresentationFormat>
  <Paragraphs>83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Peregrine Tempus</dc:creator>
  <cp:lastModifiedBy>Peregrine Tempus</cp:lastModifiedBy>
  <cp:revision>1</cp:revision>
  <dcterms:created xsi:type="dcterms:W3CDTF">2026-04-13T23:48:38Z</dcterms:created>
  <dcterms:modified xsi:type="dcterms:W3CDTF">2026-04-13T23:48:38Z</dcterms:modified>
</cp:coreProperties>
</file>